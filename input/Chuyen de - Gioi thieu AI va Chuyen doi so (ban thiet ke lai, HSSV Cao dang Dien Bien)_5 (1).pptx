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thân thiện, giới thiệu bản thân. Nhấn mạnh ngay: đây KHÔNG phải buổi học lý thuyết công nghệ cao siêu, mà là buổi học giúp các em biết dùng công cụ AI miễn phí, dễ hiểu, áp dụng ngay được vào nghề đang học và cuộc sống hàng ngày. Hỏi nhanh cả lớp: 'Trong lớp mình bạn nào đã từng nghe tới từ AI - trí tuệ nhân tạo rồi giơ tay?' để tạo không khí.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chậm từng mục tiêu, hỏi các em: mục tiêu nào các em thấy hữu ích nhất với nghề mình đang học? Nhấn mạnh tính thực dụng, dễ áp dụng ngay.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Lướt nhanh qua chương trình để học viên biết buổi học đi những đâu. Nhấn mạnh: nội dung ngắn gọn, có thực hành xen kẽ, không phải ngồi nghe lý thuyết suốt 4 giờ.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Chuyển sang phần 1. Giữ giọng gần gũi, dùng ví dụ đời sống thay vì định nghĩa hàn lâm.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Hỏi cả lớp giơ tay: ai đã từng dùng từng cái này? Hầu hết học sinh đều đã dùng AI mà không biết. Đây chính là cách vào bài tự nhiên nhất — AI không xa lạ, nó ở ngay trong điện thoại các em cầm hàng ngày.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định nghĩa quan trọng nhất — nói chậm, dùng đúng ví dụ con mèo hoặc đổi bằng ví dụ gần gũi hơn với địa phương (nhận biết con trâu, con lợn...). Nhấn mạnh 2 lần: AI = được DẠY, không tự nhiên mà biết.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như một quy trình 4 bước, giống việc dạy một em nhỏ nhận biết đồ vật qua nhiều lần xem. Bước 4 nhấn thêm: kết quả AI đưa ra là DỰ ĐOÁN dựa trên xác suất, không phải chắc chắn 100% đúng.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Chỉ cần học viên nhớ 4 nhóm này để dễ liên hệ khi qua Phần 3 (công cụ) và Phần 4 (áp dụng theo ngành).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Đáp án: (1) KHÔNG — máy tính chỉ làm theo công thức có sẵn, không học gì cả. (2) CÓ — AI nhận diện khuôn mặt. (3) CÓ — AI xử lý giọng nói và ngôn ngữ. (4) KHÔNG — chỉ là cảm biến phản ứng theo ngưỡng ánh sáng, không "học" gì. Sau mỗi câu, giải thích ngắn gọn vì sao.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Chuyển sang phần 2. Kết nối trực tiếp với động lực thực tế của học sinh: việc làm sau khi ra trường.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sánh trước/sau giúp học sinh hình dung cụ thể. Có thể hỏi các em ví dụ trước/sau ở chính gia đình, bản làng của mình (ví dụ: trước phải ra UBND xã nộp giấy tờ, giờ có thể nộp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Hỏi cả lớp: em đã từng dùng cái nào trong 4 cái này? Ai ở nhà có người thân bán hàng online chưa? Liên hệ trực tiếp với đời sống ở Điện Biên.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"chốt động lực" của Phần 2 — nói chậm, nhấn mạnh: học AI hôm nay không phải để biết cho vui, mà để có lợi thế thật sự khi đi làm sau này, dù làm nghề gì trong số các ngành của Trường.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Chuyển sang phần 3 — phần thực hành nhiều nhất. Chuẩn bị sẵn ứng dụng ChatGPT/Gemini trên máy chiếu nếu có mạng.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 hai công cụ đều có phiên bản MIỄN PHÍ, dùng được ngay trên điện thoại — không cần máy tính mạnh, không cần trả phí để bắt đầu. Cho học sinh 1-2 phút quét mã và cài đặt/mở thử ngay tại chỗ nếu lớp có mạng.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Nếu không có mạng/thiết bị để demo trực tiếp, dùng ảnh mô phỏng bên trái để giải thích cách gõ câu hỏi. Nhấn mạnh: cài đặt miễn phí qua CH Play / App Store, chỉ cần đăng ký bằng email hoặc số điện thoại.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2 công cụ trả lời trực tiếp câu hỏi 'học xong áp dụng được gì' — không chỉ AI cho đời sống mà AI cho chính việc học. Nhấn mạnh: cả hai đều CÓ BẢN MIỄN PHÍ dùng tốt, khác với các phần mềm văn phòng có bản quyền (như Microsoft 365) phải trả phí. Dành 5-6 phút cuối slide này cho học sinh TỰ LÀM theo 3 bước ở băng dưới, dùng đúng 1 trang vở/bài tập thật các em mang theo — không chỉ xem demo. Đi vòng quanh lớp hỗ trợ em nào chưa cài được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lao 10-15 phút giữa buổi. Nhắc học sinh quay lại đúng giờ để không bị lỡ phần thực hành.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khái niệm quan trọng nhất của Phần 3. Dùng ví dụ nhờ bạn giúp việc để học sinh dễ liên hệ — các em không quen thuật ngữ tiếng Anh 'prompt' nên cần ví dụ đời sống trước khi đưa thuật ngữ.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học sinh đọc to ví dụ. Chỉ ra rõ 3 phần trong câu: làm gì (viết tin quảng cáo), mục đích (thu hút khách), yêu cầu cụ thể (ngắn gọn, vui vẻ, có emoji). Đọc tiếp phần AI trả lời để học sinh hình dung đúng những gì sẽ hiện ra trên màn hình điện thoại sau khi gửi prompt này. Có thể đổi ví dụ theo ngành học của lớp đang dạy.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chỉ cần thêm vài chữ mô tả rõ ràng, kết quả AI trả về khác nhau rất nhiều. Có thể mời 1-2 học sinh thử đọc to prompt của mình và cả lớp góp ý xem đã đủ rõ chưa.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Gợi ý chủ đề nếu học sinh không có mạng để tự thao tác: giáo viên demo trên máy chiếu, cả lớp cùng đọc kết quả và nhận xét. Có thể chia nhóm nhỏ nếu chỉ một số em có điện thoại/mạng.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phần trọng tâm nhất của buổi học — kết nối trực tiếp AI với ngành nghề học sinh đang theo học tại Trường Cao đẳng Điện Biên. Có thể mời học sinh cho biết đang học ngành gì trước khi vào slide tương ứng.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Áp dụng cho: Điện công nghiệp, Điện dân dụng, Công nghệ ô tô, Hàn, Kỹ thuật xây dựng, Xây dựng dân dụng và công nghiệp, Công nghệ thông tin, Tin học ứng dụng, Tin học văn phòng. Lưu ý học sinh: kết quả AI gợi ý CHỈ để tham khảo — vẫn phải kiểm tra thực tế trước khi sửa máy móc, công trình thật.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case study đầu tiên của Phần 4 — làm mẫu cách đọc 1 tình huống nghề nghiệp thật, prompt cụ thể, và kết quả AI có thể gợi ý. Nhấn mạnh: đây là ví dụ cho Công nghệ ô tô, nhưng cách hỏi AI này áp dụng được cho mọi lỗi kỹ thuật khác (điện, hàn, xây dựng) — chỉ cần đổi từ khóa.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Áp dụng cho: Lâm sinh, Lâm nghiệp, Trồng trọt, Chăn nuôi – Thú y. Lưu ý quan trọng: AI chỉ gợi ý tham khảo ban đầu — trường hợp cây/vật nuôi bệnh nặng vẫn phải hỏi cán bộ thú y, kỹ thuật chuyên môn, không tự ý xử lý theo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study cho khối Nông – Lâm – Chăn nuôi thú y. Có thể hỏi lớp: ở nhà/bản mình có ai từng gặp tình huống cây trồng bị bệnh tương tự chưa? Nhấn mạnh: cách hỏi AI này áp dụng được cho cả chăn nuôi (mô tả dấu hiệu bệnh trên vật nuôi thay vì cây trồng).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Áp dụng cho: Bán hàng trong siêu thị, Nghiệp vụ nhà hàng – khách sạn, Hướng dẫn du lịch, Chăm sóc sắc đẹp.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study cho khối Dịch vụ – Kinh doanh – Làm đẹp. Có thể mời 1 học sinh đọc to bài mẫu AI viết, cả lớp nhận xét đã đủ hấp dẫn chưa. Liên hệ thêm: cách hỏi này áp dụng được cho cả quảng cáo dịch vụ làm đẹp, tour du lịch.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Áp dụng cho: Kế toán, Kế toán doanh nghiệp, Hành chính văn phòng, Pháp luật, Dịch vụ pháp lý, Công tác xã hội, Quản lý văn hóa.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study cho khối Kinh tế – Hành chính – Pháp luật – Xã hội. Nhấn mạnh: AI giúp tiết kiệm thời gian gõ khung văn bản lặp đi lặp lại, nhưng KHÔNG thay thế việc kiểm tra pháp lý, thẩm quyền ban hành. Liên hệ thêm: cách hỏi này áp dụng được cho soạn biên bản, báo cáo, tuyên truyền công tác xã hội.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tổng hợp — dùng để học sinh dễ tra lại sau buổi học. Có thể chụp màn hình slide này gửi cho học sinh.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gian: 5 phút thảo luận + 3-5 phút chia sẻ. Giáo viên đi vòng quanh gợi ý nếu nhóm nào bí ý tưởng, có thể dựa vào slide "Bảng tra nhanh" vừa học.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Chuyển sang phần 5 — phần cảnh báo an toàn. Giữ giọng nghiêm túc hơn các phần trước vì đây là nội dung bảo vệ chính học sinh.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3 nguyên tắc quan trọng nhất của cả buổi học — nói chậm, có thể yêu cầu học sinh nhắc lại. Ví dụ cụ thể: không chụp ảnh CCCD gửi cho chatbot lạ để "nhờ điền hộ form"; không tin tuyệt đối một thông tin y tế, pháp luật AI đưa ra mà không kiểm chứng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Dành khoảng 5 phút slide này: cho học sinh quét mã và tự làm 8 câu trắc nghiệm ôn tập trên điện thoại (không cần đăng nhập, không lưu tên ai). Sau khi làm xong, hỏi nhanh cả lớp: điểm cao nhất là bao nhiêu, câu nào nhiều bạn sai nhất — giải thích lại câu đó. Nhấn mạnh thêm 3 thói quen dùng AI hiệu quả (đã rút gọn vào băng dưới bên trái slide): hỏi rõ ràng, đủ thông tin theo công thức prompt (câu lệnh) đã học ở Phần 3; đọc kỹ, chỉnh sửa lại kết quả AI cho đúng với nhu cầu thật của mình; không phụ thuộc hoàn toàn vào AI — vẫn phải tự học, tự làm được việc của mình. AI là công cụ hỗ trợ để làm việc nhanh hơn, không phải để thay thế việc học và rèn nghề — người giỏi nghề + biết dùng AI mới là lợi thế thật sự. Nếu lớp không có mạng/điện thoại đủ dùng, có thể cho làm theo nhóm 2-3 em chung 1 điện thoại.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chậm lại 5 ý chốt. Có thể mời 1-2 học sinh tự nhắc lại bằng lời của mình để kiểm tra mức độ tiếp thu.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Buổi học sau (nếu có) có thể mời một số học sinh chia sẻ lại bài tập này. Đây là cách tốt nhất để kiến thức không chỉ dừng ở buổi học hôm nay.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tài nguyên — khuyến khích học sinh chụp lại màn hình slide này trước khi ra về.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Dành thời gian cho học sinh đặt câu hỏi. Khuyến khích các em thử dùng AI ngay trong tuần này cho việc học hoặc cho ngành đang theo học.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2.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2.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image" Target="../media/image-15-2.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slideLayout" Target="../slideLayouts/slideLayout1.xml"/><Relationship Id="rId11"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3.png"/><Relationship Id="rId5" Type="http://schemas.openxmlformats.org/officeDocument/2006/relationships/image" Target="../media/image-17-3.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slideLayout" Target="../slideLayouts/slideLayout1.xml"/><Relationship Id="rId11"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image" Target="../media/image-24-2.png"/><Relationship Id="rId3" Type="http://schemas.openxmlformats.org/officeDocument/2006/relationships/image" Target="../media/image-24-2.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image" Target="../media/image-24-8.png"/><Relationship Id="rId9" Type="http://schemas.openxmlformats.org/officeDocument/2006/relationships/image" Target="../media/image-24-9.png"/><Relationship Id="rId10" Type="http://schemas.openxmlformats.org/officeDocument/2006/relationships/slideLayout" Target="../slideLayouts/slideLayout1.xml"/><Relationship Id="rId11"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slideLayout" Target="../slideLayouts/slideLayout1.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slideLayout" Target="../slideLayouts/slideLayout1.xml"/><Relationship Id="rId11"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1.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image" Target="../media/image-28-9.png"/><Relationship Id="rId10" Type="http://schemas.openxmlformats.org/officeDocument/2006/relationships/slideLayout" Target="../slideLayouts/slideLayout1.xml"/><Relationship Id="rId11"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slideLayout" Target="../slideLayouts/slideLayout1.xml"/><Relationship Id="rId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2.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image" Target="../media/image-30-8.png"/><Relationship Id="rId9" Type="http://schemas.openxmlformats.org/officeDocument/2006/relationships/image" Target="../media/image-30-9.png"/><Relationship Id="rId10" Type="http://schemas.openxmlformats.org/officeDocument/2006/relationships/slideLayout" Target="../slideLayouts/slideLayout1.xml"/><Relationship Id="rId11"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slideLayout" Target="../slideLayouts/slideLayout1.xml"/><Relationship Id="rId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1.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slideLayout" Target="../slideLayouts/slideLayout1.xml"/><Relationship Id="rId7"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image" Target="../media/image-36-7.png"/><Relationship Id="rId8" Type="http://schemas.openxmlformats.org/officeDocument/2006/relationships/image" Target="../media/image-36-8.png"/><Relationship Id="rId9" Type="http://schemas.openxmlformats.org/officeDocument/2006/relationships/image" Target="../media/image-36-8.png"/><Relationship Id="rId10" Type="http://schemas.openxmlformats.org/officeDocument/2006/relationships/image" Target="../media/image-36-8.png"/><Relationship Id="rId11" Type="http://schemas.openxmlformats.org/officeDocument/2006/relationships/slideLayout" Target="../slideLayouts/slideLayout1.xml"/><Relationship Id="rId1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3.png"/><Relationship Id="rId5" Type="http://schemas.openxmlformats.org/officeDocument/2006/relationships/image" Target="../media/image-37-3.png"/><Relationship Id="rId6" Type="http://schemas.openxmlformats.org/officeDocument/2006/relationships/image" Target="../media/image-37-3.png"/><Relationship Id="rId7" Type="http://schemas.openxmlformats.org/officeDocument/2006/relationships/image" Target="../media/image-37-3.png"/><Relationship Id="rId8" Type="http://schemas.openxmlformats.org/officeDocument/2006/relationships/slideLayout" Target="../slideLayouts/slideLayout1.xml"/><Relationship Id="rId9"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slideLayout" Target="../slideLayouts/slideLayout1.xml"/><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image" Target="../media/image-39-6.png"/><Relationship Id="rId7" Type="http://schemas.openxmlformats.org/officeDocument/2006/relationships/image" Target="../media/image-39-7.png"/><Relationship Id="rId8" Type="http://schemas.openxmlformats.org/officeDocument/2006/relationships/image" Target="../media/image-39-8.png"/><Relationship Id="rId9" Type="http://schemas.openxmlformats.org/officeDocument/2006/relationships/image" Target="../media/image-39-9.png"/><Relationship Id="rId10" Type="http://schemas.openxmlformats.org/officeDocument/2006/relationships/image" Target="../media/image-39-10.png"/><Relationship Id="rId11" Type="http://schemas.openxmlformats.org/officeDocument/2006/relationships/slideLayout" Target="../slideLayouts/slideLayout1.xml"/><Relationship Id="rId1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509760" y="-1463040"/>
            <a:ext cx="4206240" cy="4206240"/>
          </a:xfrm>
          <a:prstGeom prst="ellipse">
            <a:avLst/>
          </a:prstGeom>
          <a:solidFill>
            <a:srgbClr val="0F4B54"/>
          </a:solidFill>
          <a:ln/>
        </p:spPr>
      </p:sp>
      <p:sp>
        <p:nvSpPr>
          <p:cNvPr id="3" name="Shape 1"/>
          <p:cNvSpPr/>
          <p:nvPr/>
        </p:nvSpPr>
        <p:spPr>
          <a:xfrm>
            <a:off x="-1463040" y="5120640"/>
            <a:ext cx="3291840" cy="3291840"/>
          </a:xfrm>
          <a:prstGeom prst="ellipse">
            <a:avLst/>
          </a:prstGeom>
          <a:solidFill>
            <a:srgbClr val="0F4B54"/>
          </a:solidFill>
          <a:ln/>
        </p:spPr>
      </p:sp>
      <p:sp>
        <p:nvSpPr>
          <p:cNvPr id="4" name="Shape 2"/>
          <p:cNvSpPr/>
          <p:nvPr/>
        </p:nvSpPr>
        <p:spPr>
          <a:xfrm>
            <a:off x="731520" y="1005840"/>
            <a:ext cx="868680" cy="868680"/>
          </a:xfrm>
          <a:prstGeom prst="ellipse">
            <a:avLst/>
          </a:prstGeom>
          <a:solidFill>
            <a:srgbClr val="F2A93B"/>
          </a:solidFill>
          <a:ln/>
        </p:spPr>
      </p:sp>
      <p:pic>
        <p:nvPicPr>
          <p:cNvPr id="5" name="Image 0" descr="/home/claude/aichuyendoiso2/assets/icons/brain_0B3B45.png">    </p:cNvPr>
          <p:cNvPicPr>
            <a:picLocks noChangeAspect="1"/>
          </p:cNvPicPr>
          <p:nvPr/>
        </p:nvPicPr>
        <p:blipFill>
          <a:blip r:embed="rId2"/>
          <a:stretch>
            <a:fillRect/>
          </a:stretch>
        </p:blipFill>
        <p:spPr>
          <a:xfrm>
            <a:off x="966064" y="1240384"/>
            <a:ext cx="399593" cy="399593"/>
          </a:xfrm>
          <a:prstGeom prst="rect">
            <a:avLst/>
          </a:prstGeom>
        </p:spPr>
      </p:pic>
      <p:sp>
        <p:nvSpPr>
          <p:cNvPr id="6" name="Text 3"/>
          <p:cNvSpPr txBox="1"/>
          <p:nvPr/>
        </p:nvSpPr>
        <p:spPr>
          <a:xfrm>
            <a:off x="1828800" y="1051560"/>
            <a:ext cx="8686800" cy="777240"/>
          </a:xfrm>
          <a:prstGeom prst="rect">
            <a:avLst/>
          </a:prstGeom>
          <a:noFill/>
          <a:ln/>
        </p:spPr>
        <p:txBody>
          <a:bodyPr wrap="square" lIns="0" tIns="0" rIns="0" bIns="0" rtlCol="0" anchor="ctr"/>
          <a:lstStyle/>
          <a:p>
            <a:pPr indent="0" marL="0">
              <a:buNone/>
            </a:pPr>
            <a:r>
              <a:rPr lang="en-US" sz="1600" dirty="0">
                <a:solidFill>
                  <a:srgbClr val="9FC2C6"/>
                </a:solidFill>
                <a:latin typeface="Arial" pitchFamily="34" charset="0"/>
                <a:ea typeface="Arial" pitchFamily="34" charset="-122"/>
                <a:cs typeface="Arial" pitchFamily="34" charset="-120"/>
              </a:rPr>
              <a:t>CHUYÊN ĐỀ GIỚI THIỆU · 4 GIỜ</a:t>
            </a:r>
            <a:endParaRPr lang="en-US" sz="1600" dirty="0"/>
          </a:p>
        </p:txBody>
      </p:sp>
      <p:sp>
        <p:nvSpPr>
          <p:cNvPr id="7" name="Text 4"/>
          <p:cNvSpPr txBox="1"/>
          <p:nvPr/>
        </p:nvSpPr>
        <p:spPr>
          <a:xfrm>
            <a:off x="731520" y="2331720"/>
            <a:ext cx="10698480" cy="1554480"/>
          </a:xfrm>
          <a:prstGeom prst="rect">
            <a:avLst/>
          </a:prstGeom>
          <a:noFill/>
          <a:ln/>
        </p:spPr>
        <p:txBody>
          <a:bodyPr wrap="square" lIns="0" tIns="0" rIns="0" bIns="0" rtlCol="0" anchor="t"/>
          <a:lstStyle/>
          <a:p>
            <a:pPr indent="0" marL="0">
              <a:lnSpc>
                <a:spcPts val="4800"/>
              </a:lnSpc>
              <a:buNone/>
            </a:pPr>
            <a:r>
              <a:rPr lang="en-US" sz="4400" b="1" dirty="0">
                <a:solidFill>
                  <a:srgbClr val="FFFFFF"/>
                </a:solidFill>
                <a:latin typeface="Arial" pitchFamily="34" charset="0"/>
                <a:ea typeface="Arial" pitchFamily="34" charset="-122"/>
                <a:cs typeface="Arial" pitchFamily="34" charset="-120"/>
              </a:rPr>
              <a:t>TRÍ TUỆ NHÂN TẠO (AI)</a:t>
            </a:r>
            <a:endParaRPr lang="en-US" sz="4400" dirty="0"/>
          </a:p>
          <a:p>
            <a:pPr indent="0" marL="0">
              <a:lnSpc>
                <a:spcPts val="4800"/>
              </a:lnSpc>
              <a:buNone/>
            </a:pPr>
            <a:r>
              <a:rPr lang="en-US" sz="4400" b="1" dirty="0">
                <a:solidFill>
                  <a:srgbClr val="FFFFFF"/>
                </a:solidFill>
                <a:latin typeface="Arial" pitchFamily="34" charset="0"/>
                <a:ea typeface="Arial" pitchFamily="34" charset="-122"/>
                <a:cs typeface="Arial" pitchFamily="34" charset="-120"/>
              </a:rPr>
              <a:t>VÀ CHUYỂN ĐỔI SỐ</a:t>
            </a:r>
            <a:endParaRPr lang="en-US" sz="4400" dirty="0"/>
          </a:p>
        </p:txBody>
      </p:sp>
      <p:sp>
        <p:nvSpPr>
          <p:cNvPr id="8" name="Text 5"/>
          <p:cNvSpPr txBox="1"/>
          <p:nvPr/>
        </p:nvSpPr>
        <p:spPr>
          <a:xfrm>
            <a:off x="731520" y="3794760"/>
            <a:ext cx="10424160" cy="822960"/>
          </a:xfrm>
          <a:prstGeom prst="rect">
            <a:avLst/>
          </a:prstGeom>
          <a:noFill/>
          <a:ln/>
        </p:spPr>
        <p:txBody>
          <a:bodyPr wrap="square" lIns="0" tIns="0" rIns="0" bIns="0" rtlCol="0" anchor="ctr"/>
          <a:lstStyle/>
          <a:p>
            <a:pPr indent="0" marL="0">
              <a:buNone/>
            </a:pPr>
            <a:r>
              <a:rPr lang="en-US" sz="1900" b="1" dirty="0">
                <a:solidFill>
                  <a:srgbClr val="F2A93B"/>
                </a:solidFill>
                <a:latin typeface="Arial" pitchFamily="34" charset="0"/>
                <a:ea typeface="Arial" pitchFamily="34" charset="-122"/>
                <a:cs typeface="Arial" pitchFamily="34" charset="-120"/>
              </a:rPr>
              <a:t>Học để dùng được ngay cho ngành, nghề em đang học</a:t>
            </a:r>
            <a:endParaRPr lang="en-US" sz="1900" dirty="0"/>
          </a:p>
        </p:txBody>
      </p:sp>
      <p:sp>
        <p:nvSpPr>
          <p:cNvPr id="9" name="Text 6"/>
          <p:cNvSpPr txBox="1"/>
          <p:nvPr/>
        </p:nvSpPr>
        <p:spPr>
          <a:xfrm>
            <a:off x="731520" y="5257800"/>
            <a:ext cx="10424160" cy="45720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Dành cho học sinh, sinh viên hệ Trung cấp – Cao đẳng · Trường Cao đẳng Điện Biên</a:t>
            </a:r>
            <a:endParaRPr lang="en-US" sz="1500" dirty="0"/>
          </a:p>
        </p:txBody>
      </p:sp>
      <p:sp>
        <p:nvSpPr>
          <p:cNvPr id="10" name="Shape 7"/>
          <p:cNvSpPr/>
          <p:nvPr/>
        </p:nvSpPr>
        <p:spPr>
          <a:xfrm>
            <a:off x="731520" y="5806440"/>
            <a:ext cx="1828800" cy="18288"/>
          </a:xfrm>
          <a:prstGeom prst="rect">
            <a:avLst/>
          </a:prstGeom>
          <a:solidFill>
            <a:srgbClr val="1E6B72"/>
          </a:solidFill>
          <a:ln/>
        </p:spPr>
      </p:sp>
      <p:sp>
        <p:nvSpPr>
          <p:cNvPr id="11" name="Text 8"/>
          <p:cNvSpPr txBox="1"/>
          <p:nvPr/>
        </p:nvSpPr>
        <p:spPr>
          <a:xfrm>
            <a:off x="731520" y="5989320"/>
            <a:ext cx="5486400" cy="365760"/>
          </a:xfrm>
          <a:prstGeom prst="rect">
            <a:avLst/>
          </a:prstGeom>
          <a:noFill/>
          <a:ln/>
        </p:spPr>
        <p:txBody>
          <a:bodyPr wrap="square" lIns="0" tIns="0" rIns="0" bIns="0" rtlCol="0" anchor="ctr"/>
          <a:lstStyle/>
          <a:p>
            <a:pPr indent="0" marL="0">
              <a:buNone/>
            </a:pPr>
            <a:r>
              <a:rPr lang="en-US" sz="1300" dirty="0">
                <a:solidFill>
                  <a:srgbClr val="9FC2C6"/>
                </a:solidFill>
                <a:latin typeface="Arial" pitchFamily="34" charset="0"/>
                <a:ea typeface="Arial" pitchFamily="34" charset="-122"/>
                <a:cs typeface="Arial" pitchFamily="34" charset="-120"/>
              </a:rPr>
              <a:t>Thời lượng: 4 giờ  ·  Giảng viên: ................................</a:t>
            </a:r>
            <a:endParaRPr lang="en-US" sz="1300" dirty="0"/>
          </a:p>
        </p:txBody>
      </p:sp>
    </p:spTree>
  </p:cSld>
  <p:clrMapOvr>
    <a:masterClrMapping/>
  </p:clrMapOvr>
  <p:transition spd="med">
    <p:push dir="l"/>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347472"/>
            <a:ext cx="457200" cy="457200"/>
          </a:xfrm>
          <a:prstGeom prst="ellipse">
            <a:avLst/>
          </a:prstGeom>
          <a:solidFill>
            <a:srgbClr val="127C82"/>
          </a:solidFill>
          <a:ln/>
        </p:spPr>
      </p:sp>
      <p:pic>
        <p:nvPicPr>
          <p:cNvPr id="3" name="Image 0" descr="/home/claude/aichuyendoiso2/assets/icons/brain_FFFFFF.png">    </p:cNvPr>
          <p:cNvPicPr>
            <a:picLocks noChangeAspect="1"/>
          </p:cNvPicPr>
          <p:nvPr/>
        </p:nvPicPr>
        <p:blipFill>
          <a:blip r:embed="rId2"/>
          <a:stretch>
            <a:fillRect/>
          </a:stretch>
        </p:blipFill>
        <p:spPr>
          <a:xfrm>
            <a:off x="580644" y="470916"/>
            <a:ext cx="210312" cy="210312"/>
          </a:xfrm>
          <a:prstGeom prst="rect">
            <a:avLst/>
          </a:prstGeom>
        </p:spPr>
      </p:pic>
      <p:sp>
        <p:nvSpPr>
          <p:cNvPr id="4" name="Text 1"/>
          <p:cNvSpPr txBox="1"/>
          <p:nvPr/>
        </p:nvSpPr>
        <p:spPr>
          <a:xfrm>
            <a:off x="1051560" y="301752"/>
            <a:ext cx="10607040" cy="566928"/>
          </a:xfrm>
          <a:prstGeom prst="rect">
            <a:avLst/>
          </a:prstGeom>
          <a:noFill/>
          <a:ln/>
        </p:spPr>
        <p:txBody>
          <a:bodyPr wrap="square" lIns="0" tIns="0" rIns="0" bIns="0" rtlCol="0" anchor="ctr"/>
          <a:lstStyle/>
          <a:p>
            <a:pPr indent="0" marL="0">
              <a:buNone/>
            </a:pPr>
            <a:r>
              <a:rPr lang="en-US" sz="2600" b="1" dirty="0">
                <a:solidFill>
                  <a:srgbClr val="0B5257"/>
                </a:solidFill>
                <a:latin typeface="Arial" pitchFamily="34" charset="0"/>
                <a:ea typeface="Arial" pitchFamily="34" charset="-122"/>
                <a:cs typeface="Arial" pitchFamily="34" charset="-120"/>
              </a:rPr>
              <a:t>Mục Tiêu Bài Học</a:t>
            </a:r>
            <a:endParaRPr lang="en-US" sz="2600" dirty="0"/>
          </a:p>
        </p:txBody>
      </p:sp>
      <p:sp>
        <p:nvSpPr>
          <p:cNvPr id="5" name="Text 2"/>
          <p:cNvSpPr txBox="1"/>
          <p:nvPr/>
        </p:nvSpPr>
        <p:spPr>
          <a:xfrm>
            <a:off x="457200" y="6492240"/>
            <a:ext cx="7315200" cy="274320"/>
          </a:xfrm>
          <a:prstGeom prst="rect">
            <a:avLst/>
          </a:prstGeom>
          <a:noFill/>
          <a:ln/>
        </p:spPr>
        <p:txBody>
          <a:bodyPr wrap="square" lIns="0" tIns="0" rIns="0" bIns="0" rtlCol="0" anchor="ctr"/>
          <a:lstStyle/>
          <a:p>
            <a:pPr algn="l" indent="0" marL="0">
              <a:buNone/>
            </a:pPr>
            <a:r>
              <a:rPr lang="en-US" sz="1000" dirty="0">
                <a:solidFill>
                  <a:srgbClr val="5C7378"/>
                </a:solidFill>
                <a:latin typeface="Arial" pitchFamily="34" charset="0"/>
                <a:ea typeface="Arial" pitchFamily="34" charset="-122"/>
                <a:cs typeface="Arial" pitchFamily="34" charset="-120"/>
              </a:rPr>
              <a:t>Mở đầu</a:t>
            </a:r>
            <a:endParaRPr lang="en-US" sz="1000" dirty="0"/>
          </a:p>
        </p:txBody>
      </p:sp>
      <p:sp>
        <p:nvSpPr>
          <p:cNvPr id="6" name="Text 3"/>
          <p:cNvSpPr txBox="1"/>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C7378"/>
                </a:solidFill>
                <a:latin typeface="Arial" pitchFamily="34" charset="0"/>
                <a:ea typeface="Arial" pitchFamily="34" charset="-122"/>
                <a:cs typeface="Arial" pitchFamily="34" charset="-120"/>
              </a:rPr>
              <a:t>1</a:t>
            </a:r>
            <a:endParaRPr lang="en-US" sz="1000" dirty="0"/>
          </a:p>
        </p:txBody>
      </p:sp>
      <p:sp>
        <p:nvSpPr>
          <p:cNvPr id="7" name="Shape 4"/>
          <p:cNvSpPr/>
          <p:nvPr/>
        </p:nvSpPr>
        <p:spPr>
          <a:xfrm>
            <a:off x="731520" y="1547622"/>
            <a:ext cx="585216" cy="585216"/>
          </a:xfrm>
          <a:prstGeom prst="ellipse">
            <a:avLst/>
          </a:prstGeom>
          <a:solidFill>
            <a:srgbClr val="127C82"/>
          </a:solidFill>
          <a:ln/>
        </p:spPr>
      </p:sp>
      <p:pic>
        <p:nvPicPr>
          <p:cNvPr id="8" name="Image 1" descr="/home/claude/aichuyendoiso2/assets/icons/brain_FFFFFF.png">    </p:cNvPr>
          <p:cNvPicPr>
            <a:picLocks noChangeAspect="1"/>
          </p:cNvPicPr>
          <p:nvPr/>
        </p:nvPicPr>
        <p:blipFill>
          <a:blip r:embed="rId3"/>
          <a:stretch>
            <a:fillRect/>
          </a:stretch>
        </p:blipFill>
        <p:spPr>
          <a:xfrm>
            <a:off x="889528" y="1705630"/>
            <a:ext cx="269199" cy="269199"/>
          </a:xfrm>
          <a:prstGeom prst="rect">
            <a:avLst/>
          </a:prstGeom>
        </p:spPr>
      </p:pic>
      <p:sp>
        <p:nvSpPr>
          <p:cNvPr id="9" name="Text 5"/>
          <p:cNvSpPr txBox="1"/>
          <p:nvPr/>
        </p:nvSpPr>
        <p:spPr>
          <a:xfrm>
            <a:off x="1600200" y="1234440"/>
            <a:ext cx="9784080" cy="365760"/>
          </a:xfrm>
          <a:prstGeom prst="rect">
            <a:avLst/>
          </a:prstGeom>
          <a:noFill/>
          <a:ln/>
        </p:spPr>
        <p:txBody>
          <a:bodyPr wrap="square" lIns="0" tIns="0" rIns="0" bIns="0" rtlCol="0" anchor="b"/>
          <a:lstStyle/>
          <a:p>
            <a:pPr indent="0" marL="0">
              <a:buNone/>
            </a:pPr>
            <a:r>
              <a:rPr lang="en-US" sz="1650" b="1" dirty="0">
                <a:solidFill>
                  <a:srgbClr val="17282B"/>
                </a:solidFill>
                <a:latin typeface="Arial" pitchFamily="34" charset="0"/>
                <a:ea typeface="Arial" pitchFamily="34" charset="-122"/>
                <a:cs typeface="Arial" pitchFamily="34" charset="-120"/>
              </a:rPr>
              <a:t>Hiểu AI là gì</a:t>
            </a:r>
            <a:endParaRPr lang="en-US" sz="1650" dirty="0"/>
          </a:p>
        </p:txBody>
      </p:sp>
      <p:sp>
        <p:nvSpPr>
          <p:cNvPr id="10" name="Text 6"/>
          <p:cNvSpPr txBox="1"/>
          <p:nvPr/>
        </p:nvSpPr>
        <p:spPr>
          <a:xfrm>
            <a:off x="1600200" y="1600200"/>
            <a:ext cx="9784080" cy="800100"/>
          </a:xfrm>
          <a:prstGeom prst="rect">
            <a:avLst/>
          </a:prstGeom>
          <a:noFill/>
          <a:ln/>
        </p:spPr>
        <p:txBody>
          <a:bodyPr wrap="square" lIns="0" tIns="0" rIns="0" bIns="0" rtlCol="0" anchor="t"/>
          <a:lstStyle/>
          <a:p>
            <a:pPr indent="0" marL="0">
              <a:lnSpc>
                <a:spcPts val="1800"/>
              </a:lnSpc>
              <a:buNone/>
            </a:pPr>
            <a:r>
              <a:rPr lang="en-US" sz="1400" dirty="0">
                <a:solidFill>
                  <a:srgbClr val="5C7378"/>
                </a:solidFill>
                <a:latin typeface="Arial" pitchFamily="34" charset="0"/>
                <a:ea typeface="Arial" pitchFamily="34" charset="-122"/>
                <a:cs typeface="Arial" pitchFamily="34" charset="-120"/>
              </a:rPr>
              <a:t>Bằng ví dụ gần gũi hằng ngày — không cần biết lập trình, không cần giỏi máy tính.</a:t>
            </a:r>
            <a:endParaRPr lang="en-US" sz="1400" dirty="0"/>
          </a:p>
        </p:txBody>
      </p:sp>
      <p:sp>
        <p:nvSpPr>
          <p:cNvPr id="11" name="Shape 7"/>
          <p:cNvSpPr/>
          <p:nvPr/>
        </p:nvSpPr>
        <p:spPr>
          <a:xfrm>
            <a:off x="731520" y="2759202"/>
            <a:ext cx="585216" cy="585216"/>
          </a:xfrm>
          <a:prstGeom prst="ellipse">
            <a:avLst/>
          </a:prstGeom>
          <a:solidFill>
            <a:srgbClr val="127C82"/>
          </a:solidFill>
          <a:ln/>
        </p:spPr>
      </p:sp>
      <p:pic>
        <p:nvPicPr>
          <p:cNvPr id="12" name="Image 2" descr="/home/claude/aichuyendoiso2/assets/icons/rotate_FFFFFF.png">    </p:cNvPr>
          <p:cNvPicPr>
            <a:picLocks noChangeAspect="1"/>
          </p:cNvPicPr>
          <p:nvPr/>
        </p:nvPicPr>
        <p:blipFill>
          <a:blip r:embed="rId4"/>
          <a:stretch>
            <a:fillRect/>
          </a:stretch>
        </p:blipFill>
        <p:spPr>
          <a:xfrm>
            <a:off x="889528" y="2917210"/>
            <a:ext cx="269199" cy="269199"/>
          </a:xfrm>
          <a:prstGeom prst="rect">
            <a:avLst/>
          </a:prstGeom>
        </p:spPr>
      </p:pic>
      <p:sp>
        <p:nvSpPr>
          <p:cNvPr id="13" name="Text 8"/>
          <p:cNvSpPr txBox="1"/>
          <p:nvPr/>
        </p:nvSpPr>
        <p:spPr>
          <a:xfrm>
            <a:off x="1600200" y="2446020"/>
            <a:ext cx="9784080" cy="365760"/>
          </a:xfrm>
          <a:prstGeom prst="rect">
            <a:avLst/>
          </a:prstGeom>
          <a:noFill/>
          <a:ln/>
        </p:spPr>
        <p:txBody>
          <a:bodyPr wrap="square" lIns="0" tIns="0" rIns="0" bIns="0" rtlCol="0" anchor="b"/>
          <a:lstStyle/>
          <a:p>
            <a:pPr indent="0" marL="0">
              <a:buNone/>
            </a:pPr>
            <a:r>
              <a:rPr lang="en-US" sz="1650" b="1" dirty="0">
                <a:solidFill>
                  <a:srgbClr val="17282B"/>
                </a:solidFill>
                <a:latin typeface="Arial" pitchFamily="34" charset="0"/>
                <a:ea typeface="Arial" pitchFamily="34" charset="-122"/>
                <a:cs typeface="Arial" pitchFamily="34" charset="-120"/>
              </a:rPr>
              <a:t>Hiểu chuyển đổi số đang thay đổi công việc thế nào</a:t>
            </a:r>
            <a:endParaRPr lang="en-US" sz="1650" dirty="0"/>
          </a:p>
        </p:txBody>
      </p:sp>
      <p:sp>
        <p:nvSpPr>
          <p:cNvPr id="14" name="Text 9"/>
          <p:cNvSpPr txBox="1"/>
          <p:nvPr/>
        </p:nvSpPr>
        <p:spPr>
          <a:xfrm>
            <a:off x="1600200" y="2811780"/>
            <a:ext cx="9784080" cy="800100"/>
          </a:xfrm>
          <a:prstGeom prst="rect">
            <a:avLst/>
          </a:prstGeom>
          <a:noFill/>
          <a:ln/>
        </p:spPr>
        <p:txBody>
          <a:bodyPr wrap="square" lIns="0" tIns="0" rIns="0" bIns="0" rtlCol="0" anchor="t"/>
          <a:lstStyle/>
          <a:p>
            <a:pPr indent="0" marL="0">
              <a:lnSpc>
                <a:spcPts val="1800"/>
              </a:lnSpc>
              <a:buNone/>
            </a:pPr>
            <a:r>
              <a:rPr lang="en-US" sz="1400" dirty="0">
                <a:solidFill>
                  <a:srgbClr val="5C7378"/>
                </a:solidFill>
                <a:latin typeface="Arial" pitchFamily="34" charset="0"/>
                <a:ea typeface="Arial" pitchFamily="34" charset="-122"/>
                <a:cs typeface="Arial" pitchFamily="34" charset="-120"/>
              </a:rPr>
              <a:t>Và vì sao nó liên quan trực tiếp đến ngành nghề em đang theo học.</a:t>
            </a:r>
            <a:endParaRPr lang="en-US" sz="1400" dirty="0"/>
          </a:p>
        </p:txBody>
      </p:sp>
      <p:sp>
        <p:nvSpPr>
          <p:cNvPr id="15" name="Shape 10"/>
          <p:cNvSpPr/>
          <p:nvPr/>
        </p:nvSpPr>
        <p:spPr>
          <a:xfrm>
            <a:off x="731520" y="3970782"/>
            <a:ext cx="585216" cy="585216"/>
          </a:xfrm>
          <a:prstGeom prst="ellipse">
            <a:avLst/>
          </a:prstGeom>
          <a:solidFill>
            <a:srgbClr val="127C82"/>
          </a:solidFill>
          <a:ln/>
        </p:spPr>
      </p:sp>
      <p:pic>
        <p:nvPicPr>
          <p:cNvPr id="16" name="Image 3" descr="/home/claude/aichuyendoiso2/assets/icons/mobile_FFFFFF.png">    </p:cNvPr>
          <p:cNvPicPr>
            <a:picLocks noChangeAspect="1"/>
          </p:cNvPicPr>
          <p:nvPr/>
        </p:nvPicPr>
        <p:blipFill>
          <a:blip r:embed="rId5"/>
          <a:stretch>
            <a:fillRect/>
          </a:stretch>
        </p:blipFill>
        <p:spPr>
          <a:xfrm>
            <a:off x="889528" y="4128790"/>
            <a:ext cx="269199" cy="269199"/>
          </a:xfrm>
          <a:prstGeom prst="rect">
            <a:avLst/>
          </a:prstGeom>
        </p:spPr>
      </p:pic>
      <p:sp>
        <p:nvSpPr>
          <p:cNvPr id="17" name="Text 11"/>
          <p:cNvSpPr txBox="1"/>
          <p:nvPr/>
        </p:nvSpPr>
        <p:spPr>
          <a:xfrm>
            <a:off x="1600200" y="3657600"/>
            <a:ext cx="9784080" cy="365760"/>
          </a:xfrm>
          <a:prstGeom prst="rect">
            <a:avLst/>
          </a:prstGeom>
          <a:noFill/>
          <a:ln/>
        </p:spPr>
        <p:txBody>
          <a:bodyPr wrap="square" lIns="0" tIns="0" rIns="0" bIns="0" rtlCol="0" anchor="b"/>
          <a:lstStyle/>
          <a:p>
            <a:pPr indent="0" marL="0">
              <a:buNone/>
            </a:pPr>
            <a:r>
              <a:rPr lang="en-US" sz="1650" b="1" dirty="0">
                <a:solidFill>
                  <a:srgbClr val="17282B"/>
                </a:solidFill>
                <a:latin typeface="Arial" pitchFamily="34" charset="0"/>
                <a:ea typeface="Arial" pitchFamily="34" charset="-122"/>
                <a:cs typeface="Arial" pitchFamily="34" charset="-120"/>
              </a:rPr>
              <a:t>Biết dùng 2–3 công cụ AI miễn phí</a:t>
            </a:r>
            <a:endParaRPr lang="en-US" sz="1650" dirty="0"/>
          </a:p>
        </p:txBody>
      </p:sp>
      <p:sp>
        <p:nvSpPr>
          <p:cNvPr id="18" name="Text 12"/>
          <p:cNvSpPr txBox="1"/>
          <p:nvPr/>
        </p:nvSpPr>
        <p:spPr>
          <a:xfrm>
            <a:off x="1600200" y="4023360"/>
            <a:ext cx="9784080" cy="800100"/>
          </a:xfrm>
          <a:prstGeom prst="rect">
            <a:avLst/>
          </a:prstGeom>
          <a:noFill/>
          <a:ln/>
        </p:spPr>
        <p:txBody>
          <a:bodyPr wrap="square" lIns="0" tIns="0" rIns="0" bIns="0" rtlCol="0" anchor="t"/>
          <a:lstStyle/>
          <a:p>
            <a:pPr indent="0" marL="0">
              <a:lnSpc>
                <a:spcPts val="1800"/>
              </a:lnSpc>
              <a:buNone/>
            </a:pPr>
            <a:r>
              <a:rPr lang="en-US" sz="1400" dirty="0">
                <a:solidFill>
                  <a:srgbClr val="5C7378"/>
                </a:solidFill>
                <a:latin typeface="Arial" pitchFamily="34" charset="0"/>
                <a:ea typeface="Arial" pitchFamily="34" charset="-122"/>
                <a:cs typeface="Arial" pitchFamily="34" charset="-120"/>
              </a:rPr>
              <a:t>Ngay trên điện thoại của mình, không tốn tiền.</a:t>
            </a:r>
            <a:endParaRPr lang="en-US" sz="1400" dirty="0"/>
          </a:p>
        </p:txBody>
      </p:sp>
      <p:sp>
        <p:nvSpPr>
          <p:cNvPr id="19" name="Shape 13"/>
          <p:cNvSpPr/>
          <p:nvPr/>
        </p:nvSpPr>
        <p:spPr>
          <a:xfrm>
            <a:off x="731520" y="5182362"/>
            <a:ext cx="585216" cy="585216"/>
          </a:xfrm>
          <a:prstGeom prst="ellipse">
            <a:avLst/>
          </a:prstGeom>
          <a:solidFill>
            <a:srgbClr val="127C82"/>
          </a:solidFill>
          <a:ln/>
        </p:spPr>
      </p:sp>
      <p:pic>
        <p:nvPicPr>
          <p:cNvPr id="20" name="Image 4" descr="/home/claude/aichuyendoiso2/assets/icons/briefcase_FFFFFF.png">    </p:cNvPr>
          <p:cNvPicPr>
            <a:picLocks noChangeAspect="1"/>
          </p:cNvPicPr>
          <p:nvPr/>
        </p:nvPicPr>
        <p:blipFill>
          <a:blip r:embed="rId6"/>
          <a:stretch>
            <a:fillRect/>
          </a:stretch>
        </p:blipFill>
        <p:spPr>
          <a:xfrm>
            <a:off x="889528" y="5340370"/>
            <a:ext cx="269199" cy="269199"/>
          </a:xfrm>
          <a:prstGeom prst="rect">
            <a:avLst/>
          </a:prstGeom>
        </p:spPr>
      </p:pic>
      <p:sp>
        <p:nvSpPr>
          <p:cNvPr id="21" name="Text 14"/>
          <p:cNvSpPr txBox="1"/>
          <p:nvPr/>
        </p:nvSpPr>
        <p:spPr>
          <a:xfrm>
            <a:off x="1600200" y="4869180"/>
            <a:ext cx="9784080" cy="365760"/>
          </a:xfrm>
          <a:prstGeom prst="rect">
            <a:avLst/>
          </a:prstGeom>
          <a:noFill/>
          <a:ln/>
        </p:spPr>
        <p:txBody>
          <a:bodyPr wrap="square" lIns="0" tIns="0" rIns="0" bIns="0" rtlCol="0" anchor="b"/>
          <a:lstStyle/>
          <a:p>
            <a:pPr indent="0" marL="0">
              <a:buNone/>
            </a:pPr>
            <a:r>
              <a:rPr lang="en-US" sz="1650" b="1" dirty="0">
                <a:solidFill>
                  <a:srgbClr val="17282B"/>
                </a:solidFill>
                <a:latin typeface="Arial" pitchFamily="34" charset="0"/>
                <a:ea typeface="Arial" pitchFamily="34" charset="-122"/>
                <a:cs typeface="Arial" pitchFamily="34" charset="-120"/>
              </a:rPr>
              <a:t>Biết áp dụng AI vào đúng ngành mình học</a:t>
            </a:r>
            <a:endParaRPr lang="en-US" sz="1650" dirty="0"/>
          </a:p>
        </p:txBody>
      </p:sp>
      <p:sp>
        <p:nvSpPr>
          <p:cNvPr id="22" name="Text 15"/>
          <p:cNvSpPr txBox="1"/>
          <p:nvPr/>
        </p:nvSpPr>
        <p:spPr>
          <a:xfrm>
            <a:off x="1600200" y="5234940"/>
            <a:ext cx="9784080" cy="800100"/>
          </a:xfrm>
          <a:prstGeom prst="rect">
            <a:avLst/>
          </a:prstGeom>
          <a:noFill/>
          <a:ln/>
        </p:spPr>
        <p:txBody>
          <a:bodyPr wrap="square" lIns="0" tIns="0" rIns="0" bIns="0" rtlCol="0" anchor="t"/>
          <a:lstStyle/>
          <a:p>
            <a:pPr indent="0" marL="0">
              <a:lnSpc>
                <a:spcPts val="1800"/>
              </a:lnSpc>
              <a:buNone/>
            </a:pPr>
            <a:r>
              <a:rPr lang="en-US" sz="1400" dirty="0">
                <a:solidFill>
                  <a:srgbClr val="5C7378"/>
                </a:solidFill>
                <a:latin typeface="Arial" pitchFamily="34" charset="0"/>
                <a:ea typeface="Arial" pitchFamily="34" charset="-122"/>
                <a:cs typeface="Arial" pitchFamily="34" charset="-120"/>
              </a:rPr>
              <a:t>Có ví dụ cụ thể cho từng nhóm ngành của Trường.</a:t>
            </a:r>
            <a:endParaRPr lang="en-US" sz="14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347472"/>
            <a:ext cx="457200" cy="457200"/>
          </a:xfrm>
          <a:prstGeom prst="ellipse">
            <a:avLst/>
          </a:prstGeom>
          <a:solidFill>
            <a:srgbClr val="127C82"/>
          </a:solidFill>
          <a:ln/>
        </p:spPr>
      </p:sp>
      <p:pic>
        <p:nvPicPr>
          <p:cNvPr id="3" name="Image 0" descr="/home/claude/aichuyendoiso2/assets/icons/brain_FFFFFF.png">    </p:cNvPr>
          <p:cNvPicPr>
            <a:picLocks noChangeAspect="1"/>
          </p:cNvPicPr>
          <p:nvPr/>
        </p:nvPicPr>
        <p:blipFill>
          <a:blip r:embed="rId2"/>
          <a:stretch>
            <a:fillRect/>
          </a:stretch>
        </p:blipFill>
        <p:spPr>
          <a:xfrm>
            <a:off x="580644" y="470916"/>
            <a:ext cx="210312" cy="210312"/>
          </a:xfrm>
          <a:prstGeom prst="rect">
            <a:avLst/>
          </a:prstGeom>
        </p:spPr>
      </p:pic>
      <p:sp>
        <p:nvSpPr>
          <p:cNvPr id="4" name="Text 1"/>
          <p:cNvSpPr txBox="1"/>
          <p:nvPr/>
        </p:nvSpPr>
        <p:spPr>
          <a:xfrm>
            <a:off x="1051560" y="301752"/>
            <a:ext cx="10607040" cy="566928"/>
          </a:xfrm>
          <a:prstGeom prst="rect">
            <a:avLst/>
          </a:prstGeom>
          <a:noFill/>
          <a:ln/>
        </p:spPr>
        <p:txBody>
          <a:bodyPr wrap="square" lIns="0" tIns="0" rIns="0" bIns="0" rtlCol="0" anchor="ctr"/>
          <a:lstStyle/>
          <a:p>
            <a:pPr indent="0" marL="0">
              <a:buNone/>
            </a:pPr>
            <a:r>
              <a:rPr lang="en-US" sz="2600" b="1" dirty="0">
                <a:solidFill>
                  <a:srgbClr val="0B5257"/>
                </a:solidFill>
                <a:latin typeface="Arial" pitchFamily="34" charset="0"/>
                <a:ea typeface="Arial" pitchFamily="34" charset="-122"/>
                <a:cs typeface="Arial" pitchFamily="34" charset="-120"/>
              </a:rPr>
              <a:t>Nội dung buổi học hôm nay</a:t>
            </a:r>
            <a:endParaRPr lang="en-US" sz="2600" dirty="0"/>
          </a:p>
        </p:txBody>
      </p:sp>
      <p:sp>
        <p:nvSpPr>
          <p:cNvPr id="5" name="Text 2"/>
          <p:cNvSpPr txBox="1"/>
          <p:nvPr/>
        </p:nvSpPr>
        <p:spPr>
          <a:xfrm>
            <a:off x="457200" y="6492240"/>
            <a:ext cx="7315200" cy="274320"/>
          </a:xfrm>
          <a:prstGeom prst="rect">
            <a:avLst/>
          </a:prstGeom>
          <a:noFill/>
          <a:ln/>
        </p:spPr>
        <p:txBody>
          <a:bodyPr wrap="square" lIns="0" tIns="0" rIns="0" bIns="0" rtlCol="0" anchor="ctr"/>
          <a:lstStyle/>
          <a:p>
            <a:pPr algn="l" indent="0" marL="0">
              <a:buNone/>
            </a:pPr>
            <a:r>
              <a:rPr lang="en-US" sz="1000" dirty="0">
                <a:solidFill>
                  <a:srgbClr val="5C7378"/>
                </a:solidFill>
                <a:latin typeface="Arial" pitchFamily="34" charset="0"/>
                <a:ea typeface="Arial" pitchFamily="34" charset="-122"/>
                <a:cs typeface="Arial" pitchFamily="34" charset="-120"/>
              </a:rPr>
              <a:t>Mở đầu</a:t>
            </a:r>
            <a:endParaRPr lang="en-US" sz="1000" dirty="0"/>
          </a:p>
        </p:txBody>
      </p:sp>
      <p:sp>
        <p:nvSpPr>
          <p:cNvPr id="6" name="Text 3"/>
          <p:cNvSpPr txBox="1"/>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C7378"/>
                </a:solidFill>
                <a:latin typeface="Arial" pitchFamily="34" charset="0"/>
                <a:ea typeface="Arial" pitchFamily="34" charset="-122"/>
                <a:cs typeface="Arial" pitchFamily="34" charset="-120"/>
              </a:rPr>
              <a:t>2</a:t>
            </a:r>
            <a:endParaRPr lang="en-US" sz="1000" dirty="0"/>
          </a:p>
        </p:txBody>
      </p:sp>
      <p:sp>
        <p:nvSpPr>
          <p:cNvPr id="7" name="Shape 4"/>
          <p:cNvSpPr/>
          <p:nvPr/>
        </p:nvSpPr>
        <p:spPr>
          <a:xfrm>
            <a:off x="731520" y="1234440"/>
            <a:ext cx="10698480" cy="565622"/>
          </a:xfrm>
          <a:prstGeom prst="roundRect">
            <a:avLst>
              <a:gd name="adj" fmla="val 9700"/>
            </a:avLst>
          </a:prstGeom>
          <a:solidFill>
            <a:srgbClr val="EEF5F5"/>
          </a:solidFill>
          <a:ln w="12700">
            <a:solidFill>
              <a:srgbClr val="D6E6E6"/>
            </a:solidFill>
            <a:prstDash val="solid"/>
          </a:ln>
        </p:spPr>
      </p:sp>
      <p:sp>
        <p:nvSpPr>
          <p:cNvPr id="8" name="Shape 5"/>
          <p:cNvSpPr/>
          <p:nvPr/>
        </p:nvSpPr>
        <p:spPr>
          <a:xfrm>
            <a:off x="914400" y="1325227"/>
            <a:ext cx="438912" cy="438912"/>
          </a:xfrm>
          <a:prstGeom prst="ellipse">
            <a:avLst/>
          </a:prstGeom>
          <a:solidFill>
            <a:srgbClr val="127C82"/>
          </a:solidFill>
          <a:ln/>
        </p:spPr>
      </p:sp>
      <p:pic>
        <p:nvPicPr>
          <p:cNvPr id="9" name="Image 1" descr="/home/claude/aichuyendoiso2/assets/icons/brain_FFFFFF.png">    </p:cNvPr>
          <p:cNvPicPr>
            <a:picLocks noChangeAspect="1"/>
          </p:cNvPicPr>
          <p:nvPr/>
        </p:nvPicPr>
        <p:blipFill>
          <a:blip r:embed="rId3"/>
          <a:stretch>
            <a:fillRect/>
          </a:stretch>
        </p:blipFill>
        <p:spPr>
          <a:xfrm>
            <a:off x="1032906" y="1443733"/>
            <a:ext cx="201900" cy="201900"/>
          </a:xfrm>
          <a:prstGeom prst="rect">
            <a:avLst/>
          </a:prstGeom>
        </p:spPr>
      </p:pic>
      <p:sp>
        <p:nvSpPr>
          <p:cNvPr id="10" name="Text 6"/>
          <p:cNvSpPr txBox="1"/>
          <p:nvPr/>
        </p:nvSpPr>
        <p:spPr>
          <a:xfrm>
            <a:off x="1600200" y="1234440"/>
            <a:ext cx="7406640" cy="565622"/>
          </a:xfrm>
          <a:prstGeom prst="rect">
            <a:avLst/>
          </a:prstGeom>
          <a:noFill/>
          <a:ln/>
        </p:spPr>
        <p:txBody>
          <a:bodyPr wrap="square" lIns="0" tIns="0" rIns="0" bIns="0" rtlCol="0" anchor="ctr"/>
          <a:lstStyle/>
          <a:p>
            <a:pPr indent="0" marL="0">
              <a:buNone/>
            </a:pPr>
            <a:r>
              <a:rPr lang="en-US" sz="1500" b="1" dirty="0">
                <a:solidFill>
                  <a:srgbClr val="17282B"/>
                </a:solidFill>
                <a:latin typeface="Arial" pitchFamily="34" charset="0"/>
                <a:ea typeface="Arial" pitchFamily="34" charset="-122"/>
                <a:cs typeface="Arial" pitchFamily="34" charset="-120"/>
              </a:rPr>
              <a:t>AI là gì?</a:t>
            </a:r>
            <a:endParaRPr lang="en-US" sz="1500" dirty="0"/>
          </a:p>
        </p:txBody>
      </p:sp>
      <p:sp>
        <p:nvSpPr>
          <p:cNvPr id="11" name="Text 7"/>
          <p:cNvSpPr txBox="1"/>
          <p:nvPr/>
        </p:nvSpPr>
        <p:spPr>
          <a:xfrm>
            <a:off x="9144000" y="1234440"/>
            <a:ext cx="2103120" cy="565622"/>
          </a:xfrm>
          <a:prstGeom prst="rect">
            <a:avLst/>
          </a:prstGeom>
          <a:noFill/>
          <a:ln/>
        </p:spPr>
        <p:txBody>
          <a:bodyPr wrap="square" lIns="0" tIns="0" rIns="0" bIns="0" rtlCol="0" anchor="ctr"/>
          <a:lstStyle/>
          <a:p>
            <a:pPr algn="r" indent="0" marL="0">
              <a:buNone/>
            </a:pPr>
            <a:r>
              <a:rPr lang="en-US" sz="1350" dirty="0">
                <a:solidFill>
                  <a:srgbClr val="0B5257"/>
                </a:solidFill>
                <a:latin typeface="Arial" pitchFamily="34" charset="0"/>
                <a:ea typeface="Arial" pitchFamily="34" charset="-122"/>
                <a:cs typeface="Arial" pitchFamily="34" charset="-120"/>
              </a:rPr>
              <a:t>45 phút</a:t>
            </a:r>
            <a:endParaRPr lang="en-US" sz="1350" dirty="0"/>
          </a:p>
        </p:txBody>
      </p:sp>
      <p:sp>
        <p:nvSpPr>
          <p:cNvPr id="12" name="Shape 8"/>
          <p:cNvSpPr/>
          <p:nvPr/>
        </p:nvSpPr>
        <p:spPr>
          <a:xfrm>
            <a:off x="731520" y="1946366"/>
            <a:ext cx="10698480" cy="565622"/>
          </a:xfrm>
          <a:prstGeom prst="roundRect">
            <a:avLst>
              <a:gd name="adj" fmla="val 9700"/>
            </a:avLst>
          </a:prstGeom>
          <a:solidFill>
            <a:srgbClr val="EEF5F5"/>
          </a:solidFill>
          <a:ln w="12700">
            <a:solidFill>
              <a:srgbClr val="D6E6E6"/>
            </a:solidFill>
            <a:prstDash val="solid"/>
          </a:ln>
        </p:spPr>
      </p:sp>
      <p:sp>
        <p:nvSpPr>
          <p:cNvPr id="13" name="Shape 9"/>
          <p:cNvSpPr/>
          <p:nvPr/>
        </p:nvSpPr>
        <p:spPr>
          <a:xfrm>
            <a:off x="914400" y="2037153"/>
            <a:ext cx="438912" cy="438912"/>
          </a:xfrm>
          <a:prstGeom prst="ellipse">
            <a:avLst/>
          </a:prstGeom>
          <a:solidFill>
            <a:srgbClr val="127C82"/>
          </a:solidFill>
          <a:ln/>
        </p:spPr>
      </p:sp>
      <p:pic>
        <p:nvPicPr>
          <p:cNvPr id="14" name="Image 2" descr="/home/claude/aichuyendoiso2/assets/icons/rotate_FFFFFF.png">    </p:cNvPr>
          <p:cNvPicPr>
            <a:picLocks noChangeAspect="1"/>
          </p:cNvPicPr>
          <p:nvPr/>
        </p:nvPicPr>
        <p:blipFill>
          <a:blip r:embed="rId4"/>
          <a:stretch>
            <a:fillRect/>
          </a:stretch>
        </p:blipFill>
        <p:spPr>
          <a:xfrm>
            <a:off x="1032906" y="2155659"/>
            <a:ext cx="201900" cy="201900"/>
          </a:xfrm>
          <a:prstGeom prst="rect">
            <a:avLst/>
          </a:prstGeom>
        </p:spPr>
      </p:pic>
      <p:sp>
        <p:nvSpPr>
          <p:cNvPr id="15" name="Text 10"/>
          <p:cNvSpPr txBox="1"/>
          <p:nvPr/>
        </p:nvSpPr>
        <p:spPr>
          <a:xfrm>
            <a:off x="1600200" y="1946366"/>
            <a:ext cx="7406640" cy="565622"/>
          </a:xfrm>
          <a:prstGeom prst="rect">
            <a:avLst/>
          </a:prstGeom>
          <a:noFill/>
          <a:ln/>
        </p:spPr>
        <p:txBody>
          <a:bodyPr wrap="square" lIns="0" tIns="0" rIns="0" bIns="0" rtlCol="0" anchor="ctr"/>
          <a:lstStyle/>
          <a:p>
            <a:pPr indent="0" marL="0">
              <a:buNone/>
            </a:pPr>
            <a:r>
              <a:rPr lang="en-US" sz="1500" b="1" dirty="0">
                <a:solidFill>
                  <a:srgbClr val="17282B"/>
                </a:solidFill>
                <a:latin typeface="Arial" pitchFamily="34" charset="0"/>
                <a:ea typeface="Arial" pitchFamily="34" charset="-122"/>
                <a:cs typeface="Arial" pitchFamily="34" charset="-120"/>
              </a:rPr>
              <a:t>Chuyển đổi số &amp; cơ hội nghề nghiệp</a:t>
            </a:r>
            <a:endParaRPr lang="en-US" sz="1500" dirty="0"/>
          </a:p>
        </p:txBody>
      </p:sp>
      <p:sp>
        <p:nvSpPr>
          <p:cNvPr id="16" name="Text 11"/>
          <p:cNvSpPr txBox="1"/>
          <p:nvPr/>
        </p:nvSpPr>
        <p:spPr>
          <a:xfrm>
            <a:off x="9144000" y="1946366"/>
            <a:ext cx="2103120" cy="565622"/>
          </a:xfrm>
          <a:prstGeom prst="rect">
            <a:avLst/>
          </a:prstGeom>
          <a:noFill/>
          <a:ln/>
        </p:spPr>
        <p:txBody>
          <a:bodyPr wrap="square" lIns="0" tIns="0" rIns="0" bIns="0" rtlCol="0" anchor="ctr"/>
          <a:lstStyle/>
          <a:p>
            <a:pPr algn="r" indent="0" marL="0">
              <a:buNone/>
            </a:pPr>
            <a:r>
              <a:rPr lang="en-US" sz="1350" dirty="0">
                <a:solidFill>
                  <a:srgbClr val="0B5257"/>
                </a:solidFill>
                <a:latin typeface="Arial" pitchFamily="34" charset="0"/>
                <a:ea typeface="Arial" pitchFamily="34" charset="-122"/>
                <a:cs typeface="Arial" pitchFamily="34" charset="-120"/>
              </a:rPr>
              <a:t>40 phút</a:t>
            </a:r>
            <a:endParaRPr lang="en-US" sz="1350" dirty="0"/>
          </a:p>
        </p:txBody>
      </p:sp>
      <p:sp>
        <p:nvSpPr>
          <p:cNvPr id="17" name="Shape 12"/>
          <p:cNvSpPr/>
          <p:nvPr/>
        </p:nvSpPr>
        <p:spPr>
          <a:xfrm>
            <a:off x="731520" y="2658291"/>
            <a:ext cx="10698480" cy="565622"/>
          </a:xfrm>
          <a:prstGeom prst="roundRect">
            <a:avLst>
              <a:gd name="adj" fmla="val 9700"/>
            </a:avLst>
          </a:prstGeom>
          <a:solidFill>
            <a:srgbClr val="F4F4F4"/>
          </a:solidFill>
          <a:ln w="12700">
            <a:solidFill>
              <a:srgbClr val="E4E4E4"/>
            </a:solidFill>
            <a:prstDash val="solid"/>
          </a:ln>
        </p:spPr>
      </p:sp>
      <p:sp>
        <p:nvSpPr>
          <p:cNvPr id="18" name="Text 13"/>
          <p:cNvSpPr txBox="1"/>
          <p:nvPr/>
        </p:nvSpPr>
        <p:spPr>
          <a:xfrm>
            <a:off x="914400" y="2658291"/>
            <a:ext cx="502920" cy="565622"/>
          </a:xfrm>
          <a:prstGeom prst="rect">
            <a:avLst/>
          </a:prstGeom>
          <a:noFill/>
          <a:ln/>
        </p:spPr>
        <p:txBody>
          <a:bodyPr wrap="square" lIns="0" tIns="0" rIns="0" bIns="0" rtlCol="0" anchor="ctr"/>
          <a:lstStyle/>
          <a:p>
            <a:pPr algn="ctr" indent="0" marL="0">
              <a:buNone/>
            </a:pPr>
            <a:r>
              <a:rPr lang="en-US" sz="1500" b="1" dirty="0">
                <a:solidFill>
                  <a:srgbClr val="5C7378"/>
                </a:solidFill>
                <a:latin typeface="Arial" pitchFamily="34" charset="0"/>
                <a:ea typeface="Arial" pitchFamily="34" charset="-122"/>
                <a:cs typeface="Arial" pitchFamily="34" charset="-120"/>
              </a:rPr>
              <a:t>—</a:t>
            </a:r>
            <a:endParaRPr lang="en-US" sz="1500" dirty="0"/>
          </a:p>
        </p:txBody>
      </p:sp>
      <p:sp>
        <p:nvSpPr>
          <p:cNvPr id="19" name="Text 14"/>
          <p:cNvSpPr txBox="1"/>
          <p:nvPr/>
        </p:nvSpPr>
        <p:spPr>
          <a:xfrm>
            <a:off x="1600200" y="2658291"/>
            <a:ext cx="7406640" cy="565622"/>
          </a:xfrm>
          <a:prstGeom prst="rect">
            <a:avLst/>
          </a:prstGeom>
          <a:noFill/>
          <a:ln/>
        </p:spPr>
        <p:txBody>
          <a:bodyPr wrap="square" lIns="0" tIns="0" rIns="0" bIns="0" rtlCol="0" anchor="ctr"/>
          <a:lstStyle/>
          <a:p>
            <a:pPr indent="0" marL="0">
              <a:buNone/>
            </a:pPr>
            <a:r>
              <a:rPr lang="en-US" sz="1500" i="1" dirty="0">
                <a:solidFill>
                  <a:srgbClr val="5C7378"/>
                </a:solidFill>
                <a:latin typeface="Arial" pitchFamily="34" charset="0"/>
                <a:ea typeface="Arial" pitchFamily="34" charset="-122"/>
                <a:cs typeface="Arial" pitchFamily="34" charset="-120"/>
              </a:rPr>
              <a:t>Giải lao</a:t>
            </a:r>
            <a:endParaRPr lang="en-US" sz="1500" dirty="0"/>
          </a:p>
        </p:txBody>
      </p:sp>
      <p:sp>
        <p:nvSpPr>
          <p:cNvPr id="20" name="Text 15"/>
          <p:cNvSpPr txBox="1"/>
          <p:nvPr/>
        </p:nvSpPr>
        <p:spPr>
          <a:xfrm>
            <a:off x="9144000" y="2658291"/>
            <a:ext cx="2103120" cy="565622"/>
          </a:xfrm>
          <a:prstGeom prst="rect">
            <a:avLst/>
          </a:prstGeom>
          <a:noFill/>
          <a:ln/>
        </p:spPr>
        <p:txBody>
          <a:bodyPr wrap="square" lIns="0" tIns="0" rIns="0" bIns="0" rtlCol="0" anchor="ctr"/>
          <a:lstStyle/>
          <a:p>
            <a:pPr algn="r" indent="0" marL="0">
              <a:buNone/>
            </a:pPr>
            <a:r>
              <a:rPr lang="en-US" sz="1350" dirty="0">
                <a:solidFill>
                  <a:srgbClr val="0B5257"/>
                </a:solidFill>
                <a:latin typeface="Arial" pitchFamily="34" charset="0"/>
                <a:ea typeface="Arial" pitchFamily="34" charset="-122"/>
                <a:cs typeface="Arial" pitchFamily="34" charset="-120"/>
              </a:rPr>
              <a:t>10 phút</a:t>
            </a:r>
            <a:endParaRPr lang="en-US" sz="1350" dirty="0"/>
          </a:p>
        </p:txBody>
      </p:sp>
      <p:sp>
        <p:nvSpPr>
          <p:cNvPr id="21" name="Shape 16"/>
          <p:cNvSpPr/>
          <p:nvPr/>
        </p:nvSpPr>
        <p:spPr>
          <a:xfrm>
            <a:off x="731520" y="3370217"/>
            <a:ext cx="10698480" cy="565622"/>
          </a:xfrm>
          <a:prstGeom prst="roundRect">
            <a:avLst>
              <a:gd name="adj" fmla="val 9700"/>
            </a:avLst>
          </a:prstGeom>
          <a:solidFill>
            <a:srgbClr val="EEF5F5"/>
          </a:solidFill>
          <a:ln w="12700">
            <a:solidFill>
              <a:srgbClr val="D6E6E6"/>
            </a:solidFill>
            <a:prstDash val="solid"/>
          </a:ln>
        </p:spPr>
      </p:sp>
      <p:sp>
        <p:nvSpPr>
          <p:cNvPr id="22" name="Shape 17"/>
          <p:cNvSpPr/>
          <p:nvPr/>
        </p:nvSpPr>
        <p:spPr>
          <a:xfrm>
            <a:off x="914400" y="3461004"/>
            <a:ext cx="438912" cy="438912"/>
          </a:xfrm>
          <a:prstGeom prst="ellipse">
            <a:avLst/>
          </a:prstGeom>
          <a:solidFill>
            <a:srgbClr val="127C82"/>
          </a:solidFill>
          <a:ln/>
        </p:spPr>
      </p:sp>
      <p:pic>
        <p:nvPicPr>
          <p:cNvPr id="23" name="Image 3" descr="/home/claude/aichuyendoiso2/assets/icons/comments_FFFFFF.png">    </p:cNvPr>
          <p:cNvPicPr>
            <a:picLocks noChangeAspect="1"/>
          </p:cNvPicPr>
          <p:nvPr/>
        </p:nvPicPr>
        <p:blipFill>
          <a:blip r:embed="rId5"/>
          <a:stretch>
            <a:fillRect/>
          </a:stretch>
        </p:blipFill>
        <p:spPr>
          <a:xfrm>
            <a:off x="1032906" y="3579510"/>
            <a:ext cx="201900" cy="201900"/>
          </a:xfrm>
          <a:prstGeom prst="rect">
            <a:avLst/>
          </a:prstGeom>
        </p:spPr>
      </p:pic>
      <p:sp>
        <p:nvSpPr>
          <p:cNvPr id="24" name="Text 18"/>
          <p:cNvSpPr txBox="1"/>
          <p:nvPr/>
        </p:nvSpPr>
        <p:spPr>
          <a:xfrm>
            <a:off x="1600200" y="3370217"/>
            <a:ext cx="7406640" cy="565622"/>
          </a:xfrm>
          <a:prstGeom prst="rect">
            <a:avLst/>
          </a:prstGeom>
          <a:noFill/>
          <a:ln/>
        </p:spPr>
        <p:txBody>
          <a:bodyPr wrap="square" lIns="0" tIns="0" rIns="0" bIns="0" rtlCol="0" anchor="ctr"/>
          <a:lstStyle/>
          <a:p>
            <a:pPr indent="0" marL="0">
              <a:buNone/>
            </a:pPr>
            <a:r>
              <a:rPr lang="en-US" sz="1500" b="1" dirty="0">
                <a:solidFill>
                  <a:srgbClr val="17282B"/>
                </a:solidFill>
                <a:latin typeface="Arial" pitchFamily="34" charset="0"/>
                <a:ea typeface="Arial" pitchFamily="34" charset="-122"/>
                <a:cs typeface="Arial" pitchFamily="34" charset="-120"/>
              </a:rPr>
              <a:t>Công cụ AI miễn phí &amp; cách "nói chuyện" với AI</a:t>
            </a:r>
            <a:endParaRPr lang="en-US" sz="1500" dirty="0"/>
          </a:p>
        </p:txBody>
      </p:sp>
      <p:sp>
        <p:nvSpPr>
          <p:cNvPr id="25" name="Text 19"/>
          <p:cNvSpPr txBox="1"/>
          <p:nvPr/>
        </p:nvSpPr>
        <p:spPr>
          <a:xfrm>
            <a:off x="9144000" y="3370217"/>
            <a:ext cx="2103120" cy="565622"/>
          </a:xfrm>
          <a:prstGeom prst="rect">
            <a:avLst/>
          </a:prstGeom>
          <a:noFill/>
          <a:ln/>
        </p:spPr>
        <p:txBody>
          <a:bodyPr wrap="square" lIns="0" tIns="0" rIns="0" bIns="0" rtlCol="0" anchor="ctr"/>
          <a:lstStyle/>
          <a:p>
            <a:pPr algn="r" indent="0" marL="0">
              <a:buNone/>
            </a:pPr>
            <a:r>
              <a:rPr lang="en-US" sz="1350" dirty="0">
                <a:solidFill>
                  <a:srgbClr val="0B5257"/>
                </a:solidFill>
                <a:latin typeface="Arial" pitchFamily="34" charset="0"/>
                <a:ea typeface="Arial" pitchFamily="34" charset="-122"/>
                <a:cs typeface="Arial" pitchFamily="34" charset="-120"/>
              </a:rPr>
              <a:t>50 phút</a:t>
            </a:r>
            <a:endParaRPr lang="en-US" sz="1350" dirty="0"/>
          </a:p>
        </p:txBody>
      </p:sp>
      <p:sp>
        <p:nvSpPr>
          <p:cNvPr id="26" name="Shape 20"/>
          <p:cNvSpPr/>
          <p:nvPr/>
        </p:nvSpPr>
        <p:spPr>
          <a:xfrm>
            <a:off x="731520" y="4082143"/>
            <a:ext cx="10698480" cy="565622"/>
          </a:xfrm>
          <a:prstGeom prst="roundRect">
            <a:avLst>
              <a:gd name="adj" fmla="val 9700"/>
            </a:avLst>
          </a:prstGeom>
          <a:solidFill>
            <a:srgbClr val="EEF5F5"/>
          </a:solidFill>
          <a:ln w="12700">
            <a:solidFill>
              <a:srgbClr val="D6E6E6"/>
            </a:solidFill>
            <a:prstDash val="solid"/>
          </a:ln>
        </p:spPr>
      </p:sp>
      <p:sp>
        <p:nvSpPr>
          <p:cNvPr id="27" name="Shape 21"/>
          <p:cNvSpPr/>
          <p:nvPr/>
        </p:nvSpPr>
        <p:spPr>
          <a:xfrm>
            <a:off x="914400" y="4172930"/>
            <a:ext cx="438912" cy="438912"/>
          </a:xfrm>
          <a:prstGeom prst="ellipse">
            <a:avLst/>
          </a:prstGeom>
          <a:solidFill>
            <a:srgbClr val="127C82"/>
          </a:solidFill>
          <a:ln/>
        </p:spPr>
      </p:sp>
      <p:pic>
        <p:nvPicPr>
          <p:cNvPr id="28" name="Image 4" descr="/home/claude/aichuyendoiso2/assets/icons/briefcase_FFFFFF.png">    </p:cNvPr>
          <p:cNvPicPr>
            <a:picLocks noChangeAspect="1"/>
          </p:cNvPicPr>
          <p:nvPr/>
        </p:nvPicPr>
        <p:blipFill>
          <a:blip r:embed="rId6"/>
          <a:stretch>
            <a:fillRect/>
          </a:stretch>
        </p:blipFill>
        <p:spPr>
          <a:xfrm>
            <a:off x="1032906" y="4291436"/>
            <a:ext cx="201900" cy="201900"/>
          </a:xfrm>
          <a:prstGeom prst="rect">
            <a:avLst/>
          </a:prstGeom>
        </p:spPr>
      </p:pic>
      <p:sp>
        <p:nvSpPr>
          <p:cNvPr id="29" name="Text 22"/>
          <p:cNvSpPr txBox="1"/>
          <p:nvPr/>
        </p:nvSpPr>
        <p:spPr>
          <a:xfrm>
            <a:off x="1600200" y="4082143"/>
            <a:ext cx="7406640" cy="565622"/>
          </a:xfrm>
          <a:prstGeom prst="rect">
            <a:avLst/>
          </a:prstGeom>
          <a:noFill/>
          <a:ln/>
        </p:spPr>
        <p:txBody>
          <a:bodyPr wrap="square" lIns="0" tIns="0" rIns="0" bIns="0" rtlCol="0" anchor="ctr"/>
          <a:lstStyle/>
          <a:p>
            <a:pPr indent="0" marL="0">
              <a:buNone/>
            </a:pPr>
            <a:r>
              <a:rPr lang="en-US" sz="1500" b="1" dirty="0">
                <a:solidFill>
                  <a:srgbClr val="17282B"/>
                </a:solidFill>
                <a:latin typeface="Arial" pitchFamily="34" charset="0"/>
                <a:ea typeface="Arial" pitchFamily="34" charset="-122"/>
                <a:cs typeface="Arial" pitchFamily="34" charset="-120"/>
              </a:rPr>
              <a:t>AI áp dụng cho từng ngành nghề của Trường</a:t>
            </a:r>
            <a:endParaRPr lang="en-US" sz="1500" dirty="0"/>
          </a:p>
        </p:txBody>
      </p:sp>
      <p:sp>
        <p:nvSpPr>
          <p:cNvPr id="30" name="Text 23"/>
          <p:cNvSpPr txBox="1"/>
          <p:nvPr/>
        </p:nvSpPr>
        <p:spPr>
          <a:xfrm>
            <a:off x="9144000" y="4082143"/>
            <a:ext cx="2103120" cy="565622"/>
          </a:xfrm>
          <a:prstGeom prst="rect">
            <a:avLst/>
          </a:prstGeom>
          <a:noFill/>
          <a:ln/>
        </p:spPr>
        <p:txBody>
          <a:bodyPr wrap="square" lIns="0" tIns="0" rIns="0" bIns="0" rtlCol="0" anchor="ctr"/>
          <a:lstStyle/>
          <a:p>
            <a:pPr algn="r" indent="0" marL="0">
              <a:buNone/>
            </a:pPr>
            <a:r>
              <a:rPr lang="en-US" sz="1350" dirty="0">
                <a:solidFill>
                  <a:srgbClr val="0B5257"/>
                </a:solidFill>
                <a:latin typeface="Arial" pitchFamily="34" charset="0"/>
                <a:ea typeface="Arial" pitchFamily="34" charset="-122"/>
                <a:cs typeface="Arial" pitchFamily="34" charset="-120"/>
              </a:rPr>
              <a:t>60 phút</a:t>
            </a:r>
            <a:endParaRPr lang="en-US" sz="1350" dirty="0"/>
          </a:p>
        </p:txBody>
      </p:sp>
      <p:sp>
        <p:nvSpPr>
          <p:cNvPr id="31" name="Shape 24"/>
          <p:cNvSpPr/>
          <p:nvPr/>
        </p:nvSpPr>
        <p:spPr>
          <a:xfrm>
            <a:off x="731520" y="4794069"/>
            <a:ext cx="10698480" cy="565622"/>
          </a:xfrm>
          <a:prstGeom prst="roundRect">
            <a:avLst>
              <a:gd name="adj" fmla="val 9700"/>
            </a:avLst>
          </a:prstGeom>
          <a:solidFill>
            <a:srgbClr val="EEF5F5"/>
          </a:solidFill>
          <a:ln w="12700">
            <a:solidFill>
              <a:srgbClr val="D6E6E6"/>
            </a:solidFill>
            <a:prstDash val="solid"/>
          </a:ln>
        </p:spPr>
      </p:sp>
      <p:sp>
        <p:nvSpPr>
          <p:cNvPr id="32" name="Shape 25"/>
          <p:cNvSpPr/>
          <p:nvPr/>
        </p:nvSpPr>
        <p:spPr>
          <a:xfrm>
            <a:off x="914400" y="4884855"/>
            <a:ext cx="438912" cy="438912"/>
          </a:xfrm>
          <a:prstGeom prst="ellipse">
            <a:avLst/>
          </a:prstGeom>
          <a:solidFill>
            <a:srgbClr val="127C82"/>
          </a:solidFill>
          <a:ln/>
        </p:spPr>
      </p:sp>
      <p:pic>
        <p:nvPicPr>
          <p:cNvPr id="33" name="Image 5" descr="/home/claude/aichuyendoiso2/assets/icons/shield_FFFFFF.png">    </p:cNvPr>
          <p:cNvPicPr>
            <a:picLocks noChangeAspect="1"/>
          </p:cNvPicPr>
          <p:nvPr/>
        </p:nvPicPr>
        <p:blipFill>
          <a:blip r:embed="rId7"/>
          <a:stretch>
            <a:fillRect/>
          </a:stretch>
        </p:blipFill>
        <p:spPr>
          <a:xfrm>
            <a:off x="1032906" y="5003362"/>
            <a:ext cx="201900" cy="201900"/>
          </a:xfrm>
          <a:prstGeom prst="rect">
            <a:avLst/>
          </a:prstGeom>
        </p:spPr>
      </p:pic>
      <p:sp>
        <p:nvSpPr>
          <p:cNvPr id="34" name="Text 26"/>
          <p:cNvSpPr txBox="1"/>
          <p:nvPr/>
        </p:nvSpPr>
        <p:spPr>
          <a:xfrm>
            <a:off x="1600200" y="4794069"/>
            <a:ext cx="7406640" cy="565622"/>
          </a:xfrm>
          <a:prstGeom prst="rect">
            <a:avLst/>
          </a:prstGeom>
          <a:noFill/>
          <a:ln/>
        </p:spPr>
        <p:txBody>
          <a:bodyPr wrap="square" lIns="0" tIns="0" rIns="0" bIns="0" rtlCol="0" anchor="ctr"/>
          <a:lstStyle/>
          <a:p>
            <a:pPr indent="0" marL="0">
              <a:buNone/>
            </a:pPr>
            <a:r>
              <a:rPr lang="en-US" sz="1500" b="1" dirty="0">
                <a:solidFill>
                  <a:srgbClr val="17282B"/>
                </a:solidFill>
                <a:latin typeface="Arial" pitchFamily="34" charset="0"/>
                <a:ea typeface="Arial" pitchFamily="34" charset="-122"/>
                <a:cs typeface="Arial" pitchFamily="34" charset="-120"/>
              </a:rPr>
              <a:t>Dùng AI an toàn, đúng cách</a:t>
            </a:r>
            <a:endParaRPr lang="en-US" sz="1500" dirty="0"/>
          </a:p>
        </p:txBody>
      </p:sp>
      <p:sp>
        <p:nvSpPr>
          <p:cNvPr id="35" name="Text 27"/>
          <p:cNvSpPr txBox="1"/>
          <p:nvPr/>
        </p:nvSpPr>
        <p:spPr>
          <a:xfrm>
            <a:off x="9144000" y="4794069"/>
            <a:ext cx="2103120" cy="565622"/>
          </a:xfrm>
          <a:prstGeom prst="rect">
            <a:avLst/>
          </a:prstGeom>
          <a:noFill/>
          <a:ln/>
        </p:spPr>
        <p:txBody>
          <a:bodyPr wrap="square" lIns="0" tIns="0" rIns="0" bIns="0" rtlCol="0" anchor="ctr"/>
          <a:lstStyle/>
          <a:p>
            <a:pPr algn="r" indent="0" marL="0">
              <a:buNone/>
            </a:pPr>
            <a:r>
              <a:rPr lang="en-US" sz="1350" dirty="0">
                <a:solidFill>
                  <a:srgbClr val="0B5257"/>
                </a:solidFill>
                <a:latin typeface="Arial" pitchFamily="34" charset="0"/>
                <a:ea typeface="Arial" pitchFamily="34" charset="-122"/>
                <a:cs typeface="Arial" pitchFamily="34" charset="-120"/>
              </a:rPr>
              <a:t>25 phút</a:t>
            </a:r>
            <a:endParaRPr lang="en-US" sz="1350" dirty="0"/>
          </a:p>
        </p:txBody>
      </p:sp>
      <p:sp>
        <p:nvSpPr>
          <p:cNvPr id="36" name="Shape 28"/>
          <p:cNvSpPr/>
          <p:nvPr/>
        </p:nvSpPr>
        <p:spPr>
          <a:xfrm>
            <a:off x="731520" y="5505994"/>
            <a:ext cx="10698480" cy="565622"/>
          </a:xfrm>
          <a:prstGeom prst="roundRect">
            <a:avLst>
              <a:gd name="adj" fmla="val 9700"/>
            </a:avLst>
          </a:prstGeom>
          <a:solidFill>
            <a:srgbClr val="F4F4F4"/>
          </a:solidFill>
          <a:ln w="12700">
            <a:solidFill>
              <a:srgbClr val="E4E4E4"/>
            </a:solidFill>
            <a:prstDash val="solid"/>
          </a:ln>
        </p:spPr>
      </p:sp>
      <p:sp>
        <p:nvSpPr>
          <p:cNvPr id="37" name="Text 29"/>
          <p:cNvSpPr txBox="1"/>
          <p:nvPr/>
        </p:nvSpPr>
        <p:spPr>
          <a:xfrm>
            <a:off x="914400" y="5505994"/>
            <a:ext cx="502920" cy="565622"/>
          </a:xfrm>
          <a:prstGeom prst="rect">
            <a:avLst/>
          </a:prstGeom>
          <a:noFill/>
          <a:ln/>
        </p:spPr>
        <p:txBody>
          <a:bodyPr wrap="square" lIns="0" tIns="0" rIns="0" bIns="0" rtlCol="0" anchor="ctr"/>
          <a:lstStyle/>
          <a:p>
            <a:pPr algn="ctr" indent="0" marL="0">
              <a:buNone/>
            </a:pPr>
            <a:r>
              <a:rPr lang="en-US" sz="1500" b="1" dirty="0">
                <a:solidFill>
                  <a:srgbClr val="5C7378"/>
                </a:solidFill>
                <a:latin typeface="Arial" pitchFamily="34" charset="0"/>
                <a:ea typeface="Arial" pitchFamily="34" charset="-122"/>
                <a:cs typeface="Arial" pitchFamily="34" charset="-120"/>
              </a:rPr>
              <a:t>—</a:t>
            </a:r>
            <a:endParaRPr lang="en-US" sz="1500" dirty="0"/>
          </a:p>
        </p:txBody>
      </p:sp>
      <p:sp>
        <p:nvSpPr>
          <p:cNvPr id="38" name="Text 30"/>
          <p:cNvSpPr txBox="1"/>
          <p:nvPr/>
        </p:nvSpPr>
        <p:spPr>
          <a:xfrm>
            <a:off x="1600200" y="5505994"/>
            <a:ext cx="7406640" cy="565622"/>
          </a:xfrm>
          <a:prstGeom prst="rect">
            <a:avLst/>
          </a:prstGeom>
          <a:noFill/>
          <a:ln/>
        </p:spPr>
        <p:txBody>
          <a:bodyPr wrap="square" lIns="0" tIns="0" rIns="0" bIns="0" rtlCol="0" anchor="ctr"/>
          <a:lstStyle/>
          <a:p>
            <a:pPr indent="0" marL="0">
              <a:buNone/>
            </a:pPr>
            <a:r>
              <a:rPr lang="en-US" sz="1500" i="1" dirty="0">
                <a:solidFill>
                  <a:srgbClr val="5C7378"/>
                </a:solidFill>
                <a:latin typeface="Arial" pitchFamily="34" charset="0"/>
                <a:ea typeface="Arial" pitchFamily="34" charset="-122"/>
                <a:cs typeface="Arial" pitchFamily="34" charset="-120"/>
              </a:rPr>
              <a:t>Tổng kết &amp; hỏi đáp</a:t>
            </a:r>
            <a:endParaRPr lang="en-US" sz="1500" dirty="0"/>
          </a:p>
        </p:txBody>
      </p:sp>
      <p:sp>
        <p:nvSpPr>
          <p:cNvPr id="39" name="Text 31"/>
          <p:cNvSpPr txBox="1"/>
          <p:nvPr/>
        </p:nvSpPr>
        <p:spPr>
          <a:xfrm>
            <a:off x="9144000" y="5505994"/>
            <a:ext cx="2103120" cy="565622"/>
          </a:xfrm>
          <a:prstGeom prst="rect">
            <a:avLst/>
          </a:prstGeom>
          <a:noFill/>
          <a:ln/>
        </p:spPr>
        <p:txBody>
          <a:bodyPr wrap="square" lIns="0" tIns="0" rIns="0" bIns="0" rtlCol="0" anchor="ctr"/>
          <a:lstStyle/>
          <a:p>
            <a:pPr algn="r" indent="0" marL="0">
              <a:buNone/>
            </a:pPr>
            <a:r>
              <a:rPr lang="en-US" sz="1350" dirty="0">
                <a:solidFill>
                  <a:srgbClr val="0B5257"/>
                </a:solidFill>
                <a:latin typeface="Arial" pitchFamily="34" charset="0"/>
                <a:ea typeface="Arial" pitchFamily="34" charset="-122"/>
                <a:cs typeface="Arial" pitchFamily="34" charset="-120"/>
              </a:rPr>
              <a:t>20 phút</a:t>
            </a:r>
            <a:endParaRPr lang="en-US" sz="135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778240" y="-2011680"/>
            <a:ext cx="5486400" cy="5486400"/>
          </a:xfrm>
          <a:prstGeom prst="ellipse">
            <a:avLst/>
          </a:prstGeom>
          <a:solidFill>
            <a:srgbClr val="0F4B54"/>
          </a:solidFill>
          <a:ln/>
        </p:spPr>
      </p:sp>
      <p:sp>
        <p:nvSpPr>
          <p:cNvPr id="3" name="Text 1"/>
          <p:cNvSpPr txBox="1"/>
          <p:nvPr/>
        </p:nvSpPr>
        <p:spPr>
          <a:xfrm>
            <a:off x="640080" y="1051560"/>
            <a:ext cx="3840480" cy="2377440"/>
          </a:xfrm>
          <a:prstGeom prst="rect">
            <a:avLst/>
          </a:prstGeom>
          <a:noFill/>
          <a:ln/>
        </p:spPr>
        <p:txBody>
          <a:bodyPr wrap="square" lIns="0" tIns="0" rIns="0" bIns="0" rtlCol="0" anchor="ctr"/>
          <a:lstStyle/>
          <a:p>
            <a:pPr indent="0" marL="0">
              <a:buNone/>
            </a:pPr>
            <a:r>
              <a:rPr lang="en-US" sz="13000" b="1" dirty="0">
                <a:solidFill>
                  <a:srgbClr val="155A61"/>
                </a:solidFill>
                <a:latin typeface="Arial" pitchFamily="34" charset="0"/>
                <a:ea typeface="Arial" pitchFamily="34" charset="-122"/>
                <a:cs typeface="Arial" pitchFamily="34" charset="-120"/>
              </a:rPr>
              <a:t>01</a:t>
            </a:r>
            <a:endParaRPr lang="en-US" sz="13000" dirty="0"/>
          </a:p>
        </p:txBody>
      </p:sp>
      <p:sp>
        <p:nvSpPr>
          <p:cNvPr id="4" name="Shape 2"/>
          <p:cNvSpPr/>
          <p:nvPr/>
        </p:nvSpPr>
        <p:spPr>
          <a:xfrm>
            <a:off x="9738360" y="502920"/>
            <a:ext cx="1371600" cy="1371600"/>
          </a:xfrm>
          <a:prstGeom prst="ellipse">
            <a:avLst/>
          </a:prstGeom>
          <a:solidFill>
            <a:srgbClr val="F2A93B"/>
          </a:solidFill>
          <a:ln/>
        </p:spPr>
      </p:sp>
      <p:pic>
        <p:nvPicPr>
          <p:cNvPr id="5" name="Image 0" descr="/home/claude/aichuyendoiso2/assets/icons/brain_0B3B45.png">    </p:cNvPr>
          <p:cNvPicPr>
            <a:picLocks noChangeAspect="1"/>
          </p:cNvPicPr>
          <p:nvPr/>
        </p:nvPicPr>
        <p:blipFill>
          <a:blip r:embed="rId2"/>
          <a:stretch>
            <a:fillRect/>
          </a:stretch>
        </p:blipFill>
        <p:spPr>
          <a:xfrm>
            <a:off x="10108692" y="873252"/>
            <a:ext cx="630936" cy="630936"/>
          </a:xfrm>
          <a:prstGeom prst="rect">
            <a:avLst/>
          </a:prstGeom>
        </p:spPr>
      </p:pic>
      <p:sp>
        <p:nvSpPr>
          <p:cNvPr id="6" name="Text 3"/>
          <p:cNvSpPr txBox="1"/>
          <p:nvPr/>
        </p:nvSpPr>
        <p:spPr>
          <a:xfrm>
            <a:off x="777240" y="3246120"/>
            <a:ext cx="10241280" cy="1463040"/>
          </a:xfrm>
          <a:prstGeom prst="rect">
            <a:avLst/>
          </a:prstGeom>
          <a:noFill/>
          <a:ln/>
        </p:spPr>
        <p:txBody>
          <a:bodyPr wrap="square" lIns="0" tIns="0" rIns="0" bIns="0" rtlCol="0" anchor="ctr"/>
          <a:lstStyle/>
          <a:p>
            <a:pPr indent="0" marL="0">
              <a:lnSpc>
                <a:spcPts val="4000"/>
              </a:lnSpc>
              <a:buNone/>
            </a:pPr>
            <a:r>
              <a:rPr lang="en-US" sz="3600" b="1" dirty="0">
                <a:solidFill>
                  <a:srgbClr val="FFFFFF"/>
                </a:solidFill>
                <a:latin typeface="Arial" pitchFamily="34" charset="0"/>
                <a:ea typeface="Arial" pitchFamily="34" charset="-122"/>
                <a:cs typeface="Arial" pitchFamily="34" charset="-120"/>
              </a:rPr>
              <a:t>AI LÀ GÌ?</a:t>
            </a:r>
            <a:endParaRPr lang="en-US" sz="3600" dirty="0"/>
          </a:p>
        </p:txBody>
      </p:sp>
      <p:sp>
        <p:nvSpPr>
          <p:cNvPr id="7" name="Text 4"/>
          <p:cNvSpPr txBox="1"/>
          <p:nvPr/>
        </p:nvSpPr>
        <p:spPr>
          <a:xfrm>
            <a:off x="822960" y="4526280"/>
            <a:ext cx="9875520" cy="548640"/>
          </a:xfrm>
          <a:prstGeom prst="rect">
            <a:avLst/>
          </a:prstGeom>
          <a:noFill/>
          <a:ln/>
        </p:spPr>
        <p:txBody>
          <a:bodyPr wrap="square" lIns="0" tIns="0" rIns="0" bIns="0" rtlCol="0" anchor="ctr"/>
          <a:lstStyle/>
          <a:p>
            <a:pPr indent="0" marL="0">
              <a:buNone/>
            </a:pPr>
            <a:r>
              <a:rPr lang="en-US" sz="1600" b="1" dirty="0">
                <a:solidFill>
                  <a:srgbClr val="F2A93B"/>
                </a:solidFill>
                <a:latin typeface="Arial" pitchFamily="34" charset="0"/>
                <a:ea typeface="Arial" pitchFamily="34" charset="-122"/>
                <a:cs typeface="Arial" pitchFamily="34" charset="-120"/>
              </a:rPr>
              <a:t>Khái niệm và ứng dụng AI trong đời sống hằng ngày</a:t>
            </a:r>
            <a:endParaRPr lang="en-US" sz="1600" dirty="0"/>
          </a:p>
        </p:txBody>
      </p:sp>
      <p:sp>
        <p:nvSpPr>
          <p:cNvPr id="8" name="Text 5"/>
          <p:cNvSpPr txBox="1"/>
          <p:nvPr/>
        </p:nvSpPr>
        <p:spPr>
          <a:xfrm>
            <a:off x="457200" y="6492240"/>
            <a:ext cx="7315200" cy="274320"/>
          </a:xfrm>
          <a:prstGeom prst="rect">
            <a:avLst/>
          </a:prstGeom>
          <a:noFill/>
          <a:ln/>
        </p:spPr>
        <p:txBody>
          <a:bodyPr wrap="square" lIns="0" tIns="0" rIns="0" bIns="0" rtlCol="0" anchor="ctr"/>
          <a:lstStyle/>
          <a:p>
            <a:pPr algn="l" indent="0" marL="0">
              <a:buNone/>
            </a:pPr>
            <a:r>
              <a:rPr lang="en-US" sz="1000" dirty="0">
                <a:solidFill>
                  <a:srgbClr val="9FC2C6"/>
                </a:solidFill>
                <a:latin typeface="Arial" pitchFamily="34" charset="0"/>
                <a:ea typeface="Arial" pitchFamily="34" charset="-122"/>
                <a:cs typeface="Arial" pitchFamily="34" charset="-120"/>
              </a:rPr>
              <a:t>Chuyên đề: AI và chuyển đổi số</a:t>
            </a:r>
            <a:endParaRPr lang="en-US" sz="1000" dirty="0"/>
          </a:p>
        </p:txBody>
      </p:sp>
      <p:sp>
        <p:nvSpPr>
          <p:cNvPr id="9" name="Text 6"/>
          <p:cNvSpPr txBox="1"/>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9FC2C6"/>
                </a:solidFill>
                <a:latin typeface="Arial" pitchFamily="34" charset="0"/>
                <a:ea typeface="Arial" pitchFamily="34" charset="-122"/>
                <a:cs typeface="Arial" pitchFamily="34" charset="-120"/>
              </a:rPr>
              <a:t>3</a:t>
            </a:r>
            <a:endParaRPr lang="en-US" sz="1000" dirty="0"/>
          </a:p>
        </p:txBody>
      </p:sp>
    </p:spTree>
  </p:cSld>
  <p:clrMapOvr>
    <a:masterClrMapping/>
  </p:clrMapOvr>
  <p:transition spd="med">
    <p:push dir="l"/>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347472"/>
            <a:ext cx="457200" cy="457200"/>
          </a:xfrm>
          <a:prstGeom prst="ellipse">
            <a:avLst/>
          </a:prstGeom>
          <a:solidFill>
            <a:srgbClr val="127C82"/>
          </a:solidFill>
          <a:ln/>
        </p:spPr>
      </p:sp>
      <p:pic>
        <p:nvPicPr>
          <p:cNvPr id="3" name="Image 0" descr="/home/claude/aichuyendoiso2/assets/icons/brain_FFFFFF.png">    </p:cNvPr>
          <p:cNvPicPr>
            <a:picLocks noChangeAspect="1"/>
          </p:cNvPicPr>
          <p:nvPr/>
        </p:nvPicPr>
        <p:blipFill>
          <a:blip r:embed="rId2"/>
          <a:stretch>
            <a:fillRect/>
          </a:stretch>
        </p:blipFill>
        <p:spPr>
          <a:xfrm>
            <a:off x="580644" y="470916"/>
            <a:ext cx="210312" cy="210312"/>
          </a:xfrm>
          <a:prstGeom prst="rect">
            <a:avLst/>
          </a:prstGeom>
        </p:spPr>
      </p:pic>
      <p:sp>
        <p:nvSpPr>
          <p:cNvPr id="4" name="Text 1"/>
          <p:cNvSpPr txBox="1"/>
          <p:nvPr/>
        </p:nvSpPr>
        <p:spPr>
          <a:xfrm>
            <a:off x="1051560" y="301752"/>
            <a:ext cx="10607040" cy="566928"/>
          </a:xfrm>
          <a:prstGeom prst="rect">
            <a:avLst/>
          </a:prstGeom>
          <a:noFill/>
          <a:ln/>
        </p:spPr>
        <p:txBody>
          <a:bodyPr wrap="square" lIns="0" tIns="0" rIns="0" bIns="0" rtlCol="0" anchor="ctr"/>
          <a:lstStyle/>
          <a:p>
            <a:pPr indent="0" marL="0">
              <a:buNone/>
            </a:pPr>
            <a:r>
              <a:rPr lang="en-US" sz="2600" b="1" dirty="0">
                <a:solidFill>
                  <a:srgbClr val="0B5257"/>
                </a:solidFill>
                <a:latin typeface="Arial" pitchFamily="34" charset="0"/>
                <a:ea typeface="Arial" pitchFamily="34" charset="-122"/>
                <a:cs typeface="Arial" pitchFamily="34" charset="-120"/>
              </a:rPr>
              <a:t>AI Trong Đời Sống Hằng Ngày</a:t>
            </a:r>
            <a:endParaRPr lang="en-US" sz="2600" dirty="0"/>
          </a:p>
        </p:txBody>
      </p:sp>
      <p:sp>
        <p:nvSpPr>
          <p:cNvPr id="5" name="Text 2"/>
          <p:cNvSpPr txBox="1"/>
          <p:nvPr/>
        </p:nvSpPr>
        <p:spPr>
          <a:xfrm>
            <a:off x="457200" y="6492240"/>
            <a:ext cx="7315200" cy="274320"/>
          </a:xfrm>
          <a:prstGeom prst="rect">
            <a:avLst/>
          </a:prstGeom>
          <a:noFill/>
          <a:ln/>
        </p:spPr>
        <p:txBody>
          <a:bodyPr wrap="square" lIns="0" tIns="0" rIns="0" bIns="0" rtlCol="0" anchor="ctr"/>
          <a:lstStyle/>
          <a:p>
            <a:pPr algn="l" indent="0" marL="0">
              <a:buNone/>
            </a:pPr>
            <a:r>
              <a:rPr lang="en-US" sz="1000" dirty="0">
                <a:solidFill>
                  <a:srgbClr val="5C7378"/>
                </a:solidFill>
                <a:latin typeface="Arial" pitchFamily="34" charset="0"/>
                <a:ea typeface="Arial" pitchFamily="34" charset="-122"/>
                <a:cs typeface="Arial" pitchFamily="34" charset="-120"/>
              </a:rPr>
              <a:t>Phần 1 · AI là gì?</a:t>
            </a:r>
            <a:endParaRPr lang="en-US" sz="1000" dirty="0"/>
          </a:p>
        </p:txBody>
      </p:sp>
      <p:sp>
        <p:nvSpPr>
          <p:cNvPr id="6" name="Text 3"/>
          <p:cNvSpPr txBox="1"/>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C7378"/>
                </a:solidFill>
                <a:latin typeface="Arial" pitchFamily="34" charset="0"/>
                <a:ea typeface="Arial" pitchFamily="34" charset="-122"/>
                <a:cs typeface="Arial" pitchFamily="34" charset="-120"/>
              </a:rPr>
              <a:t>4</a:t>
            </a:r>
            <a:endParaRPr lang="en-US" sz="1000" dirty="0"/>
          </a:p>
        </p:txBody>
      </p:sp>
      <p:sp>
        <p:nvSpPr>
          <p:cNvPr id="7" name="Text 4"/>
          <p:cNvSpPr txBox="1"/>
          <p:nvPr/>
        </p:nvSpPr>
        <p:spPr>
          <a:xfrm>
            <a:off x="731520" y="1234440"/>
            <a:ext cx="10698480" cy="457200"/>
          </a:xfrm>
          <a:prstGeom prst="rect">
            <a:avLst/>
          </a:prstGeom>
          <a:noFill/>
          <a:ln/>
        </p:spPr>
        <p:txBody>
          <a:bodyPr wrap="square" lIns="0" tIns="0" rIns="0" bIns="0" rtlCol="0" anchor="ctr"/>
          <a:lstStyle/>
          <a:p>
            <a:pPr indent="0" marL="0">
              <a:buNone/>
            </a:pPr>
            <a:r>
              <a:rPr lang="en-US" sz="1450" i="1" dirty="0">
                <a:solidFill>
                  <a:srgbClr val="0B5257"/>
                </a:solidFill>
                <a:latin typeface="Arial" pitchFamily="34" charset="0"/>
                <a:ea typeface="Arial" pitchFamily="34" charset="-122"/>
                <a:cs typeface="Arial" pitchFamily="34" charset="-120"/>
              </a:rPr>
              <a:t>Bốn ví dụ AI quen thuộc trước khi tìm hiểu khái niệm:</a:t>
            </a:r>
            <a:endParaRPr lang="en-US" sz="1450" dirty="0"/>
          </a:p>
        </p:txBody>
      </p:sp>
      <p:sp>
        <p:nvSpPr>
          <p:cNvPr id="8" name="Shape 5"/>
          <p:cNvSpPr/>
          <p:nvPr/>
        </p:nvSpPr>
        <p:spPr>
          <a:xfrm>
            <a:off x="731520" y="1783080"/>
            <a:ext cx="5189220" cy="2080260"/>
          </a:xfrm>
          <a:prstGeom prst="roundRect">
            <a:avLst>
              <a:gd name="adj" fmla="val 3516"/>
            </a:avLst>
          </a:prstGeom>
          <a:solidFill>
            <a:srgbClr val="EEF5F5"/>
          </a:solidFill>
          <a:ln w="12700">
            <a:solidFill>
              <a:srgbClr val="D6E6E6"/>
            </a:solidFill>
            <a:prstDash val="solid"/>
          </a:ln>
        </p:spPr>
      </p:sp>
      <p:sp>
        <p:nvSpPr>
          <p:cNvPr id="9" name="Shape 6"/>
          <p:cNvSpPr/>
          <p:nvPr/>
        </p:nvSpPr>
        <p:spPr>
          <a:xfrm>
            <a:off x="987552" y="2020824"/>
            <a:ext cx="457200" cy="457200"/>
          </a:xfrm>
          <a:prstGeom prst="ellipse">
            <a:avLst/>
          </a:prstGeom>
          <a:solidFill>
            <a:srgbClr val="F2A93B"/>
          </a:solidFill>
          <a:ln/>
        </p:spPr>
      </p:sp>
      <p:pic>
        <p:nvPicPr>
          <p:cNvPr id="10" name="Image 1" descr="/home/claude/aichuyendoiso2/assets/icons/fingerprint_0B3B45.png">    </p:cNvPr>
          <p:cNvPicPr>
            <a:picLocks noChangeAspect="1"/>
          </p:cNvPicPr>
          <p:nvPr/>
        </p:nvPicPr>
        <p:blipFill>
          <a:blip r:embed="rId3"/>
          <a:stretch>
            <a:fillRect/>
          </a:stretch>
        </p:blipFill>
        <p:spPr>
          <a:xfrm>
            <a:off x="1110996" y="2144268"/>
            <a:ext cx="210312" cy="210312"/>
          </a:xfrm>
          <a:prstGeom prst="rect">
            <a:avLst/>
          </a:prstGeom>
        </p:spPr>
      </p:pic>
      <p:sp>
        <p:nvSpPr>
          <p:cNvPr id="11" name="Text 7"/>
          <p:cNvSpPr txBox="1"/>
          <p:nvPr/>
        </p:nvSpPr>
        <p:spPr>
          <a:xfrm>
            <a:off x="1600200" y="1965960"/>
            <a:ext cx="4137660" cy="548640"/>
          </a:xfrm>
          <a:prstGeom prst="rect">
            <a:avLst/>
          </a:prstGeom>
          <a:noFill/>
          <a:ln/>
        </p:spPr>
        <p:txBody>
          <a:bodyPr wrap="square" lIns="0" tIns="0" rIns="0" bIns="0" rtlCol="0" anchor="ctr"/>
          <a:lstStyle/>
          <a:p>
            <a:pPr indent="0" marL="0">
              <a:lnSpc>
                <a:spcPts val="1700"/>
              </a:lnSpc>
              <a:buNone/>
            </a:pPr>
            <a:r>
              <a:rPr lang="en-US" sz="1550" b="1" dirty="0">
                <a:solidFill>
                  <a:srgbClr val="17282B"/>
                </a:solidFill>
                <a:latin typeface="Arial" pitchFamily="34" charset="0"/>
                <a:ea typeface="Arial" pitchFamily="34" charset="-122"/>
                <a:cs typeface="Arial" pitchFamily="34" charset="-120"/>
              </a:rPr>
              <a:t>Mở khóa điện thoại bằng khuôn mặt</a:t>
            </a:r>
            <a:endParaRPr lang="en-US" sz="1550" dirty="0"/>
          </a:p>
        </p:txBody>
      </p:sp>
      <p:sp>
        <p:nvSpPr>
          <p:cNvPr id="12" name="Text 8"/>
          <p:cNvSpPr txBox="1"/>
          <p:nvPr/>
        </p:nvSpPr>
        <p:spPr>
          <a:xfrm>
            <a:off x="987552" y="2651760"/>
            <a:ext cx="4677156" cy="1028700"/>
          </a:xfrm>
          <a:prstGeom prst="rect">
            <a:avLst/>
          </a:prstGeom>
          <a:noFill/>
          <a:ln/>
        </p:spPr>
        <p:txBody>
          <a:bodyPr wrap="square" lIns="0" tIns="0" rIns="0" bIns="0" rtlCol="0" anchor="t"/>
          <a:lstStyle/>
          <a:p>
            <a:pPr indent="0" marL="0">
              <a:lnSpc>
                <a:spcPts val="1600"/>
              </a:lnSpc>
              <a:buNone/>
            </a:pPr>
            <a:r>
              <a:rPr lang="en-US" sz="1300" dirty="0">
                <a:solidFill>
                  <a:srgbClr val="5C7378"/>
                </a:solidFill>
                <a:latin typeface="Arial" pitchFamily="34" charset="0"/>
                <a:ea typeface="Arial" pitchFamily="34" charset="-122"/>
                <a:cs typeface="Arial" pitchFamily="34" charset="-120"/>
              </a:rPr>
              <a:t>Điện thoại tự nhận ra đúng khuôn mặt của em để mở khóa.</a:t>
            </a:r>
            <a:endParaRPr lang="en-US" sz="1300" dirty="0"/>
          </a:p>
        </p:txBody>
      </p:sp>
      <p:sp>
        <p:nvSpPr>
          <p:cNvPr id="13" name="Shape 9"/>
          <p:cNvSpPr/>
          <p:nvPr/>
        </p:nvSpPr>
        <p:spPr>
          <a:xfrm>
            <a:off x="6240780" y="1783080"/>
            <a:ext cx="5189220" cy="2080260"/>
          </a:xfrm>
          <a:prstGeom prst="roundRect">
            <a:avLst>
              <a:gd name="adj" fmla="val 3516"/>
            </a:avLst>
          </a:prstGeom>
          <a:solidFill>
            <a:srgbClr val="EEF5F5"/>
          </a:solidFill>
          <a:ln w="12700">
            <a:solidFill>
              <a:srgbClr val="D6E6E6"/>
            </a:solidFill>
            <a:prstDash val="solid"/>
          </a:ln>
        </p:spPr>
      </p:sp>
      <p:sp>
        <p:nvSpPr>
          <p:cNvPr id="14" name="Shape 10"/>
          <p:cNvSpPr/>
          <p:nvPr/>
        </p:nvSpPr>
        <p:spPr>
          <a:xfrm>
            <a:off x="6496812" y="2020824"/>
            <a:ext cx="457200" cy="457200"/>
          </a:xfrm>
          <a:prstGeom prst="ellipse">
            <a:avLst/>
          </a:prstGeom>
          <a:solidFill>
            <a:srgbClr val="F2A93B"/>
          </a:solidFill>
          <a:ln/>
        </p:spPr>
      </p:sp>
      <p:pic>
        <p:nvPicPr>
          <p:cNvPr id="15" name="Image 2" descr="/home/claude/aichuyendoiso2/assets/icons/mobile_0B3B45.png">    </p:cNvPr>
          <p:cNvPicPr>
            <a:picLocks noChangeAspect="1"/>
          </p:cNvPicPr>
          <p:nvPr/>
        </p:nvPicPr>
        <p:blipFill>
          <a:blip r:embed="rId4"/>
          <a:stretch>
            <a:fillRect/>
          </a:stretch>
        </p:blipFill>
        <p:spPr>
          <a:xfrm>
            <a:off x="6620256" y="2144268"/>
            <a:ext cx="210312" cy="210312"/>
          </a:xfrm>
          <a:prstGeom prst="rect">
            <a:avLst/>
          </a:prstGeom>
        </p:spPr>
      </p:pic>
      <p:sp>
        <p:nvSpPr>
          <p:cNvPr id="16" name="Text 11"/>
          <p:cNvSpPr txBox="1"/>
          <p:nvPr/>
        </p:nvSpPr>
        <p:spPr>
          <a:xfrm>
            <a:off x="7109460" y="1965960"/>
            <a:ext cx="4137660" cy="548640"/>
          </a:xfrm>
          <a:prstGeom prst="rect">
            <a:avLst/>
          </a:prstGeom>
          <a:noFill/>
          <a:ln/>
        </p:spPr>
        <p:txBody>
          <a:bodyPr wrap="square" lIns="0" tIns="0" rIns="0" bIns="0" rtlCol="0" anchor="ctr"/>
          <a:lstStyle/>
          <a:p>
            <a:pPr indent="0" marL="0">
              <a:lnSpc>
                <a:spcPts val="1700"/>
              </a:lnSpc>
              <a:buNone/>
            </a:pPr>
            <a:r>
              <a:rPr lang="en-US" sz="1550" b="1" dirty="0">
                <a:solidFill>
                  <a:srgbClr val="17282B"/>
                </a:solidFill>
                <a:latin typeface="Arial" pitchFamily="34" charset="0"/>
                <a:ea typeface="Arial" pitchFamily="34" charset="-122"/>
                <a:cs typeface="Arial" pitchFamily="34" charset="-120"/>
              </a:rPr>
              <a:t>Gợi ý video trên TikTok, Shopee</a:t>
            </a:r>
            <a:endParaRPr lang="en-US" sz="1550" dirty="0"/>
          </a:p>
        </p:txBody>
      </p:sp>
      <p:sp>
        <p:nvSpPr>
          <p:cNvPr id="17" name="Text 12"/>
          <p:cNvSpPr txBox="1"/>
          <p:nvPr/>
        </p:nvSpPr>
        <p:spPr>
          <a:xfrm>
            <a:off x="6496812" y="2651760"/>
            <a:ext cx="4677156" cy="1028700"/>
          </a:xfrm>
          <a:prstGeom prst="rect">
            <a:avLst/>
          </a:prstGeom>
          <a:noFill/>
          <a:ln/>
        </p:spPr>
        <p:txBody>
          <a:bodyPr wrap="square" lIns="0" tIns="0" rIns="0" bIns="0" rtlCol="0" anchor="t"/>
          <a:lstStyle/>
          <a:p>
            <a:pPr indent="0" marL="0">
              <a:lnSpc>
                <a:spcPts val="1600"/>
              </a:lnSpc>
              <a:buNone/>
            </a:pPr>
            <a:r>
              <a:rPr lang="en-US" sz="1300" dirty="0">
                <a:solidFill>
                  <a:srgbClr val="5C7378"/>
                </a:solidFill>
                <a:latin typeface="Arial" pitchFamily="34" charset="0"/>
                <a:ea typeface="Arial" pitchFamily="34" charset="-122"/>
                <a:cs typeface="Arial" pitchFamily="34" charset="-120"/>
              </a:rPr>
              <a:t>App tự đoán em thích xem gì, mua gì dựa vào những gì em đã xem trước đó.</a:t>
            </a:r>
            <a:endParaRPr lang="en-US" sz="1300" dirty="0"/>
          </a:p>
        </p:txBody>
      </p:sp>
      <p:sp>
        <p:nvSpPr>
          <p:cNvPr id="18" name="Shape 13"/>
          <p:cNvSpPr/>
          <p:nvPr/>
        </p:nvSpPr>
        <p:spPr>
          <a:xfrm>
            <a:off x="731520" y="4183380"/>
            <a:ext cx="5189220" cy="2080260"/>
          </a:xfrm>
          <a:prstGeom prst="roundRect">
            <a:avLst>
              <a:gd name="adj" fmla="val 3516"/>
            </a:avLst>
          </a:prstGeom>
          <a:solidFill>
            <a:srgbClr val="EEF5F5"/>
          </a:solidFill>
          <a:ln w="12700">
            <a:solidFill>
              <a:srgbClr val="D6E6E6"/>
            </a:solidFill>
            <a:prstDash val="solid"/>
          </a:ln>
        </p:spPr>
      </p:sp>
      <p:sp>
        <p:nvSpPr>
          <p:cNvPr id="19" name="Shape 14"/>
          <p:cNvSpPr/>
          <p:nvPr/>
        </p:nvSpPr>
        <p:spPr>
          <a:xfrm>
            <a:off x="987552" y="4421124"/>
            <a:ext cx="457200" cy="457200"/>
          </a:xfrm>
          <a:prstGeom prst="ellipse">
            <a:avLst/>
          </a:prstGeom>
          <a:solidFill>
            <a:srgbClr val="F2A93B"/>
          </a:solidFill>
          <a:ln/>
        </p:spPr>
      </p:sp>
      <p:pic>
        <p:nvPicPr>
          <p:cNvPr id="20" name="Image 3" descr="/home/claude/aichuyendoiso2/assets/icons/language_0B3B45.png">    </p:cNvPr>
          <p:cNvPicPr>
            <a:picLocks noChangeAspect="1"/>
          </p:cNvPicPr>
          <p:nvPr/>
        </p:nvPicPr>
        <p:blipFill>
          <a:blip r:embed="rId5"/>
          <a:stretch>
            <a:fillRect/>
          </a:stretch>
        </p:blipFill>
        <p:spPr>
          <a:xfrm>
            <a:off x="1110996" y="4544568"/>
            <a:ext cx="210312" cy="210312"/>
          </a:xfrm>
          <a:prstGeom prst="rect">
            <a:avLst/>
          </a:prstGeom>
        </p:spPr>
      </p:pic>
      <p:sp>
        <p:nvSpPr>
          <p:cNvPr id="21" name="Text 15"/>
          <p:cNvSpPr txBox="1"/>
          <p:nvPr/>
        </p:nvSpPr>
        <p:spPr>
          <a:xfrm>
            <a:off x="1600200" y="4366260"/>
            <a:ext cx="4137660" cy="548640"/>
          </a:xfrm>
          <a:prstGeom prst="rect">
            <a:avLst/>
          </a:prstGeom>
          <a:noFill/>
          <a:ln/>
        </p:spPr>
        <p:txBody>
          <a:bodyPr wrap="square" lIns="0" tIns="0" rIns="0" bIns="0" rtlCol="0" anchor="ctr"/>
          <a:lstStyle/>
          <a:p>
            <a:pPr indent="0" marL="0">
              <a:lnSpc>
                <a:spcPts val="1700"/>
              </a:lnSpc>
              <a:buNone/>
            </a:pPr>
            <a:r>
              <a:rPr lang="en-US" sz="1550" b="1" dirty="0">
                <a:solidFill>
                  <a:srgbClr val="17282B"/>
                </a:solidFill>
                <a:latin typeface="Arial" pitchFamily="34" charset="0"/>
                <a:ea typeface="Arial" pitchFamily="34" charset="-122"/>
                <a:cs typeface="Arial" pitchFamily="34" charset="-120"/>
              </a:rPr>
              <a:t>Google Dịch</a:t>
            </a:r>
            <a:endParaRPr lang="en-US" sz="1550" dirty="0"/>
          </a:p>
        </p:txBody>
      </p:sp>
      <p:sp>
        <p:nvSpPr>
          <p:cNvPr id="22" name="Text 16"/>
          <p:cNvSpPr txBox="1"/>
          <p:nvPr/>
        </p:nvSpPr>
        <p:spPr>
          <a:xfrm>
            <a:off x="987552" y="5052060"/>
            <a:ext cx="4677156" cy="1028700"/>
          </a:xfrm>
          <a:prstGeom prst="rect">
            <a:avLst/>
          </a:prstGeom>
          <a:noFill/>
          <a:ln/>
        </p:spPr>
        <p:txBody>
          <a:bodyPr wrap="square" lIns="0" tIns="0" rIns="0" bIns="0" rtlCol="0" anchor="t"/>
          <a:lstStyle/>
          <a:p>
            <a:pPr indent="0" marL="0">
              <a:lnSpc>
                <a:spcPts val="1600"/>
              </a:lnSpc>
              <a:buNone/>
            </a:pPr>
            <a:r>
              <a:rPr lang="en-US" sz="1300" dirty="0">
                <a:solidFill>
                  <a:srgbClr val="5C7378"/>
                </a:solidFill>
                <a:latin typeface="Arial" pitchFamily="34" charset="0"/>
                <a:ea typeface="Arial" pitchFamily="34" charset="-122"/>
                <a:cs typeface="Arial" pitchFamily="34" charset="-120"/>
              </a:rPr>
              <a:t>Dịch nhanh một đoạn văn từ tiếng Anh sang tiếng Việt và ngược lại.</a:t>
            </a:r>
            <a:endParaRPr lang="en-US" sz="1300" dirty="0"/>
          </a:p>
        </p:txBody>
      </p:sp>
      <p:sp>
        <p:nvSpPr>
          <p:cNvPr id="23" name="Shape 17"/>
          <p:cNvSpPr/>
          <p:nvPr/>
        </p:nvSpPr>
        <p:spPr>
          <a:xfrm>
            <a:off x="6240780" y="4183380"/>
            <a:ext cx="5189220" cy="2080260"/>
          </a:xfrm>
          <a:prstGeom prst="roundRect">
            <a:avLst>
              <a:gd name="adj" fmla="val 3516"/>
            </a:avLst>
          </a:prstGeom>
          <a:solidFill>
            <a:srgbClr val="EEF5F5"/>
          </a:solidFill>
          <a:ln w="12700">
            <a:solidFill>
              <a:srgbClr val="D6E6E6"/>
            </a:solidFill>
            <a:prstDash val="solid"/>
          </a:ln>
        </p:spPr>
      </p:sp>
      <p:sp>
        <p:nvSpPr>
          <p:cNvPr id="24" name="Shape 18"/>
          <p:cNvSpPr/>
          <p:nvPr/>
        </p:nvSpPr>
        <p:spPr>
          <a:xfrm>
            <a:off x="6496812" y="4421124"/>
            <a:ext cx="457200" cy="457200"/>
          </a:xfrm>
          <a:prstGeom prst="ellipse">
            <a:avLst/>
          </a:prstGeom>
          <a:solidFill>
            <a:srgbClr val="F2A93B"/>
          </a:solidFill>
          <a:ln/>
        </p:spPr>
      </p:sp>
      <p:pic>
        <p:nvPicPr>
          <p:cNvPr id="25" name="Image 4" descr="/home/claude/aichuyendoiso2/assets/icons/microphone_0B3B45.png">    </p:cNvPr>
          <p:cNvPicPr>
            <a:picLocks noChangeAspect="1"/>
          </p:cNvPicPr>
          <p:nvPr/>
        </p:nvPicPr>
        <p:blipFill>
          <a:blip r:embed="rId6"/>
          <a:stretch>
            <a:fillRect/>
          </a:stretch>
        </p:blipFill>
        <p:spPr>
          <a:xfrm>
            <a:off x="6620256" y="4544568"/>
            <a:ext cx="210312" cy="210312"/>
          </a:xfrm>
          <a:prstGeom prst="rect">
            <a:avLst/>
          </a:prstGeom>
        </p:spPr>
      </p:pic>
      <p:sp>
        <p:nvSpPr>
          <p:cNvPr id="26" name="Text 19"/>
          <p:cNvSpPr txBox="1"/>
          <p:nvPr/>
        </p:nvSpPr>
        <p:spPr>
          <a:xfrm>
            <a:off x="7109460" y="4366260"/>
            <a:ext cx="4137660" cy="548640"/>
          </a:xfrm>
          <a:prstGeom prst="rect">
            <a:avLst/>
          </a:prstGeom>
          <a:noFill/>
          <a:ln/>
        </p:spPr>
        <p:txBody>
          <a:bodyPr wrap="square" lIns="0" tIns="0" rIns="0" bIns="0" rtlCol="0" anchor="ctr"/>
          <a:lstStyle/>
          <a:p>
            <a:pPr indent="0" marL="0">
              <a:lnSpc>
                <a:spcPts val="1700"/>
              </a:lnSpc>
              <a:buNone/>
            </a:pPr>
            <a:r>
              <a:rPr lang="en-US" sz="1550" b="1" dirty="0">
                <a:solidFill>
                  <a:srgbClr val="17282B"/>
                </a:solidFill>
                <a:latin typeface="Arial" pitchFamily="34" charset="0"/>
                <a:ea typeface="Arial" pitchFamily="34" charset="-122"/>
                <a:cs typeface="Arial" pitchFamily="34" charset="-120"/>
              </a:rPr>
              <a:t>Trợ lý giọng nói</a:t>
            </a:r>
            <a:endParaRPr lang="en-US" sz="1550" dirty="0"/>
          </a:p>
        </p:txBody>
      </p:sp>
      <p:sp>
        <p:nvSpPr>
          <p:cNvPr id="27" name="Text 20"/>
          <p:cNvSpPr txBox="1"/>
          <p:nvPr/>
        </p:nvSpPr>
        <p:spPr>
          <a:xfrm>
            <a:off x="6496812" y="5052060"/>
            <a:ext cx="4677156" cy="1028700"/>
          </a:xfrm>
          <a:prstGeom prst="rect">
            <a:avLst/>
          </a:prstGeom>
          <a:noFill/>
          <a:ln/>
        </p:spPr>
        <p:txBody>
          <a:bodyPr wrap="square" lIns="0" tIns="0" rIns="0" bIns="0" rtlCol="0" anchor="t"/>
          <a:lstStyle/>
          <a:p>
            <a:pPr indent="0" marL="0">
              <a:lnSpc>
                <a:spcPts val="1600"/>
              </a:lnSpc>
              <a:buNone/>
            </a:pPr>
            <a:r>
              <a:rPr lang="en-US" sz="1300" dirty="0">
                <a:solidFill>
                  <a:srgbClr val="5C7378"/>
                </a:solidFill>
                <a:latin typeface="Arial" pitchFamily="34" charset="0"/>
                <a:ea typeface="Arial" pitchFamily="34" charset="-122"/>
                <a:cs typeface="Arial" pitchFamily="34" charset="-120"/>
              </a:rPr>
              <a:t>Hỏi điện thoại bằng giọng nói và được trả lời (Siri, Google Assistant...).</a:t>
            </a:r>
            <a:endParaRPr lang="en-US" sz="13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347472"/>
            <a:ext cx="457200" cy="457200"/>
          </a:xfrm>
          <a:prstGeom prst="ellipse">
            <a:avLst/>
          </a:prstGeom>
          <a:solidFill>
            <a:srgbClr val="127C82"/>
          </a:solidFill>
          <a:ln/>
        </p:spPr>
      </p:sp>
      <p:pic>
        <p:nvPicPr>
          <p:cNvPr id="3" name="Image 0" descr="/home/claude/aichuyendoiso2/assets/icons/brain_FFFFFF.png">    </p:cNvPr>
          <p:cNvPicPr>
            <a:picLocks noChangeAspect="1"/>
          </p:cNvPicPr>
          <p:nvPr/>
        </p:nvPicPr>
        <p:blipFill>
          <a:blip r:embed="rId2"/>
          <a:stretch>
            <a:fillRect/>
          </a:stretch>
        </p:blipFill>
        <p:spPr>
          <a:xfrm>
            <a:off x="580644" y="470916"/>
            <a:ext cx="210312" cy="210312"/>
          </a:xfrm>
          <a:prstGeom prst="rect">
            <a:avLst/>
          </a:prstGeom>
        </p:spPr>
      </p:pic>
      <p:sp>
        <p:nvSpPr>
          <p:cNvPr id="4" name="Text 1"/>
          <p:cNvSpPr txBox="1"/>
          <p:nvPr/>
        </p:nvSpPr>
        <p:spPr>
          <a:xfrm>
            <a:off x="1051560" y="301752"/>
            <a:ext cx="10607040" cy="566928"/>
          </a:xfrm>
          <a:prstGeom prst="rect">
            <a:avLst/>
          </a:prstGeom>
          <a:noFill/>
          <a:ln/>
        </p:spPr>
        <p:txBody>
          <a:bodyPr wrap="square" lIns="0" tIns="0" rIns="0" bIns="0" rtlCol="0" anchor="ctr"/>
          <a:lstStyle/>
          <a:p>
            <a:pPr indent="0" marL="0">
              <a:buNone/>
            </a:pPr>
            <a:r>
              <a:rPr lang="en-US" sz="2600" b="1" dirty="0">
                <a:solidFill>
                  <a:srgbClr val="0B5257"/>
                </a:solidFill>
                <a:latin typeface="Arial" pitchFamily="34" charset="0"/>
                <a:ea typeface="Arial" pitchFamily="34" charset="-122"/>
                <a:cs typeface="Arial" pitchFamily="34" charset="-120"/>
              </a:rPr>
              <a:t>Khái Niệm Trí Tuệ Nhân Tạo (AI)</a:t>
            </a:r>
            <a:endParaRPr lang="en-US" sz="2600" dirty="0"/>
          </a:p>
        </p:txBody>
      </p:sp>
      <p:sp>
        <p:nvSpPr>
          <p:cNvPr id="5" name="Text 2"/>
          <p:cNvSpPr txBox="1"/>
          <p:nvPr/>
        </p:nvSpPr>
        <p:spPr>
          <a:xfrm>
            <a:off x="457200" y="6492240"/>
            <a:ext cx="7315200" cy="274320"/>
          </a:xfrm>
          <a:prstGeom prst="rect">
            <a:avLst/>
          </a:prstGeom>
          <a:noFill/>
          <a:ln/>
        </p:spPr>
        <p:txBody>
          <a:bodyPr wrap="square" lIns="0" tIns="0" rIns="0" bIns="0" rtlCol="0" anchor="ctr"/>
          <a:lstStyle/>
          <a:p>
            <a:pPr algn="l" indent="0" marL="0">
              <a:buNone/>
            </a:pPr>
            <a:r>
              <a:rPr lang="en-US" sz="1000" dirty="0">
                <a:solidFill>
                  <a:srgbClr val="5C7378"/>
                </a:solidFill>
                <a:latin typeface="Arial" pitchFamily="34" charset="0"/>
                <a:ea typeface="Arial" pitchFamily="34" charset="-122"/>
                <a:cs typeface="Arial" pitchFamily="34" charset="-120"/>
              </a:rPr>
              <a:t>Phần 1 · AI là gì?</a:t>
            </a:r>
            <a:endParaRPr lang="en-US" sz="1000" dirty="0"/>
          </a:p>
        </p:txBody>
      </p:sp>
      <p:sp>
        <p:nvSpPr>
          <p:cNvPr id="6" name="Text 3"/>
          <p:cNvSpPr txBox="1"/>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C7378"/>
                </a:solidFill>
                <a:latin typeface="Arial" pitchFamily="34" charset="0"/>
                <a:ea typeface="Arial" pitchFamily="34" charset="-122"/>
                <a:cs typeface="Arial" pitchFamily="34" charset="-120"/>
              </a:rPr>
              <a:t>5</a:t>
            </a:r>
            <a:endParaRPr lang="en-US" sz="1000" dirty="0"/>
          </a:p>
        </p:txBody>
      </p:sp>
      <p:sp>
        <p:nvSpPr>
          <p:cNvPr id="7" name="Shape 4"/>
          <p:cNvSpPr/>
          <p:nvPr/>
        </p:nvSpPr>
        <p:spPr>
          <a:xfrm>
            <a:off x="731520" y="1325880"/>
            <a:ext cx="10698480" cy="1417320"/>
          </a:xfrm>
          <a:prstGeom prst="roundRect">
            <a:avLst>
              <a:gd name="adj" fmla="val 6452"/>
            </a:avLst>
          </a:prstGeom>
          <a:solidFill>
            <a:srgbClr val="127C82"/>
          </a:solidFill>
          <a:ln/>
        </p:spPr>
      </p:sp>
      <p:sp>
        <p:nvSpPr>
          <p:cNvPr id="8" name="Text 5"/>
          <p:cNvSpPr txBox="1"/>
          <p:nvPr/>
        </p:nvSpPr>
        <p:spPr>
          <a:xfrm>
            <a:off x="1005840" y="1325880"/>
            <a:ext cx="10149840" cy="1417320"/>
          </a:xfrm>
          <a:prstGeom prst="rect">
            <a:avLst/>
          </a:prstGeom>
          <a:noFill/>
          <a:ln/>
        </p:spPr>
        <p:txBody>
          <a:bodyPr wrap="square" lIns="0" tIns="0" rIns="0" bIns="0" rtlCol="0" anchor="ctr"/>
          <a:lstStyle/>
          <a:p>
            <a:pPr algn="ctr" indent="0" marL="0">
              <a:lnSpc>
                <a:spcPts val="2600"/>
              </a:lnSpc>
              <a:buNone/>
            </a:pPr>
            <a:r>
              <a:rPr lang="en-US" sz="1900" b="1" dirty="0">
                <a:solidFill>
                  <a:srgbClr val="FFFFFF"/>
                </a:solidFill>
                <a:latin typeface="Arial" pitchFamily="34" charset="0"/>
                <a:ea typeface="Arial" pitchFamily="34" charset="-122"/>
                <a:cs typeface="Arial" pitchFamily="34" charset="-120"/>
              </a:rPr>
              <a:t>AI (Trí tuệ nhân tạo) là máy tính được DẠY để làm những việc</a:t>
            </a:r>
            <a:endParaRPr lang="en-US" sz="1900" dirty="0"/>
          </a:p>
          <a:p>
            <a:pPr algn="ctr" indent="0" marL="0">
              <a:lnSpc>
                <a:spcPts val="2600"/>
              </a:lnSpc>
              <a:buNone/>
            </a:pPr>
            <a:r>
              <a:rPr lang="en-US" sz="1900" b="1" dirty="0">
                <a:solidFill>
                  <a:srgbClr val="FFFFFF"/>
                </a:solidFill>
                <a:latin typeface="Arial" pitchFamily="34" charset="0"/>
                <a:ea typeface="Arial" pitchFamily="34" charset="-122"/>
                <a:cs typeface="Arial" pitchFamily="34" charset="-120"/>
              </a:rPr>
              <a:t>giống con người: nhìn, nghe, hiểu và trả lời.</a:t>
            </a:r>
            <a:endParaRPr lang="en-US" sz="1900" dirty="0"/>
          </a:p>
        </p:txBody>
      </p:sp>
      <p:sp>
        <p:nvSpPr>
          <p:cNvPr id="9" name="Shape 6"/>
          <p:cNvSpPr/>
          <p:nvPr/>
        </p:nvSpPr>
        <p:spPr>
          <a:xfrm>
            <a:off x="731520" y="3200400"/>
            <a:ext cx="548640" cy="548640"/>
          </a:xfrm>
          <a:prstGeom prst="ellipse">
            <a:avLst/>
          </a:prstGeom>
          <a:solidFill>
            <a:srgbClr val="F2A93B"/>
          </a:solidFill>
          <a:ln/>
        </p:spPr>
      </p:sp>
      <p:pic>
        <p:nvPicPr>
          <p:cNvPr id="10" name="Image 1" descr="/home/claude/aichuyendoiso2/assets/icons/lightbulb_0B3B45.png">    </p:cNvPr>
          <p:cNvPicPr>
            <a:picLocks noChangeAspect="1"/>
          </p:cNvPicPr>
          <p:nvPr/>
        </p:nvPicPr>
        <p:blipFill>
          <a:blip r:embed="rId3"/>
          <a:stretch>
            <a:fillRect/>
          </a:stretch>
        </p:blipFill>
        <p:spPr>
          <a:xfrm>
            <a:off x="879653" y="3348533"/>
            <a:ext cx="252374" cy="252374"/>
          </a:xfrm>
          <a:prstGeom prst="rect">
            <a:avLst/>
          </a:prstGeom>
        </p:spPr>
      </p:pic>
      <p:sp>
        <p:nvSpPr>
          <p:cNvPr id="11" name="Text 7"/>
          <p:cNvSpPr txBox="1"/>
          <p:nvPr/>
        </p:nvSpPr>
        <p:spPr>
          <a:xfrm>
            <a:off x="1463040" y="3154680"/>
            <a:ext cx="9966960" cy="1005840"/>
          </a:xfrm>
          <a:prstGeom prst="rect">
            <a:avLst/>
          </a:prstGeom>
          <a:noFill/>
          <a:ln/>
        </p:spPr>
        <p:txBody>
          <a:bodyPr wrap="square" lIns="0" tIns="0" rIns="0" bIns="0" rtlCol="0" anchor="ctr"/>
          <a:lstStyle/>
          <a:p>
            <a:pPr indent="0" marL="0">
              <a:lnSpc>
                <a:spcPts val="2000"/>
              </a:lnSpc>
              <a:buNone/>
            </a:pPr>
            <a:r>
              <a:rPr lang="en-US" sz="1550" dirty="0">
                <a:solidFill>
                  <a:srgbClr val="17282B"/>
                </a:solidFill>
                <a:latin typeface="Arial" pitchFamily="34" charset="0"/>
                <a:ea typeface="Arial" pitchFamily="34" charset="-122"/>
                <a:cs typeface="Arial" pitchFamily="34" charset="-120"/>
              </a:rPr>
              <a:t>Có thể hình dung AI giống như một "học trò" được cho xem hàng triệu tấm ảnh con mèo, cho đến khi nó tự biết: "À, đây là con mèo" — dù là ảnh mới, chưa từng thấy bao giờ.</a:t>
            </a:r>
            <a:endParaRPr lang="en-US" sz="1550" dirty="0"/>
          </a:p>
        </p:txBody>
      </p:sp>
      <p:sp>
        <p:nvSpPr>
          <p:cNvPr id="12" name="Shape 8"/>
          <p:cNvSpPr/>
          <p:nvPr/>
        </p:nvSpPr>
        <p:spPr>
          <a:xfrm>
            <a:off x="731520" y="4389120"/>
            <a:ext cx="10698480" cy="1417320"/>
          </a:xfrm>
          <a:prstGeom prst="roundRect">
            <a:avLst>
              <a:gd name="adj" fmla="val 5161"/>
            </a:avLst>
          </a:prstGeom>
          <a:solidFill>
            <a:srgbClr val="FBEFE3"/>
          </a:solidFill>
          <a:ln w="12700">
            <a:solidFill>
              <a:srgbClr val="F0CFA0"/>
            </a:solidFill>
            <a:prstDash val="solid"/>
          </a:ln>
        </p:spPr>
      </p:sp>
      <p:sp>
        <p:nvSpPr>
          <p:cNvPr id="13" name="Shape 9"/>
          <p:cNvSpPr/>
          <p:nvPr/>
        </p:nvSpPr>
        <p:spPr>
          <a:xfrm>
            <a:off x="960120" y="4599432"/>
            <a:ext cx="457200" cy="457200"/>
          </a:xfrm>
          <a:prstGeom prst="ellipse">
            <a:avLst/>
          </a:prstGeom>
          <a:solidFill>
            <a:srgbClr val="F2A93B"/>
          </a:solidFill>
          <a:ln/>
        </p:spPr>
      </p:sp>
      <p:pic>
        <p:nvPicPr>
          <p:cNvPr id="14" name="Image 2" descr="/home/claude/aichuyendoiso2/assets/icons/triangleexclamation_0B3B45.png">    </p:cNvPr>
          <p:cNvPicPr>
            <a:picLocks noChangeAspect="1"/>
          </p:cNvPicPr>
          <p:nvPr/>
        </p:nvPicPr>
        <p:blipFill>
          <a:blip r:embed="rId4"/>
          <a:stretch>
            <a:fillRect/>
          </a:stretch>
        </p:blipFill>
        <p:spPr>
          <a:xfrm>
            <a:off x="1083564" y="4722876"/>
            <a:ext cx="210312" cy="210312"/>
          </a:xfrm>
          <a:prstGeom prst="rect">
            <a:avLst/>
          </a:prstGeom>
        </p:spPr>
      </p:pic>
      <p:sp>
        <p:nvSpPr>
          <p:cNvPr id="15" name="Text 10"/>
          <p:cNvSpPr txBox="1"/>
          <p:nvPr/>
        </p:nvSpPr>
        <p:spPr>
          <a:xfrm>
            <a:off x="1600200" y="4389120"/>
            <a:ext cx="9646920" cy="1417320"/>
          </a:xfrm>
          <a:prstGeom prst="rect">
            <a:avLst/>
          </a:prstGeom>
          <a:noFill/>
          <a:ln/>
        </p:spPr>
        <p:txBody>
          <a:bodyPr wrap="square" lIns="0" tIns="0" rIns="0" bIns="0" rtlCol="0" anchor="ctr"/>
          <a:lstStyle/>
          <a:p>
            <a:pPr indent="0" marL="0">
              <a:lnSpc>
                <a:spcPts val="1900"/>
              </a:lnSpc>
              <a:buNone/>
            </a:pPr>
            <a:r>
              <a:rPr lang="en-US" sz="1450" i="1" dirty="0">
                <a:solidFill>
                  <a:srgbClr val="7A4A12"/>
                </a:solidFill>
                <a:latin typeface="Arial" pitchFamily="34" charset="0"/>
                <a:ea typeface="Arial" pitchFamily="34" charset="-122"/>
                <a:cs typeface="Arial" pitchFamily="34" charset="-120"/>
              </a:rPr>
              <a:t>Lưu ý quan trọng: AI không "suy nghĩ" như con người. AI trả lời dựa trên những gì nó đã học được từ dữ liệu, nên đôi khi AI trả lời SAI. Chúng ta sẽ nói kỹ hơn ở Phần 5.</a:t>
            </a:r>
            <a:endParaRPr lang="en-US" sz="145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347472"/>
            <a:ext cx="457200" cy="457200"/>
          </a:xfrm>
          <a:prstGeom prst="ellipse">
            <a:avLst/>
          </a:prstGeom>
          <a:solidFill>
            <a:srgbClr val="127C82"/>
          </a:solidFill>
          <a:ln/>
        </p:spPr>
      </p:sp>
      <p:pic>
        <p:nvPicPr>
          <p:cNvPr id="3" name="Image 0" descr="/home/claude/aichuyendoiso2/assets/icons/brain_FFFFFF.png">    </p:cNvPr>
          <p:cNvPicPr>
            <a:picLocks noChangeAspect="1"/>
          </p:cNvPicPr>
          <p:nvPr/>
        </p:nvPicPr>
        <p:blipFill>
          <a:blip r:embed="rId2"/>
          <a:stretch>
            <a:fillRect/>
          </a:stretch>
        </p:blipFill>
        <p:spPr>
          <a:xfrm>
            <a:off x="580644" y="470916"/>
            <a:ext cx="210312" cy="210312"/>
          </a:xfrm>
          <a:prstGeom prst="rect">
            <a:avLst/>
          </a:prstGeom>
        </p:spPr>
      </p:pic>
      <p:sp>
        <p:nvSpPr>
          <p:cNvPr id="4" name="Text 1"/>
          <p:cNvSpPr txBox="1"/>
          <p:nvPr/>
        </p:nvSpPr>
        <p:spPr>
          <a:xfrm>
            <a:off x="1051560" y="301752"/>
            <a:ext cx="10607040" cy="566928"/>
          </a:xfrm>
          <a:prstGeom prst="rect">
            <a:avLst/>
          </a:prstGeom>
          <a:noFill/>
          <a:ln/>
        </p:spPr>
        <p:txBody>
          <a:bodyPr wrap="square" lIns="0" tIns="0" rIns="0" bIns="0" rtlCol="0" anchor="ctr"/>
          <a:lstStyle/>
          <a:p>
            <a:pPr indent="0" marL="0">
              <a:buNone/>
            </a:pPr>
            <a:r>
              <a:rPr lang="en-US" sz="2600" b="1" dirty="0">
                <a:solidFill>
                  <a:srgbClr val="0B5257"/>
                </a:solidFill>
                <a:latin typeface="Arial" pitchFamily="34" charset="0"/>
                <a:ea typeface="Arial" pitchFamily="34" charset="-122"/>
                <a:cs typeface="Arial" pitchFamily="34" charset="-120"/>
              </a:rPr>
              <a:t>Quy Trình Hoạt Động Của AI</a:t>
            </a:r>
            <a:endParaRPr lang="en-US" sz="2600" dirty="0"/>
          </a:p>
        </p:txBody>
      </p:sp>
      <p:sp>
        <p:nvSpPr>
          <p:cNvPr id="5" name="Text 2"/>
          <p:cNvSpPr txBox="1"/>
          <p:nvPr/>
        </p:nvSpPr>
        <p:spPr>
          <a:xfrm>
            <a:off x="457200" y="6492240"/>
            <a:ext cx="7315200" cy="274320"/>
          </a:xfrm>
          <a:prstGeom prst="rect">
            <a:avLst/>
          </a:prstGeom>
          <a:noFill/>
          <a:ln/>
        </p:spPr>
        <p:txBody>
          <a:bodyPr wrap="square" lIns="0" tIns="0" rIns="0" bIns="0" rtlCol="0" anchor="ctr"/>
          <a:lstStyle/>
          <a:p>
            <a:pPr algn="l" indent="0" marL="0">
              <a:buNone/>
            </a:pPr>
            <a:r>
              <a:rPr lang="en-US" sz="1000" dirty="0">
                <a:solidFill>
                  <a:srgbClr val="5C7378"/>
                </a:solidFill>
                <a:latin typeface="Arial" pitchFamily="34" charset="0"/>
                <a:ea typeface="Arial" pitchFamily="34" charset="-122"/>
                <a:cs typeface="Arial" pitchFamily="34" charset="-120"/>
              </a:rPr>
              <a:t>Phần 1 · AI là gì?</a:t>
            </a:r>
            <a:endParaRPr lang="en-US" sz="1000" dirty="0"/>
          </a:p>
        </p:txBody>
      </p:sp>
      <p:sp>
        <p:nvSpPr>
          <p:cNvPr id="6" name="Text 3"/>
          <p:cNvSpPr txBox="1"/>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C7378"/>
                </a:solidFill>
                <a:latin typeface="Arial" pitchFamily="34" charset="0"/>
                <a:ea typeface="Arial" pitchFamily="34" charset="-122"/>
                <a:cs typeface="Arial" pitchFamily="34" charset="-120"/>
              </a:rPr>
              <a:t>6</a:t>
            </a:r>
            <a:endParaRPr lang="en-US" sz="1000" dirty="0"/>
          </a:p>
        </p:txBody>
      </p:sp>
      <p:sp>
        <p:nvSpPr>
          <p:cNvPr id="7" name="Shape 4"/>
          <p:cNvSpPr/>
          <p:nvPr/>
        </p:nvSpPr>
        <p:spPr>
          <a:xfrm>
            <a:off x="731520" y="1737360"/>
            <a:ext cx="2434590" cy="3429000"/>
          </a:xfrm>
          <a:prstGeom prst="roundRect">
            <a:avLst>
              <a:gd name="adj" fmla="val 3756"/>
            </a:avLst>
          </a:prstGeom>
          <a:solidFill>
            <a:srgbClr val="127C82"/>
          </a:solidFill>
          <a:ln/>
        </p:spPr>
      </p:sp>
      <p:sp>
        <p:nvSpPr>
          <p:cNvPr id="8" name="Shape 5"/>
          <p:cNvSpPr/>
          <p:nvPr/>
        </p:nvSpPr>
        <p:spPr>
          <a:xfrm>
            <a:off x="914400" y="1920240"/>
            <a:ext cx="502920" cy="502920"/>
          </a:xfrm>
          <a:prstGeom prst="ellipse">
            <a:avLst/>
          </a:prstGeom>
          <a:solidFill>
            <a:srgbClr val="F2A93B"/>
          </a:solidFill>
          <a:ln/>
        </p:spPr>
      </p:sp>
      <p:pic>
        <p:nvPicPr>
          <p:cNvPr id="9" name="Image 1" descr="/home/claude/aichuyendoiso2/assets/icons/image_0B3B45.png">    </p:cNvPr>
          <p:cNvPicPr>
            <a:picLocks noChangeAspect="1"/>
          </p:cNvPicPr>
          <p:nvPr/>
        </p:nvPicPr>
        <p:blipFill>
          <a:blip r:embed="rId3"/>
          <a:stretch>
            <a:fillRect/>
          </a:stretch>
        </p:blipFill>
        <p:spPr>
          <a:xfrm>
            <a:off x="1050188" y="2056028"/>
            <a:ext cx="231343" cy="231343"/>
          </a:xfrm>
          <a:prstGeom prst="rect">
            <a:avLst/>
          </a:prstGeom>
        </p:spPr>
      </p:pic>
      <p:sp>
        <p:nvSpPr>
          <p:cNvPr id="10" name="Text 6"/>
          <p:cNvSpPr txBox="1"/>
          <p:nvPr/>
        </p:nvSpPr>
        <p:spPr>
          <a:xfrm>
            <a:off x="914400" y="2560320"/>
            <a:ext cx="2068830" cy="685800"/>
          </a:xfrm>
          <a:prstGeom prst="rect">
            <a:avLst/>
          </a:prstGeom>
          <a:noFill/>
          <a:ln/>
        </p:spPr>
        <p:txBody>
          <a:bodyPr wrap="square" lIns="0" tIns="0" rIns="0" bIns="0" rtlCol="0" anchor="ctr"/>
          <a:lstStyle/>
          <a:p>
            <a:pPr indent="0" marL="0">
              <a:lnSpc>
                <a:spcPts val="1700"/>
              </a:lnSpc>
              <a:buNone/>
            </a:pPr>
            <a:r>
              <a:rPr lang="en-US" sz="1500" b="1" dirty="0">
                <a:solidFill>
                  <a:srgbClr val="FFFFFF"/>
                </a:solidFill>
                <a:latin typeface="Arial" pitchFamily="34" charset="0"/>
                <a:ea typeface="Arial" pitchFamily="34" charset="-122"/>
                <a:cs typeface="Arial" pitchFamily="34" charset="-120"/>
              </a:rPr>
              <a:t>Cho AI xem dữ liệu</a:t>
            </a:r>
            <a:endParaRPr lang="en-US" sz="1500" dirty="0"/>
          </a:p>
        </p:txBody>
      </p:sp>
      <p:sp>
        <p:nvSpPr>
          <p:cNvPr id="11" name="Text 7"/>
          <p:cNvSpPr txBox="1"/>
          <p:nvPr/>
        </p:nvSpPr>
        <p:spPr>
          <a:xfrm>
            <a:off x="914400" y="3246120"/>
            <a:ext cx="2068830" cy="1783080"/>
          </a:xfrm>
          <a:prstGeom prst="rect">
            <a:avLst/>
          </a:prstGeom>
          <a:noFill/>
          <a:ln/>
        </p:spPr>
        <p:txBody>
          <a:bodyPr wrap="square" lIns="0" tIns="0" rIns="0" bIns="0" rtlCol="0" anchor="ctr"/>
          <a:lstStyle/>
          <a:p>
            <a:pPr indent="0" marL="0">
              <a:lnSpc>
                <a:spcPts val="1500"/>
              </a:lnSpc>
              <a:buNone/>
            </a:pPr>
            <a:r>
              <a:rPr lang="en-US" sz="1250" dirty="0">
                <a:solidFill>
                  <a:srgbClr val="D7ECEC"/>
                </a:solidFill>
                <a:latin typeface="Arial" pitchFamily="34" charset="0"/>
                <a:ea typeface="Arial" pitchFamily="34" charset="-122"/>
                <a:cs typeface="Arial" pitchFamily="34" charset="-120"/>
              </a:rPr>
              <a:t>Rất nhiều ảnh, chữ, âm thanh... để AI "học".</a:t>
            </a:r>
            <a:endParaRPr lang="en-US" sz="1250" dirty="0"/>
          </a:p>
        </p:txBody>
      </p:sp>
      <p:sp>
        <p:nvSpPr>
          <p:cNvPr id="12" name="Text 8"/>
          <p:cNvSpPr txBox="1"/>
          <p:nvPr/>
        </p:nvSpPr>
        <p:spPr>
          <a:xfrm>
            <a:off x="3166110" y="3177540"/>
            <a:ext cx="320040" cy="548640"/>
          </a:xfrm>
          <a:prstGeom prst="rect">
            <a:avLst/>
          </a:prstGeom>
          <a:noFill/>
          <a:ln/>
        </p:spPr>
        <p:txBody>
          <a:bodyPr wrap="square" lIns="0" tIns="0" rIns="0" bIns="0" rtlCol="0" anchor="ctr"/>
          <a:lstStyle/>
          <a:p>
            <a:pPr algn="ctr" indent="0" marL="0">
              <a:buNone/>
            </a:pPr>
            <a:r>
              <a:rPr lang="en-US" sz="2200" b="1" dirty="0">
                <a:solidFill>
                  <a:srgbClr val="F2A93B"/>
                </a:solidFill>
                <a:latin typeface="Arial" pitchFamily="34" charset="0"/>
                <a:ea typeface="Arial" pitchFamily="34" charset="-122"/>
                <a:cs typeface="Arial" pitchFamily="34" charset="-120"/>
              </a:rPr>
              <a:t>→</a:t>
            </a:r>
            <a:endParaRPr lang="en-US" sz="2200" dirty="0"/>
          </a:p>
        </p:txBody>
      </p:sp>
      <p:sp>
        <p:nvSpPr>
          <p:cNvPr id="13" name="Shape 9"/>
          <p:cNvSpPr/>
          <p:nvPr/>
        </p:nvSpPr>
        <p:spPr>
          <a:xfrm>
            <a:off x="3486150" y="1737360"/>
            <a:ext cx="2434590" cy="3429000"/>
          </a:xfrm>
          <a:prstGeom prst="roundRect">
            <a:avLst>
              <a:gd name="adj" fmla="val 3756"/>
            </a:avLst>
          </a:prstGeom>
          <a:solidFill>
            <a:srgbClr val="0B5257"/>
          </a:solidFill>
          <a:ln/>
        </p:spPr>
      </p:sp>
      <p:sp>
        <p:nvSpPr>
          <p:cNvPr id="14" name="Shape 10"/>
          <p:cNvSpPr/>
          <p:nvPr/>
        </p:nvSpPr>
        <p:spPr>
          <a:xfrm>
            <a:off x="3669030" y="1920240"/>
            <a:ext cx="502920" cy="502920"/>
          </a:xfrm>
          <a:prstGeom prst="ellipse">
            <a:avLst/>
          </a:prstGeom>
          <a:solidFill>
            <a:srgbClr val="F2A93B"/>
          </a:solidFill>
          <a:ln/>
        </p:spPr>
      </p:sp>
      <p:pic>
        <p:nvPicPr>
          <p:cNvPr id="15" name="Image 2" descr="/home/claude/aichuyendoiso2/assets/icons/chartline_0B3B45.png">    </p:cNvPr>
          <p:cNvPicPr>
            <a:picLocks noChangeAspect="1"/>
          </p:cNvPicPr>
          <p:nvPr/>
        </p:nvPicPr>
        <p:blipFill>
          <a:blip r:embed="rId4"/>
          <a:stretch>
            <a:fillRect/>
          </a:stretch>
        </p:blipFill>
        <p:spPr>
          <a:xfrm>
            <a:off x="3804818" y="2056028"/>
            <a:ext cx="231343" cy="231343"/>
          </a:xfrm>
          <a:prstGeom prst="rect">
            <a:avLst/>
          </a:prstGeom>
        </p:spPr>
      </p:pic>
      <p:sp>
        <p:nvSpPr>
          <p:cNvPr id="16" name="Text 11"/>
          <p:cNvSpPr txBox="1"/>
          <p:nvPr/>
        </p:nvSpPr>
        <p:spPr>
          <a:xfrm>
            <a:off x="3669030" y="2560320"/>
            <a:ext cx="2068830" cy="685800"/>
          </a:xfrm>
          <a:prstGeom prst="rect">
            <a:avLst/>
          </a:prstGeom>
          <a:noFill/>
          <a:ln/>
        </p:spPr>
        <p:txBody>
          <a:bodyPr wrap="square" lIns="0" tIns="0" rIns="0" bIns="0" rtlCol="0" anchor="ctr"/>
          <a:lstStyle/>
          <a:p>
            <a:pPr indent="0" marL="0">
              <a:lnSpc>
                <a:spcPts val="1700"/>
              </a:lnSpc>
              <a:buNone/>
            </a:pPr>
            <a:r>
              <a:rPr lang="en-US" sz="1500" b="1" dirty="0">
                <a:solidFill>
                  <a:srgbClr val="FFFFFF"/>
                </a:solidFill>
                <a:latin typeface="Arial" pitchFamily="34" charset="0"/>
                <a:ea typeface="Arial" pitchFamily="34" charset="-122"/>
                <a:cs typeface="Arial" pitchFamily="34" charset="-120"/>
              </a:rPr>
              <a:t>AI tìm ra quy luật</a:t>
            </a:r>
            <a:endParaRPr lang="en-US" sz="1500" dirty="0"/>
          </a:p>
        </p:txBody>
      </p:sp>
      <p:sp>
        <p:nvSpPr>
          <p:cNvPr id="17" name="Text 12"/>
          <p:cNvSpPr txBox="1"/>
          <p:nvPr/>
        </p:nvSpPr>
        <p:spPr>
          <a:xfrm>
            <a:off x="3669030" y="3246120"/>
            <a:ext cx="2068830" cy="1783080"/>
          </a:xfrm>
          <a:prstGeom prst="rect">
            <a:avLst/>
          </a:prstGeom>
          <a:noFill/>
          <a:ln/>
        </p:spPr>
        <p:txBody>
          <a:bodyPr wrap="square" lIns="0" tIns="0" rIns="0" bIns="0" rtlCol="0" anchor="ctr"/>
          <a:lstStyle/>
          <a:p>
            <a:pPr indent="0" marL="0">
              <a:lnSpc>
                <a:spcPts val="1500"/>
              </a:lnSpc>
              <a:buNone/>
            </a:pPr>
            <a:r>
              <a:rPr lang="en-US" sz="1250" dirty="0">
                <a:solidFill>
                  <a:srgbClr val="D7ECEC"/>
                </a:solidFill>
                <a:latin typeface="Arial" pitchFamily="34" charset="0"/>
                <a:ea typeface="Arial" pitchFamily="34" charset="-122"/>
                <a:cs typeface="Arial" pitchFamily="34" charset="-120"/>
              </a:rPr>
              <a:t>AI tự nhận ra đặc điểm chung trong dữ liệu đã xem.</a:t>
            </a:r>
            <a:endParaRPr lang="en-US" sz="1250" dirty="0"/>
          </a:p>
        </p:txBody>
      </p:sp>
      <p:sp>
        <p:nvSpPr>
          <p:cNvPr id="18" name="Text 13"/>
          <p:cNvSpPr txBox="1"/>
          <p:nvPr/>
        </p:nvSpPr>
        <p:spPr>
          <a:xfrm>
            <a:off x="5920740" y="3177540"/>
            <a:ext cx="320040" cy="548640"/>
          </a:xfrm>
          <a:prstGeom prst="rect">
            <a:avLst/>
          </a:prstGeom>
          <a:noFill/>
          <a:ln/>
        </p:spPr>
        <p:txBody>
          <a:bodyPr wrap="square" lIns="0" tIns="0" rIns="0" bIns="0" rtlCol="0" anchor="ctr"/>
          <a:lstStyle/>
          <a:p>
            <a:pPr algn="ctr" indent="0" marL="0">
              <a:buNone/>
            </a:pPr>
            <a:r>
              <a:rPr lang="en-US" sz="2200" b="1" dirty="0">
                <a:solidFill>
                  <a:srgbClr val="F2A93B"/>
                </a:solidFill>
                <a:latin typeface="Arial" pitchFamily="34" charset="0"/>
                <a:ea typeface="Arial" pitchFamily="34" charset="-122"/>
                <a:cs typeface="Arial" pitchFamily="34" charset="-120"/>
              </a:rPr>
              <a:t>→</a:t>
            </a:r>
            <a:endParaRPr lang="en-US" sz="2200" dirty="0"/>
          </a:p>
        </p:txBody>
      </p:sp>
      <p:sp>
        <p:nvSpPr>
          <p:cNvPr id="19" name="Shape 14"/>
          <p:cNvSpPr/>
          <p:nvPr/>
        </p:nvSpPr>
        <p:spPr>
          <a:xfrm>
            <a:off x="6240780" y="1737360"/>
            <a:ext cx="2434590" cy="3429000"/>
          </a:xfrm>
          <a:prstGeom prst="roundRect">
            <a:avLst>
              <a:gd name="adj" fmla="val 3756"/>
            </a:avLst>
          </a:prstGeom>
          <a:solidFill>
            <a:srgbClr val="127C82"/>
          </a:solidFill>
          <a:ln/>
        </p:spPr>
      </p:sp>
      <p:sp>
        <p:nvSpPr>
          <p:cNvPr id="20" name="Shape 15"/>
          <p:cNvSpPr/>
          <p:nvPr/>
        </p:nvSpPr>
        <p:spPr>
          <a:xfrm>
            <a:off x="6423660" y="1920240"/>
            <a:ext cx="502920" cy="502920"/>
          </a:xfrm>
          <a:prstGeom prst="ellipse">
            <a:avLst/>
          </a:prstGeom>
          <a:solidFill>
            <a:srgbClr val="F2A93B"/>
          </a:solidFill>
          <a:ln/>
        </p:spPr>
      </p:sp>
      <p:pic>
        <p:nvPicPr>
          <p:cNvPr id="21" name="Image 3" descr="/home/claude/aichuyendoiso2/assets/icons/message_0B3B45.png">    </p:cNvPr>
          <p:cNvPicPr>
            <a:picLocks noChangeAspect="1"/>
          </p:cNvPicPr>
          <p:nvPr/>
        </p:nvPicPr>
        <p:blipFill>
          <a:blip r:embed="rId5"/>
          <a:stretch>
            <a:fillRect/>
          </a:stretch>
        </p:blipFill>
        <p:spPr>
          <a:xfrm>
            <a:off x="6559448" y="2056028"/>
            <a:ext cx="231343" cy="231343"/>
          </a:xfrm>
          <a:prstGeom prst="rect">
            <a:avLst/>
          </a:prstGeom>
        </p:spPr>
      </p:pic>
      <p:sp>
        <p:nvSpPr>
          <p:cNvPr id="22" name="Text 16"/>
          <p:cNvSpPr txBox="1"/>
          <p:nvPr/>
        </p:nvSpPr>
        <p:spPr>
          <a:xfrm>
            <a:off x="6423660" y="2560320"/>
            <a:ext cx="2068830" cy="685800"/>
          </a:xfrm>
          <a:prstGeom prst="rect">
            <a:avLst/>
          </a:prstGeom>
          <a:noFill/>
          <a:ln/>
        </p:spPr>
        <p:txBody>
          <a:bodyPr wrap="square" lIns="0" tIns="0" rIns="0" bIns="0" rtlCol="0" anchor="ctr"/>
          <a:lstStyle/>
          <a:p>
            <a:pPr indent="0" marL="0">
              <a:lnSpc>
                <a:spcPts val="1700"/>
              </a:lnSpc>
              <a:buNone/>
            </a:pPr>
            <a:r>
              <a:rPr lang="en-US" sz="1500" b="1" dirty="0">
                <a:solidFill>
                  <a:srgbClr val="FFFFFF"/>
                </a:solidFill>
                <a:latin typeface="Arial" pitchFamily="34" charset="0"/>
                <a:ea typeface="Arial" pitchFamily="34" charset="-122"/>
                <a:cs typeface="Arial" pitchFamily="34" charset="-120"/>
              </a:rPr>
              <a:t>Nhận câu hỏi mới</a:t>
            </a:r>
            <a:endParaRPr lang="en-US" sz="1500" dirty="0"/>
          </a:p>
        </p:txBody>
      </p:sp>
      <p:sp>
        <p:nvSpPr>
          <p:cNvPr id="23" name="Text 17"/>
          <p:cNvSpPr txBox="1"/>
          <p:nvPr/>
        </p:nvSpPr>
        <p:spPr>
          <a:xfrm>
            <a:off x="6423660" y="3246120"/>
            <a:ext cx="2068830" cy="1783080"/>
          </a:xfrm>
          <a:prstGeom prst="rect">
            <a:avLst/>
          </a:prstGeom>
          <a:noFill/>
          <a:ln/>
        </p:spPr>
        <p:txBody>
          <a:bodyPr wrap="square" lIns="0" tIns="0" rIns="0" bIns="0" rtlCol="0" anchor="ctr"/>
          <a:lstStyle/>
          <a:p>
            <a:pPr indent="0" marL="0">
              <a:lnSpc>
                <a:spcPts val="1500"/>
              </a:lnSpc>
              <a:buNone/>
            </a:pPr>
            <a:r>
              <a:rPr lang="en-US" sz="1250" dirty="0">
                <a:solidFill>
                  <a:srgbClr val="D7ECEC"/>
                </a:solidFill>
                <a:latin typeface="Arial" pitchFamily="34" charset="0"/>
                <a:ea typeface="Arial" pitchFamily="34" charset="-122"/>
                <a:cs typeface="Arial" pitchFamily="34" charset="-120"/>
              </a:rPr>
              <a:t>Em đưa ra câu hỏi hoặc yêu cầu cho AI.</a:t>
            </a:r>
            <a:endParaRPr lang="en-US" sz="1250" dirty="0"/>
          </a:p>
        </p:txBody>
      </p:sp>
      <p:sp>
        <p:nvSpPr>
          <p:cNvPr id="24" name="Text 18"/>
          <p:cNvSpPr txBox="1"/>
          <p:nvPr/>
        </p:nvSpPr>
        <p:spPr>
          <a:xfrm>
            <a:off x="8675370" y="3177540"/>
            <a:ext cx="320040" cy="548640"/>
          </a:xfrm>
          <a:prstGeom prst="rect">
            <a:avLst/>
          </a:prstGeom>
          <a:noFill/>
          <a:ln/>
        </p:spPr>
        <p:txBody>
          <a:bodyPr wrap="square" lIns="0" tIns="0" rIns="0" bIns="0" rtlCol="0" anchor="ctr"/>
          <a:lstStyle/>
          <a:p>
            <a:pPr algn="ctr" indent="0" marL="0">
              <a:buNone/>
            </a:pPr>
            <a:r>
              <a:rPr lang="en-US" sz="2200" b="1" dirty="0">
                <a:solidFill>
                  <a:srgbClr val="F2A93B"/>
                </a:solidFill>
                <a:latin typeface="Arial" pitchFamily="34" charset="0"/>
                <a:ea typeface="Arial" pitchFamily="34" charset="-122"/>
                <a:cs typeface="Arial" pitchFamily="34" charset="-120"/>
              </a:rPr>
              <a:t>→</a:t>
            </a:r>
            <a:endParaRPr lang="en-US" sz="2200" dirty="0"/>
          </a:p>
        </p:txBody>
      </p:sp>
      <p:sp>
        <p:nvSpPr>
          <p:cNvPr id="25" name="Shape 19"/>
          <p:cNvSpPr/>
          <p:nvPr/>
        </p:nvSpPr>
        <p:spPr>
          <a:xfrm>
            <a:off x="8995410" y="1737360"/>
            <a:ext cx="2434590" cy="3429000"/>
          </a:xfrm>
          <a:prstGeom prst="roundRect">
            <a:avLst>
              <a:gd name="adj" fmla="val 3756"/>
            </a:avLst>
          </a:prstGeom>
          <a:solidFill>
            <a:srgbClr val="0B5257"/>
          </a:solidFill>
          <a:ln/>
        </p:spPr>
      </p:sp>
      <p:sp>
        <p:nvSpPr>
          <p:cNvPr id="26" name="Shape 20"/>
          <p:cNvSpPr/>
          <p:nvPr/>
        </p:nvSpPr>
        <p:spPr>
          <a:xfrm>
            <a:off x="9178290" y="1920240"/>
            <a:ext cx="502920" cy="502920"/>
          </a:xfrm>
          <a:prstGeom prst="ellipse">
            <a:avLst/>
          </a:prstGeom>
          <a:solidFill>
            <a:srgbClr val="F2A93B"/>
          </a:solidFill>
          <a:ln/>
        </p:spPr>
      </p:sp>
      <p:pic>
        <p:nvPicPr>
          <p:cNvPr id="27" name="Image 4" descr="/home/claude/aichuyendoiso2/assets/icons/comments_0B3B45.png">    </p:cNvPr>
          <p:cNvPicPr>
            <a:picLocks noChangeAspect="1"/>
          </p:cNvPicPr>
          <p:nvPr/>
        </p:nvPicPr>
        <p:blipFill>
          <a:blip r:embed="rId6"/>
          <a:stretch>
            <a:fillRect/>
          </a:stretch>
        </p:blipFill>
        <p:spPr>
          <a:xfrm>
            <a:off x="9314078" y="2056028"/>
            <a:ext cx="231343" cy="231343"/>
          </a:xfrm>
          <a:prstGeom prst="rect">
            <a:avLst/>
          </a:prstGeom>
        </p:spPr>
      </p:pic>
      <p:sp>
        <p:nvSpPr>
          <p:cNvPr id="28" name="Text 21"/>
          <p:cNvSpPr txBox="1"/>
          <p:nvPr/>
        </p:nvSpPr>
        <p:spPr>
          <a:xfrm>
            <a:off x="9178290" y="2560320"/>
            <a:ext cx="2068830" cy="685800"/>
          </a:xfrm>
          <a:prstGeom prst="rect">
            <a:avLst/>
          </a:prstGeom>
          <a:noFill/>
          <a:ln/>
        </p:spPr>
        <p:txBody>
          <a:bodyPr wrap="square" lIns="0" tIns="0" rIns="0" bIns="0" rtlCol="0" anchor="ctr"/>
          <a:lstStyle/>
          <a:p>
            <a:pPr indent="0" marL="0">
              <a:lnSpc>
                <a:spcPts val="1700"/>
              </a:lnSpc>
              <a:buNone/>
            </a:pPr>
            <a:r>
              <a:rPr lang="en-US" sz="1500" b="1" dirty="0">
                <a:solidFill>
                  <a:srgbClr val="FFFFFF"/>
                </a:solidFill>
                <a:latin typeface="Arial" pitchFamily="34" charset="0"/>
                <a:ea typeface="Arial" pitchFamily="34" charset="-122"/>
                <a:cs typeface="Arial" pitchFamily="34" charset="-120"/>
              </a:rPr>
              <a:t>AI trả lời</a:t>
            </a:r>
            <a:endParaRPr lang="en-US" sz="1500" dirty="0"/>
          </a:p>
        </p:txBody>
      </p:sp>
      <p:sp>
        <p:nvSpPr>
          <p:cNvPr id="29" name="Text 22"/>
          <p:cNvSpPr txBox="1"/>
          <p:nvPr/>
        </p:nvSpPr>
        <p:spPr>
          <a:xfrm>
            <a:off x="9178290" y="3246120"/>
            <a:ext cx="2068830" cy="1783080"/>
          </a:xfrm>
          <a:prstGeom prst="rect">
            <a:avLst/>
          </a:prstGeom>
          <a:noFill/>
          <a:ln/>
        </p:spPr>
        <p:txBody>
          <a:bodyPr wrap="square" lIns="0" tIns="0" rIns="0" bIns="0" rtlCol="0" anchor="ctr"/>
          <a:lstStyle/>
          <a:p>
            <a:pPr indent="0" marL="0">
              <a:lnSpc>
                <a:spcPts val="1500"/>
              </a:lnSpc>
              <a:buNone/>
            </a:pPr>
            <a:r>
              <a:rPr lang="en-US" sz="1250" dirty="0">
                <a:solidFill>
                  <a:srgbClr val="D7ECEC"/>
                </a:solidFill>
                <a:latin typeface="Arial" pitchFamily="34" charset="0"/>
                <a:ea typeface="Arial" pitchFamily="34" charset="-122"/>
                <a:cs typeface="Arial" pitchFamily="34" charset="-120"/>
              </a:rPr>
              <a:t>Dựa vào quy luật đã học để đưa ra kết quả phù hợp.</a:t>
            </a:r>
            <a:endParaRPr lang="en-US" sz="125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347472"/>
            <a:ext cx="457200" cy="457200"/>
          </a:xfrm>
          <a:prstGeom prst="ellipse">
            <a:avLst/>
          </a:prstGeom>
          <a:solidFill>
            <a:srgbClr val="127C82"/>
          </a:solidFill>
          <a:ln/>
        </p:spPr>
      </p:sp>
      <p:pic>
        <p:nvPicPr>
          <p:cNvPr id="3" name="Image 0" descr="/home/claude/aichuyendoiso2/assets/icons/brain_FFFFFF.png">    </p:cNvPr>
          <p:cNvPicPr>
            <a:picLocks noChangeAspect="1"/>
          </p:cNvPicPr>
          <p:nvPr/>
        </p:nvPicPr>
        <p:blipFill>
          <a:blip r:embed="rId2"/>
          <a:stretch>
            <a:fillRect/>
          </a:stretch>
        </p:blipFill>
        <p:spPr>
          <a:xfrm>
            <a:off x="580644" y="470916"/>
            <a:ext cx="210312" cy="210312"/>
          </a:xfrm>
          <a:prstGeom prst="rect">
            <a:avLst/>
          </a:prstGeom>
        </p:spPr>
      </p:pic>
      <p:sp>
        <p:nvSpPr>
          <p:cNvPr id="4" name="Text 1"/>
          <p:cNvSpPr txBox="1"/>
          <p:nvPr/>
        </p:nvSpPr>
        <p:spPr>
          <a:xfrm>
            <a:off x="1051560" y="301752"/>
            <a:ext cx="10607040" cy="566928"/>
          </a:xfrm>
          <a:prstGeom prst="rect">
            <a:avLst/>
          </a:prstGeom>
          <a:noFill/>
          <a:ln/>
        </p:spPr>
        <p:txBody>
          <a:bodyPr wrap="square" lIns="0" tIns="0" rIns="0" bIns="0" rtlCol="0" anchor="ctr"/>
          <a:lstStyle/>
          <a:p>
            <a:pPr indent="0" marL="0">
              <a:buNone/>
            </a:pPr>
            <a:r>
              <a:rPr lang="en-US" sz="2600" b="1" dirty="0">
                <a:solidFill>
                  <a:srgbClr val="0B5257"/>
                </a:solidFill>
                <a:latin typeface="Arial" pitchFamily="34" charset="0"/>
                <a:ea typeface="Arial" pitchFamily="34" charset="-122"/>
                <a:cs typeface="Arial" pitchFamily="34" charset="-120"/>
              </a:rPr>
              <a:t>Phân Loại AI Phổ Biến</a:t>
            </a:r>
            <a:endParaRPr lang="en-US" sz="2600" dirty="0"/>
          </a:p>
        </p:txBody>
      </p:sp>
      <p:sp>
        <p:nvSpPr>
          <p:cNvPr id="5" name="Text 2"/>
          <p:cNvSpPr txBox="1"/>
          <p:nvPr/>
        </p:nvSpPr>
        <p:spPr>
          <a:xfrm>
            <a:off x="457200" y="6492240"/>
            <a:ext cx="7315200" cy="274320"/>
          </a:xfrm>
          <a:prstGeom prst="rect">
            <a:avLst/>
          </a:prstGeom>
          <a:noFill/>
          <a:ln/>
        </p:spPr>
        <p:txBody>
          <a:bodyPr wrap="square" lIns="0" tIns="0" rIns="0" bIns="0" rtlCol="0" anchor="ctr"/>
          <a:lstStyle/>
          <a:p>
            <a:pPr algn="l" indent="0" marL="0">
              <a:buNone/>
            </a:pPr>
            <a:r>
              <a:rPr lang="en-US" sz="1000" dirty="0">
                <a:solidFill>
                  <a:srgbClr val="5C7378"/>
                </a:solidFill>
                <a:latin typeface="Arial" pitchFamily="34" charset="0"/>
                <a:ea typeface="Arial" pitchFamily="34" charset="-122"/>
                <a:cs typeface="Arial" pitchFamily="34" charset="-120"/>
              </a:rPr>
              <a:t>Phần 1 · AI là gì?</a:t>
            </a:r>
            <a:endParaRPr lang="en-US" sz="1000" dirty="0"/>
          </a:p>
        </p:txBody>
      </p:sp>
      <p:sp>
        <p:nvSpPr>
          <p:cNvPr id="6" name="Text 3"/>
          <p:cNvSpPr txBox="1"/>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C7378"/>
                </a:solidFill>
                <a:latin typeface="Arial" pitchFamily="34" charset="0"/>
                <a:ea typeface="Arial" pitchFamily="34" charset="-122"/>
                <a:cs typeface="Arial" pitchFamily="34" charset="-120"/>
              </a:rPr>
              <a:t>7</a:t>
            </a:r>
            <a:endParaRPr lang="en-US" sz="1000" dirty="0"/>
          </a:p>
        </p:txBody>
      </p:sp>
      <p:sp>
        <p:nvSpPr>
          <p:cNvPr id="7" name="Shape 4"/>
          <p:cNvSpPr/>
          <p:nvPr/>
        </p:nvSpPr>
        <p:spPr>
          <a:xfrm>
            <a:off x="731520" y="1234440"/>
            <a:ext cx="5189220" cy="2354580"/>
          </a:xfrm>
          <a:prstGeom prst="roundRect">
            <a:avLst>
              <a:gd name="adj" fmla="val 3107"/>
            </a:avLst>
          </a:prstGeom>
          <a:solidFill>
            <a:srgbClr val="EEF5F5"/>
          </a:solidFill>
          <a:ln w="12700">
            <a:solidFill>
              <a:srgbClr val="D6E6E6"/>
            </a:solidFill>
            <a:prstDash val="solid"/>
          </a:ln>
        </p:spPr>
      </p:sp>
      <p:sp>
        <p:nvSpPr>
          <p:cNvPr id="8" name="Shape 5"/>
          <p:cNvSpPr/>
          <p:nvPr/>
        </p:nvSpPr>
        <p:spPr>
          <a:xfrm>
            <a:off x="987552" y="1472184"/>
            <a:ext cx="457200" cy="457200"/>
          </a:xfrm>
          <a:prstGeom prst="ellipse">
            <a:avLst/>
          </a:prstGeom>
          <a:solidFill>
            <a:srgbClr val="F2A93B"/>
          </a:solidFill>
          <a:ln/>
        </p:spPr>
      </p:sp>
      <p:pic>
        <p:nvPicPr>
          <p:cNvPr id="9" name="Image 1" descr="/home/claude/aichuyendoiso2/assets/icons/fingerprint_0B3B45.png">    </p:cNvPr>
          <p:cNvPicPr>
            <a:picLocks noChangeAspect="1"/>
          </p:cNvPicPr>
          <p:nvPr/>
        </p:nvPicPr>
        <p:blipFill>
          <a:blip r:embed="rId3"/>
          <a:stretch>
            <a:fillRect/>
          </a:stretch>
        </p:blipFill>
        <p:spPr>
          <a:xfrm>
            <a:off x="1110996" y="1595628"/>
            <a:ext cx="210312" cy="210312"/>
          </a:xfrm>
          <a:prstGeom prst="rect">
            <a:avLst/>
          </a:prstGeom>
        </p:spPr>
      </p:pic>
      <p:sp>
        <p:nvSpPr>
          <p:cNvPr id="10" name="Text 6"/>
          <p:cNvSpPr txBox="1"/>
          <p:nvPr/>
        </p:nvSpPr>
        <p:spPr>
          <a:xfrm>
            <a:off x="1600200" y="1417320"/>
            <a:ext cx="4137660" cy="548640"/>
          </a:xfrm>
          <a:prstGeom prst="rect">
            <a:avLst/>
          </a:prstGeom>
          <a:noFill/>
          <a:ln/>
        </p:spPr>
        <p:txBody>
          <a:bodyPr wrap="square" lIns="0" tIns="0" rIns="0" bIns="0" rtlCol="0" anchor="ctr"/>
          <a:lstStyle/>
          <a:p>
            <a:pPr indent="0" marL="0">
              <a:lnSpc>
                <a:spcPts val="1700"/>
              </a:lnSpc>
              <a:buNone/>
            </a:pPr>
            <a:r>
              <a:rPr lang="en-US" sz="1550" b="1" dirty="0">
                <a:solidFill>
                  <a:srgbClr val="17282B"/>
                </a:solidFill>
                <a:latin typeface="Arial" pitchFamily="34" charset="0"/>
                <a:ea typeface="Arial" pitchFamily="34" charset="-122"/>
                <a:cs typeface="Arial" pitchFamily="34" charset="-120"/>
              </a:rPr>
              <a:t>AI nhận diện</a:t>
            </a:r>
            <a:endParaRPr lang="en-US" sz="1550" dirty="0"/>
          </a:p>
        </p:txBody>
      </p:sp>
      <p:sp>
        <p:nvSpPr>
          <p:cNvPr id="11" name="Text 7"/>
          <p:cNvSpPr txBox="1"/>
          <p:nvPr/>
        </p:nvSpPr>
        <p:spPr>
          <a:xfrm>
            <a:off x="987552" y="2103120"/>
            <a:ext cx="4677156" cy="1303020"/>
          </a:xfrm>
          <a:prstGeom prst="rect">
            <a:avLst/>
          </a:prstGeom>
          <a:noFill/>
          <a:ln/>
        </p:spPr>
        <p:txBody>
          <a:bodyPr wrap="square" lIns="0" tIns="0" rIns="0" bIns="0" rtlCol="0" anchor="t"/>
          <a:lstStyle/>
          <a:p>
            <a:pPr indent="0" marL="0">
              <a:lnSpc>
                <a:spcPts val="1600"/>
              </a:lnSpc>
              <a:buNone/>
            </a:pPr>
            <a:r>
              <a:rPr lang="en-US" sz="1300" dirty="0">
                <a:solidFill>
                  <a:srgbClr val="5C7378"/>
                </a:solidFill>
                <a:latin typeface="Arial" pitchFamily="34" charset="0"/>
                <a:ea typeface="Arial" pitchFamily="34" charset="-122"/>
                <a:cs typeface="Arial" pitchFamily="34" charset="-120"/>
              </a:rPr>
              <a:t>Nhận ra khuôn mặt, biển số xe, giọng nói...</a:t>
            </a:r>
            <a:endParaRPr lang="en-US" sz="1300" dirty="0"/>
          </a:p>
        </p:txBody>
      </p:sp>
      <p:sp>
        <p:nvSpPr>
          <p:cNvPr id="12" name="Shape 8"/>
          <p:cNvSpPr/>
          <p:nvPr/>
        </p:nvSpPr>
        <p:spPr>
          <a:xfrm>
            <a:off x="6240780" y="1234440"/>
            <a:ext cx="5189220" cy="2354580"/>
          </a:xfrm>
          <a:prstGeom prst="roundRect">
            <a:avLst>
              <a:gd name="adj" fmla="val 3107"/>
            </a:avLst>
          </a:prstGeom>
          <a:solidFill>
            <a:srgbClr val="EEF5F5"/>
          </a:solidFill>
          <a:ln w="12700">
            <a:solidFill>
              <a:srgbClr val="D6E6E6"/>
            </a:solidFill>
            <a:prstDash val="solid"/>
          </a:ln>
        </p:spPr>
      </p:sp>
      <p:sp>
        <p:nvSpPr>
          <p:cNvPr id="13" name="Shape 9"/>
          <p:cNvSpPr/>
          <p:nvPr/>
        </p:nvSpPr>
        <p:spPr>
          <a:xfrm>
            <a:off x="6496812" y="1472184"/>
            <a:ext cx="457200" cy="457200"/>
          </a:xfrm>
          <a:prstGeom prst="ellipse">
            <a:avLst/>
          </a:prstGeom>
          <a:solidFill>
            <a:srgbClr val="F2A93B"/>
          </a:solidFill>
          <a:ln/>
        </p:spPr>
      </p:sp>
      <p:pic>
        <p:nvPicPr>
          <p:cNvPr id="14" name="Image 2" descr="/home/claude/aichuyendoiso2/assets/icons/language_0B3B45.png">    </p:cNvPr>
          <p:cNvPicPr>
            <a:picLocks noChangeAspect="1"/>
          </p:cNvPicPr>
          <p:nvPr/>
        </p:nvPicPr>
        <p:blipFill>
          <a:blip r:embed="rId4"/>
          <a:stretch>
            <a:fillRect/>
          </a:stretch>
        </p:blipFill>
        <p:spPr>
          <a:xfrm>
            <a:off x="6620256" y="1595628"/>
            <a:ext cx="210312" cy="210312"/>
          </a:xfrm>
          <a:prstGeom prst="rect">
            <a:avLst/>
          </a:prstGeom>
        </p:spPr>
      </p:pic>
      <p:sp>
        <p:nvSpPr>
          <p:cNvPr id="15" name="Text 10"/>
          <p:cNvSpPr txBox="1"/>
          <p:nvPr/>
        </p:nvSpPr>
        <p:spPr>
          <a:xfrm>
            <a:off x="7109460" y="1417320"/>
            <a:ext cx="4137660" cy="548640"/>
          </a:xfrm>
          <a:prstGeom prst="rect">
            <a:avLst/>
          </a:prstGeom>
          <a:noFill/>
          <a:ln/>
        </p:spPr>
        <p:txBody>
          <a:bodyPr wrap="square" lIns="0" tIns="0" rIns="0" bIns="0" rtlCol="0" anchor="ctr"/>
          <a:lstStyle/>
          <a:p>
            <a:pPr indent="0" marL="0">
              <a:lnSpc>
                <a:spcPts val="1700"/>
              </a:lnSpc>
              <a:buNone/>
            </a:pPr>
            <a:r>
              <a:rPr lang="en-US" sz="1550" b="1" dirty="0">
                <a:solidFill>
                  <a:srgbClr val="17282B"/>
                </a:solidFill>
                <a:latin typeface="Arial" pitchFamily="34" charset="0"/>
                <a:ea typeface="Arial" pitchFamily="34" charset="-122"/>
                <a:cs typeface="Arial" pitchFamily="34" charset="-120"/>
              </a:rPr>
              <a:t>AI dịch thuật</a:t>
            </a:r>
            <a:endParaRPr lang="en-US" sz="1550" dirty="0"/>
          </a:p>
        </p:txBody>
      </p:sp>
      <p:sp>
        <p:nvSpPr>
          <p:cNvPr id="16" name="Text 11"/>
          <p:cNvSpPr txBox="1"/>
          <p:nvPr/>
        </p:nvSpPr>
        <p:spPr>
          <a:xfrm>
            <a:off x="6496812" y="2103120"/>
            <a:ext cx="4677156" cy="1303020"/>
          </a:xfrm>
          <a:prstGeom prst="rect">
            <a:avLst/>
          </a:prstGeom>
          <a:noFill/>
          <a:ln/>
        </p:spPr>
        <p:txBody>
          <a:bodyPr wrap="square" lIns="0" tIns="0" rIns="0" bIns="0" rtlCol="0" anchor="t"/>
          <a:lstStyle/>
          <a:p>
            <a:pPr indent="0" marL="0">
              <a:lnSpc>
                <a:spcPts val="1600"/>
              </a:lnSpc>
              <a:buNone/>
            </a:pPr>
            <a:r>
              <a:rPr lang="en-US" sz="1300" dirty="0">
                <a:solidFill>
                  <a:srgbClr val="5C7378"/>
                </a:solidFill>
                <a:latin typeface="Arial" pitchFamily="34" charset="0"/>
                <a:ea typeface="Arial" pitchFamily="34" charset="-122"/>
                <a:cs typeface="Arial" pitchFamily="34" charset="-120"/>
              </a:rPr>
              <a:t>Dịch nhanh giữa các ngôn ngữ (Google Dịch).</a:t>
            </a:r>
            <a:endParaRPr lang="en-US" sz="1300" dirty="0"/>
          </a:p>
        </p:txBody>
      </p:sp>
      <p:sp>
        <p:nvSpPr>
          <p:cNvPr id="17" name="Shape 12"/>
          <p:cNvSpPr/>
          <p:nvPr/>
        </p:nvSpPr>
        <p:spPr>
          <a:xfrm>
            <a:off x="731520" y="3909060"/>
            <a:ext cx="5189220" cy="2354580"/>
          </a:xfrm>
          <a:prstGeom prst="roundRect">
            <a:avLst>
              <a:gd name="adj" fmla="val 3107"/>
            </a:avLst>
          </a:prstGeom>
          <a:solidFill>
            <a:srgbClr val="EEF5F5"/>
          </a:solidFill>
          <a:ln w="12700">
            <a:solidFill>
              <a:srgbClr val="D6E6E6"/>
            </a:solidFill>
            <a:prstDash val="solid"/>
          </a:ln>
        </p:spPr>
      </p:sp>
      <p:sp>
        <p:nvSpPr>
          <p:cNvPr id="18" name="Shape 13"/>
          <p:cNvSpPr/>
          <p:nvPr/>
        </p:nvSpPr>
        <p:spPr>
          <a:xfrm>
            <a:off x="987552" y="4146804"/>
            <a:ext cx="457200" cy="457200"/>
          </a:xfrm>
          <a:prstGeom prst="ellipse">
            <a:avLst/>
          </a:prstGeom>
          <a:solidFill>
            <a:srgbClr val="F2A93B"/>
          </a:solidFill>
          <a:ln/>
        </p:spPr>
      </p:sp>
      <p:pic>
        <p:nvPicPr>
          <p:cNvPr id="19" name="Image 3" descr="/home/claude/aichuyendoiso2/assets/icons/comments_0B3B45.png">    </p:cNvPr>
          <p:cNvPicPr>
            <a:picLocks noChangeAspect="1"/>
          </p:cNvPicPr>
          <p:nvPr/>
        </p:nvPicPr>
        <p:blipFill>
          <a:blip r:embed="rId5"/>
          <a:stretch>
            <a:fillRect/>
          </a:stretch>
        </p:blipFill>
        <p:spPr>
          <a:xfrm>
            <a:off x="1110996" y="4270248"/>
            <a:ext cx="210312" cy="210312"/>
          </a:xfrm>
          <a:prstGeom prst="rect">
            <a:avLst/>
          </a:prstGeom>
        </p:spPr>
      </p:pic>
      <p:sp>
        <p:nvSpPr>
          <p:cNvPr id="20" name="Text 14"/>
          <p:cNvSpPr txBox="1"/>
          <p:nvPr/>
        </p:nvSpPr>
        <p:spPr>
          <a:xfrm>
            <a:off x="1600200" y="4091940"/>
            <a:ext cx="4137660" cy="548640"/>
          </a:xfrm>
          <a:prstGeom prst="rect">
            <a:avLst/>
          </a:prstGeom>
          <a:noFill/>
          <a:ln/>
        </p:spPr>
        <p:txBody>
          <a:bodyPr wrap="square" lIns="0" tIns="0" rIns="0" bIns="0" rtlCol="0" anchor="ctr"/>
          <a:lstStyle/>
          <a:p>
            <a:pPr indent="0" marL="0">
              <a:lnSpc>
                <a:spcPts val="1700"/>
              </a:lnSpc>
              <a:buNone/>
            </a:pPr>
            <a:r>
              <a:rPr lang="en-US" sz="1550" b="1" dirty="0">
                <a:solidFill>
                  <a:srgbClr val="17282B"/>
                </a:solidFill>
                <a:latin typeface="Arial" pitchFamily="34" charset="0"/>
                <a:ea typeface="Arial" pitchFamily="34" charset="-122"/>
                <a:cs typeface="Arial" pitchFamily="34" charset="-120"/>
              </a:rPr>
              <a:t>AI trò chuyện, trả lời</a:t>
            </a:r>
            <a:endParaRPr lang="en-US" sz="1550" dirty="0"/>
          </a:p>
        </p:txBody>
      </p:sp>
      <p:sp>
        <p:nvSpPr>
          <p:cNvPr id="21" name="Text 15"/>
          <p:cNvSpPr txBox="1"/>
          <p:nvPr/>
        </p:nvSpPr>
        <p:spPr>
          <a:xfrm>
            <a:off x="987552" y="4777740"/>
            <a:ext cx="4677156" cy="1303020"/>
          </a:xfrm>
          <a:prstGeom prst="rect">
            <a:avLst/>
          </a:prstGeom>
          <a:noFill/>
          <a:ln/>
        </p:spPr>
        <p:txBody>
          <a:bodyPr wrap="square" lIns="0" tIns="0" rIns="0" bIns="0" rtlCol="0" anchor="t"/>
          <a:lstStyle/>
          <a:p>
            <a:pPr indent="0" marL="0">
              <a:lnSpc>
                <a:spcPts val="1600"/>
              </a:lnSpc>
              <a:buNone/>
            </a:pPr>
            <a:r>
              <a:rPr lang="en-US" sz="1300" dirty="0">
                <a:solidFill>
                  <a:srgbClr val="5C7378"/>
                </a:solidFill>
                <a:latin typeface="Arial" pitchFamily="34" charset="0"/>
                <a:ea typeface="Arial" pitchFamily="34" charset="-122"/>
                <a:cs typeface="Arial" pitchFamily="34" charset="-120"/>
              </a:rPr>
              <a:t>Hỏi đáp, viết văn bản (ChatGPT, Gemini).</a:t>
            </a:r>
            <a:endParaRPr lang="en-US" sz="1300" dirty="0"/>
          </a:p>
        </p:txBody>
      </p:sp>
      <p:sp>
        <p:nvSpPr>
          <p:cNvPr id="22" name="Shape 16"/>
          <p:cNvSpPr/>
          <p:nvPr/>
        </p:nvSpPr>
        <p:spPr>
          <a:xfrm>
            <a:off x="6240780" y="3909060"/>
            <a:ext cx="5189220" cy="2354580"/>
          </a:xfrm>
          <a:prstGeom prst="roundRect">
            <a:avLst>
              <a:gd name="adj" fmla="val 3107"/>
            </a:avLst>
          </a:prstGeom>
          <a:solidFill>
            <a:srgbClr val="EEF5F5"/>
          </a:solidFill>
          <a:ln w="12700">
            <a:solidFill>
              <a:srgbClr val="D6E6E6"/>
            </a:solidFill>
            <a:prstDash val="solid"/>
          </a:ln>
        </p:spPr>
      </p:sp>
      <p:sp>
        <p:nvSpPr>
          <p:cNvPr id="23" name="Shape 17"/>
          <p:cNvSpPr/>
          <p:nvPr/>
        </p:nvSpPr>
        <p:spPr>
          <a:xfrm>
            <a:off x="6496812" y="4146804"/>
            <a:ext cx="457200" cy="457200"/>
          </a:xfrm>
          <a:prstGeom prst="ellipse">
            <a:avLst/>
          </a:prstGeom>
          <a:solidFill>
            <a:srgbClr val="F2A93B"/>
          </a:solidFill>
          <a:ln/>
        </p:spPr>
      </p:sp>
      <p:pic>
        <p:nvPicPr>
          <p:cNvPr id="24" name="Image 4" descr="/home/claude/aichuyendoiso2/assets/icons/wand_0B3B45.png">    </p:cNvPr>
          <p:cNvPicPr>
            <a:picLocks noChangeAspect="1"/>
          </p:cNvPicPr>
          <p:nvPr/>
        </p:nvPicPr>
        <p:blipFill>
          <a:blip r:embed="rId6"/>
          <a:stretch>
            <a:fillRect/>
          </a:stretch>
        </p:blipFill>
        <p:spPr>
          <a:xfrm>
            <a:off x="6620256" y="4270248"/>
            <a:ext cx="210312" cy="210312"/>
          </a:xfrm>
          <a:prstGeom prst="rect">
            <a:avLst/>
          </a:prstGeom>
        </p:spPr>
      </p:pic>
      <p:sp>
        <p:nvSpPr>
          <p:cNvPr id="25" name="Text 18"/>
          <p:cNvSpPr txBox="1"/>
          <p:nvPr/>
        </p:nvSpPr>
        <p:spPr>
          <a:xfrm>
            <a:off x="7109460" y="4091940"/>
            <a:ext cx="4137660" cy="548640"/>
          </a:xfrm>
          <a:prstGeom prst="rect">
            <a:avLst/>
          </a:prstGeom>
          <a:noFill/>
          <a:ln/>
        </p:spPr>
        <p:txBody>
          <a:bodyPr wrap="square" lIns="0" tIns="0" rIns="0" bIns="0" rtlCol="0" anchor="ctr"/>
          <a:lstStyle/>
          <a:p>
            <a:pPr indent="0" marL="0">
              <a:lnSpc>
                <a:spcPts val="1700"/>
              </a:lnSpc>
              <a:buNone/>
            </a:pPr>
            <a:r>
              <a:rPr lang="en-US" sz="1550" b="1" dirty="0">
                <a:solidFill>
                  <a:srgbClr val="17282B"/>
                </a:solidFill>
                <a:latin typeface="Arial" pitchFamily="34" charset="0"/>
                <a:ea typeface="Arial" pitchFamily="34" charset="-122"/>
                <a:cs typeface="Arial" pitchFamily="34" charset="-120"/>
              </a:rPr>
              <a:t>AI tạo ảnh, video</a:t>
            </a:r>
            <a:endParaRPr lang="en-US" sz="1550" dirty="0"/>
          </a:p>
        </p:txBody>
      </p:sp>
      <p:sp>
        <p:nvSpPr>
          <p:cNvPr id="26" name="Text 19"/>
          <p:cNvSpPr txBox="1"/>
          <p:nvPr/>
        </p:nvSpPr>
        <p:spPr>
          <a:xfrm>
            <a:off x="6496812" y="4777740"/>
            <a:ext cx="4677156" cy="1303020"/>
          </a:xfrm>
          <a:prstGeom prst="rect">
            <a:avLst/>
          </a:prstGeom>
          <a:noFill/>
          <a:ln/>
        </p:spPr>
        <p:txBody>
          <a:bodyPr wrap="square" lIns="0" tIns="0" rIns="0" bIns="0" rtlCol="0" anchor="t"/>
          <a:lstStyle/>
          <a:p>
            <a:pPr indent="0" marL="0">
              <a:lnSpc>
                <a:spcPts val="1600"/>
              </a:lnSpc>
              <a:buNone/>
            </a:pPr>
            <a:r>
              <a:rPr lang="en-US" sz="1300" dirty="0">
                <a:solidFill>
                  <a:srgbClr val="5C7378"/>
                </a:solidFill>
                <a:latin typeface="Arial" pitchFamily="34" charset="0"/>
                <a:ea typeface="Arial" pitchFamily="34" charset="-122"/>
                <a:cs typeface="Arial" pitchFamily="34" charset="-120"/>
              </a:rPr>
              <a:t>Tạo/chỉnh sửa ảnh, video, hiệu ứng tự động.</a:t>
            </a:r>
            <a:endParaRPr lang="en-US" sz="13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347472"/>
            <a:ext cx="457200" cy="457200"/>
          </a:xfrm>
          <a:prstGeom prst="ellipse">
            <a:avLst/>
          </a:prstGeom>
          <a:solidFill>
            <a:srgbClr val="127C82"/>
          </a:solidFill>
          <a:ln/>
        </p:spPr>
      </p:sp>
      <p:pic>
        <p:nvPicPr>
          <p:cNvPr id="3" name="Image 0" descr="/home/claude/aichuyendoiso2/assets/icons/brain_FFFFFF.png">    </p:cNvPr>
          <p:cNvPicPr>
            <a:picLocks noChangeAspect="1"/>
          </p:cNvPicPr>
          <p:nvPr/>
        </p:nvPicPr>
        <p:blipFill>
          <a:blip r:embed="rId2"/>
          <a:stretch>
            <a:fillRect/>
          </a:stretch>
        </p:blipFill>
        <p:spPr>
          <a:xfrm>
            <a:off x="580644" y="470916"/>
            <a:ext cx="210312" cy="210312"/>
          </a:xfrm>
          <a:prstGeom prst="rect">
            <a:avLst/>
          </a:prstGeom>
        </p:spPr>
      </p:pic>
      <p:sp>
        <p:nvSpPr>
          <p:cNvPr id="4" name="Text 1"/>
          <p:cNvSpPr txBox="1"/>
          <p:nvPr/>
        </p:nvSpPr>
        <p:spPr>
          <a:xfrm>
            <a:off x="1051560" y="301752"/>
            <a:ext cx="10607040" cy="566928"/>
          </a:xfrm>
          <a:prstGeom prst="rect">
            <a:avLst/>
          </a:prstGeom>
          <a:noFill/>
          <a:ln/>
        </p:spPr>
        <p:txBody>
          <a:bodyPr wrap="square" lIns="0" tIns="0" rIns="0" bIns="0" rtlCol="0" anchor="ctr"/>
          <a:lstStyle/>
          <a:p>
            <a:pPr indent="0" marL="0">
              <a:buNone/>
            </a:pPr>
            <a:r>
              <a:rPr lang="en-US" sz="2600" b="1" dirty="0">
                <a:solidFill>
                  <a:srgbClr val="0B5257"/>
                </a:solidFill>
                <a:latin typeface="Arial" pitchFamily="34" charset="0"/>
                <a:ea typeface="Arial" pitchFamily="34" charset="-122"/>
                <a:cs typeface="Arial" pitchFamily="34" charset="-120"/>
              </a:rPr>
              <a:t>Hoạt Động: Nhận Diện AI</a:t>
            </a:r>
            <a:endParaRPr lang="en-US" sz="2600" dirty="0"/>
          </a:p>
        </p:txBody>
      </p:sp>
      <p:sp>
        <p:nvSpPr>
          <p:cNvPr id="5" name="Text 2"/>
          <p:cNvSpPr txBox="1"/>
          <p:nvPr/>
        </p:nvSpPr>
        <p:spPr>
          <a:xfrm>
            <a:off x="457200" y="6492240"/>
            <a:ext cx="7315200" cy="274320"/>
          </a:xfrm>
          <a:prstGeom prst="rect">
            <a:avLst/>
          </a:prstGeom>
          <a:noFill/>
          <a:ln/>
        </p:spPr>
        <p:txBody>
          <a:bodyPr wrap="square" lIns="0" tIns="0" rIns="0" bIns="0" rtlCol="0" anchor="ctr"/>
          <a:lstStyle/>
          <a:p>
            <a:pPr algn="l" indent="0" marL="0">
              <a:buNone/>
            </a:pPr>
            <a:r>
              <a:rPr lang="en-US" sz="1000" dirty="0">
                <a:solidFill>
                  <a:srgbClr val="5C7378"/>
                </a:solidFill>
                <a:latin typeface="Arial" pitchFamily="34" charset="0"/>
                <a:ea typeface="Arial" pitchFamily="34" charset="-122"/>
                <a:cs typeface="Arial" pitchFamily="34" charset="-120"/>
              </a:rPr>
              <a:t>Phần 1 · AI là gì?</a:t>
            </a:r>
            <a:endParaRPr lang="en-US" sz="1000" dirty="0"/>
          </a:p>
        </p:txBody>
      </p:sp>
      <p:sp>
        <p:nvSpPr>
          <p:cNvPr id="6" name="Text 3"/>
          <p:cNvSpPr txBox="1"/>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C7378"/>
                </a:solidFill>
                <a:latin typeface="Arial" pitchFamily="34" charset="0"/>
                <a:ea typeface="Arial" pitchFamily="34" charset="-122"/>
                <a:cs typeface="Arial" pitchFamily="34" charset="-120"/>
              </a:rPr>
              <a:t>8</a:t>
            </a:r>
            <a:endParaRPr lang="en-US" sz="1000" dirty="0"/>
          </a:p>
        </p:txBody>
      </p:sp>
      <p:sp>
        <p:nvSpPr>
          <p:cNvPr id="7" name="Shape 4"/>
          <p:cNvSpPr/>
          <p:nvPr/>
        </p:nvSpPr>
        <p:spPr>
          <a:xfrm>
            <a:off x="731520" y="1188720"/>
            <a:ext cx="2148840" cy="502920"/>
          </a:xfrm>
          <a:prstGeom prst="roundRect">
            <a:avLst>
              <a:gd name="adj" fmla="val 50909"/>
            </a:avLst>
          </a:prstGeom>
          <a:solidFill>
            <a:srgbClr val="F2A93B"/>
          </a:solidFill>
          <a:ln/>
        </p:spPr>
      </p:sp>
      <p:pic>
        <p:nvPicPr>
          <p:cNvPr id="8" name="Image 1" descr="/home/claude/aichuyendoiso2/assets/icons/handshake_0B3B45.png">    </p:cNvPr>
          <p:cNvPicPr>
            <a:picLocks noChangeAspect="1"/>
          </p:cNvPicPr>
          <p:nvPr/>
        </p:nvPicPr>
        <p:blipFill>
          <a:blip r:embed="rId3"/>
          <a:stretch>
            <a:fillRect/>
          </a:stretch>
        </p:blipFill>
        <p:spPr>
          <a:xfrm>
            <a:off x="896112" y="1298448"/>
            <a:ext cx="292608" cy="292608"/>
          </a:xfrm>
          <a:prstGeom prst="rect">
            <a:avLst/>
          </a:prstGeom>
        </p:spPr>
      </p:pic>
      <p:sp>
        <p:nvSpPr>
          <p:cNvPr id="9" name="Text 5"/>
          <p:cNvSpPr txBox="1"/>
          <p:nvPr/>
        </p:nvSpPr>
        <p:spPr>
          <a:xfrm>
            <a:off x="1234440" y="1188720"/>
            <a:ext cx="1600200" cy="502920"/>
          </a:xfrm>
          <a:prstGeom prst="rect">
            <a:avLst/>
          </a:prstGeom>
          <a:noFill/>
          <a:ln/>
        </p:spPr>
        <p:txBody>
          <a:bodyPr wrap="square" lIns="0" tIns="0" rIns="0" bIns="0" rtlCol="0" anchor="ctr"/>
          <a:lstStyle/>
          <a:p>
            <a:pPr algn="ctr" indent="0" marL="0">
              <a:buNone/>
            </a:pPr>
            <a:r>
              <a:rPr lang="en-US" sz="1300" b="1" dirty="0">
                <a:solidFill>
                  <a:srgbClr val="0B3B45"/>
                </a:solidFill>
                <a:latin typeface="Arial" pitchFamily="34" charset="0"/>
                <a:ea typeface="Arial" pitchFamily="34" charset="-122"/>
                <a:cs typeface="Arial" pitchFamily="34" charset="-120"/>
              </a:rPr>
              <a:t>GIƠ TAY</a:t>
            </a:r>
            <a:endParaRPr lang="en-US" sz="1300" dirty="0"/>
          </a:p>
        </p:txBody>
      </p:sp>
      <p:sp>
        <p:nvSpPr>
          <p:cNvPr id="10" name="Shape 6"/>
          <p:cNvSpPr/>
          <p:nvPr/>
        </p:nvSpPr>
        <p:spPr>
          <a:xfrm>
            <a:off x="731520" y="1965960"/>
            <a:ext cx="10698480" cy="777240"/>
          </a:xfrm>
          <a:prstGeom prst="roundRect">
            <a:avLst>
              <a:gd name="adj" fmla="val 9412"/>
            </a:avLst>
          </a:prstGeom>
          <a:solidFill>
            <a:srgbClr val="EEF5F5"/>
          </a:solidFill>
          <a:ln w="12700">
            <a:solidFill>
              <a:srgbClr val="D6E6E6"/>
            </a:solidFill>
            <a:prstDash val="solid"/>
          </a:ln>
        </p:spPr>
      </p:sp>
      <p:sp>
        <p:nvSpPr>
          <p:cNvPr id="11" name="Text 7"/>
          <p:cNvSpPr txBox="1"/>
          <p:nvPr/>
        </p:nvSpPr>
        <p:spPr>
          <a:xfrm>
            <a:off x="960120" y="2039112"/>
            <a:ext cx="10241280" cy="630936"/>
          </a:xfrm>
          <a:prstGeom prst="rect">
            <a:avLst/>
          </a:prstGeom>
          <a:noFill/>
          <a:ln/>
        </p:spPr>
        <p:txBody>
          <a:bodyPr wrap="square" lIns="0" tIns="0" rIns="0" bIns="0" rtlCol="0" anchor="ctr"/>
          <a:lstStyle/>
          <a:p>
            <a:pPr marL="342900" indent="-342900">
              <a:lnSpc>
                <a:spcPts val="1800"/>
              </a:lnSpc>
              <a:buSzPct val="100000"/>
              <a:buChar char="●"/>
            </a:pPr>
            <a:r>
              <a:rPr lang="en-US" sz="1450" dirty="0">
                <a:solidFill>
                  <a:srgbClr val="17282B"/>
                </a:solidFill>
                <a:latin typeface="Arial" pitchFamily="34" charset="0"/>
                <a:ea typeface="Arial" pitchFamily="34" charset="-122"/>
                <a:cs typeface="Arial" pitchFamily="34" charset="-120"/>
              </a:rPr>
              <a:t>Máy tính bỏ túi cộng 2 + 2 = 4  →  Đây có phải là AI không?</a:t>
            </a:r>
            <a:endParaRPr lang="en-US" sz="1450" dirty="0"/>
          </a:p>
        </p:txBody>
      </p:sp>
      <p:sp>
        <p:nvSpPr>
          <p:cNvPr id="12" name="Shape 8"/>
          <p:cNvSpPr/>
          <p:nvPr/>
        </p:nvSpPr>
        <p:spPr>
          <a:xfrm>
            <a:off x="731520" y="2971800"/>
            <a:ext cx="10698480" cy="777240"/>
          </a:xfrm>
          <a:prstGeom prst="roundRect">
            <a:avLst>
              <a:gd name="adj" fmla="val 9412"/>
            </a:avLst>
          </a:prstGeom>
          <a:solidFill>
            <a:srgbClr val="EEF5F5"/>
          </a:solidFill>
          <a:ln w="12700">
            <a:solidFill>
              <a:srgbClr val="D6E6E6"/>
            </a:solidFill>
            <a:prstDash val="solid"/>
          </a:ln>
        </p:spPr>
      </p:sp>
      <p:sp>
        <p:nvSpPr>
          <p:cNvPr id="13" name="Text 9"/>
          <p:cNvSpPr txBox="1"/>
          <p:nvPr/>
        </p:nvSpPr>
        <p:spPr>
          <a:xfrm>
            <a:off x="960120" y="3044952"/>
            <a:ext cx="10241280" cy="630936"/>
          </a:xfrm>
          <a:prstGeom prst="rect">
            <a:avLst/>
          </a:prstGeom>
          <a:noFill/>
          <a:ln/>
        </p:spPr>
        <p:txBody>
          <a:bodyPr wrap="square" lIns="0" tIns="0" rIns="0" bIns="0" rtlCol="0" anchor="ctr"/>
          <a:lstStyle/>
          <a:p>
            <a:pPr marL="342900" indent="-342900">
              <a:lnSpc>
                <a:spcPts val="1800"/>
              </a:lnSpc>
              <a:buSzPct val="100000"/>
              <a:buChar char="●"/>
            </a:pPr>
            <a:r>
              <a:rPr lang="en-US" sz="1450" dirty="0">
                <a:solidFill>
                  <a:srgbClr val="17282B"/>
                </a:solidFill>
                <a:latin typeface="Arial" pitchFamily="34" charset="0"/>
                <a:ea typeface="Arial" pitchFamily="34" charset="-122"/>
                <a:cs typeface="Arial" pitchFamily="34" charset="-120"/>
              </a:rPr>
              <a:t>Điện thoại tự nhận ra đúng mặt em để mở khóa  →  Đây có phải là AI không?</a:t>
            </a:r>
            <a:endParaRPr lang="en-US" sz="1450" dirty="0"/>
          </a:p>
        </p:txBody>
      </p:sp>
      <p:sp>
        <p:nvSpPr>
          <p:cNvPr id="14" name="Shape 10"/>
          <p:cNvSpPr/>
          <p:nvPr/>
        </p:nvSpPr>
        <p:spPr>
          <a:xfrm>
            <a:off x="731520" y="3977640"/>
            <a:ext cx="10698480" cy="777240"/>
          </a:xfrm>
          <a:prstGeom prst="roundRect">
            <a:avLst>
              <a:gd name="adj" fmla="val 9412"/>
            </a:avLst>
          </a:prstGeom>
          <a:solidFill>
            <a:srgbClr val="EEF5F5"/>
          </a:solidFill>
          <a:ln w="12700">
            <a:solidFill>
              <a:srgbClr val="D6E6E6"/>
            </a:solidFill>
            <a:prstDash val="solid"/>
          </a:ln>
        </p:spPr>
      </p:sp>
      <p:sp>
        <p:nvSpPr>
          <p:cNvPr id="15" name="Text 11"/>
          <p:cNvSpPr txBox="1"/>
          <p:nvPr/>
        </p:nvSpPr>
        <p:spPr>
          <a:xfrm>
            <a:off x="960120" y="4050792"/>
            <a:ext cx="10241280" cy="630936"/>
          </a:xfrm>
          <a:prstGeom prst="rect">
            <a:avLst/>
          </a:prstGeom>
          <a:noFill/>
          <a:ln/>
        </p:spPr>
        <p:txBody>
          <a:bodyPr wrap="square" lIns="0" tIns="0" rIns="0" bIns="0" rtlCol="0" anchor="ctr"/>
          <a:lstStyle/>
          <a:p>
            <a:pPr marL="342900" indent="-342900">
              <a:lnSpc>
                <a:spcPts val="1800"/>
              </a:lnSpc>
              <a:buSzPct val="100000"/>
              <a:buChar char="●"/>
            </a:pPr>
            <a:r>
              <a:rPr lang="en-US" sz="1450" dirty="0">
                <a:solidFill>
                  <a:srgbClr val="17282B"/>
                </a:solidFill>
                <a:latin typeface="Arial" pitchFamily="34" charset="0"/>
                <a:ea typeface="Arial" pitchFamily="34" charset="-122"/>
                <a:cs typeface="Arial" pitchFamily="34" charset="-120"/>
              </a:rPr>
              <a:t>Loa thông minh hiểu em nói gì và trả lời lại  →  Đây có phải là AI không?</a:t>
            </a:r>
            <a:endParaRPr lang="en-US" sz="1450" dirty="0"/>
          </a:p>
        </p:txBody>
      </p:sp>
      <p:sp>
        <p:nvSpPr>
          <p:cNvPr id="16" name="Shape 12"/>
          <p:cNvSpPr/>
          <p:nvPr/>
        </p:nvSpPr>
        <p:spPr>
          <a:xfrm>
            <a:off x="731520" y="4983480"/>
            <a:ext cx="10698480" cy="777240"/>
          </a:xfrm>
          <a:prstGeom prst="roundRect">
            <a:avLst>
              <a:gd name="adj" fmla="val 9412"/>
            </a:avLst>
          </a:prstGeom>
          <a:solidFill>
            <a:srgbClr val="EEF5F5"/>
          </a:solidFill>
          <a:ln w="12700">
            <a:solidFill>
              <a:srgbClr val="D6E6E6"/>
            </a:solidFill>
            <a:prstDash val="solid"/>
          </a:ln>
        </p:spPr>
      </p:sp>
      <p:sp>
        <p:nvSpPr>
          <p:cNvPr id="17" name="Text 13"/>
          <p:cNvSpPr txBox="1"/>
          <p:nvPr/>
        </p:nvSpPr>
        <p:spPr>
          <a:xfrm>
            <a:off x="960120" y="5056632"/>
            <a:ext cx="10241280" cy="630936"/>
          </a:xfrm>
          <a:prstGeom prst="rect">
            <a:avLst/>
          </a:prstGeom>
          <a:noFill/>
          <a:ln/>
        </p:spPr>
        <p:txBody>
          <a:bodyPr wrap="square" lIns="0" tIns="0" rIns="0" bIns="0" rtlCol="0" anchor="ctr"/>
          <a:lstStyle/>
          <a:p>
            <a:pPr marL="342900" indent="-342900">
              <a:lnSpc>
                <a:spcPts val="1800"/>
              </a:lnSpc>
              <a:buSzPct val="100000"/>
              <a:buChar char="●"/>
            </a:pPr>
            <a:r>
              <a:rPr lang="en-US" sz="1450" dirty="0">
                <a:solidFill>
                  <a:srgbClr val="17282B"/>
                </a:solidFill>
                <a:latin typeface="Arial" pitchFamily="34" charset="0"/>
                <a:ea typeface="Arial" pitchFamily="34" charset="-122"/>
                <a:cs typeface="Arial" pitchFamily="34" charset="-120"/>
              </a:rPr>
              <a:t>Bóng đèn tự bật khi trời tối (cảm biến ánh sáng)  →  Đây có phải là AI không?</a:t>
            </a:r>
            <a:endParaRPr lang="en-US" sz="1450" dirty="0"/>
          </a:p>
        </p:txBody>
      </p:sp>
      <p:sp>
        <p:nvSpPr>
          <p:cNvPr id="18" name="Text 14"/>
          <p:cNvSpPr txBox="1"/>
          <p:nvPr/>
        </p:nvSpPr>
        <p:spPr>
          <a:xfrm>
            <a:off x="731520" y="6080760"/>
            <a:ext cx="10698480" cy="457200"/>
          </a:xfrm>
          <a:prstGeom prst="rect">
            <a:avLst/>
          </a:prstGeom>
          <a:noFill/>
          <a:ln/>
        </p:spPr>
        <p:txBody>
          <a:bodyPr wrap="square" lIns="0" tIns="0" rIns="0" bIns="0" rtlCol="0" anchor="ctr"/>
          <a:lstStyle/>
          <a:p>
            <a:pPr indent="0" marL="0">
              <a:buNone/>
            </a:pPr>
            <a:r>
              <a:rPr lang="en-US" sz="1300" i="1" dirty="0">
                <a:solidFill>
                  <a:srgbClr val="5C7378"/>
                </a:solidFill>
                <a:latin typeface="Arial" pitchFamily="34" charset="0"/>
                <a:ea typeface="Arial" pitchFamily="34" charset="-122"/>
                <a:cs typeface="Arial" pitchFamily="34" charset="-120"/>
              </a:rPr>
              <a:t>Gợi ý: Điều làm nên AI là khả năng "học" từ dữ liệu, không phải chỉ làm theo công thức có sẵn.</a:t>
            </a:r>
            <a:endParaRPr lang="en-US" sz="13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778240" y="-2011680"/>
            <a:ext cx="5486400" cy="5486400"/>
          </a:xfrm>
          <a:prstGeom prst="ellipse">
            <a:avLst/>
          </a:prstGeom>
          <a:solidFill>
            <a:srgbClr val="0F4B54"/>
          </a:solidFill>
          <a:ln/>
        </p:spPr>
      </p:sp>
      <p:sp>
        <p:nvSpPr>
          <p:cNvPr id="3" name="Text 1"/>
          <p:cNvSpPr txBox="1"/>
          <p:nvPr/>
        </p:nvSpPr>
        <p:spPr>
          <a:xfrm>
            <a:off x="640080" y="1051560"/>
            <a:ext cx="3840480" cy="2377440"/>
          </a:xfrm>
          <a:prstGeom prst="rect">
            <a:avLst/>
          </a:prstGeom>
          <a:noFill/>
          <a:ln/>
        </p:spPr>
        <p:txBody>
          <a:bodyPr wrap="square" lIns="0" tIns="0" rIns="0" bIns="0" rtlCol="0" anchor="ctr"/>
          <a:lstStyle/>
          <a:p>
            <a:pPr indent="0" marL="0">
              <a:buNone/>
            </a:pPr>
            <a:r>
              <a:rPr lang="en-US" sz="13000" b="1" dirty="0">
                <a:solidFill>
                  <a:srgbClr val="155A61"/>
                </a:solidFill>
                <a:latin typeface="Arial" pitchFamily="34" charset="0"/>
                <a:ea typeface="Arial" pitchFamily="34" charset="-122"/>
                <a:cs typeface="Arial" pitchFamily="34" charset="-120"/>
              </a:rPr>
              <a:t>02</a:t>
            </a:r>
            <a:endParaRPr lang="en-US" sz="13000" dirty="0"/>
          </a:p>
        </p:txBody>
      </p:sp>
      <p:sp>
        <p:nvSpPr>
          <p:cNvPr id="4" name="Shape 2"/>
          <p:cNvSpPr/>
          <p:nvPr/>
        </p:nvSpPr>
        <p:spPr>
          <a:xfrm>
            <a:off x="9738360" y="502920"/>
            <a:ext cx="1371600" cy="1371600"/>
          </a:xfrm>
          <a:prstGeom prst="ellipse">
            <a:avLst/>
          </a:prstGeom>
          <a:solidFill>
            <a:srgbClr val="F2A93B"/>
          </a:solidFill>
          <a:ln/>
        </p:spPr>
      </p:sp>
      <p:pic>
        <p:nvPicPr>
          <p:cNvPr id="5" name="Image 0" descr="/home/claude/aichuyendoiso2/assets/icons/rotate_0B3B45.png">    </p:cNvPr>
          <p:cNvPicPr>
            <a:picLocks noChangeAspect="1"/>
          </p:cNvPicPr>
          <p:nvPr/>
        </p:nvPicPr>
        <p:blipFill>
          <a:blip r:embed="rId2"/>
          <a:stretch>
            <a:fillRect/>
          </a:stretch>
        </p:blipFill>
        <p:spPr>
          <a:xfrm>
            <a:off x="10108692" y="873252"/>
            <a:ext cx="630936" cy="630936"/>
          </a:xfrm>
          <a:prstGeom prst="rect">
            <a:avLst/>
          </a:prstGeom>
        </p:spPr>
      </p:pic>
      <p:sp>
        <p:nvSpPr>
          <p:cNvPr id="6" name="Text 3"/>
          <p:cNvSpPr txBox="1"/>
          <p:nvPr/>
        </p:nvSpPr>
        <p:spPr>
          <a:xfrm>
            <a:off x="777240" y="3246120"/>
            <a:ext cx="10241280" cy="1463040"/>
          </a:xfrm>
          <a:prstGeom prst="rect">
            <a:avLst/>
          </a:prstGeom>
          <a:noFill/>
          <a:ln/>
        </p:spPr>
        <p:txBody>
          <a:bodyPr wrap="square" lIns="0" tIns="0" rIns="0" bIns="0" rtlCol="0" anchor="ctr"/>
          <a:lstStyle/>
          <a:p>
            <a:pPr indent="0" marL="0">
              <a:lnSpc>
                <a:spcPts val="4000"/>
              </a:lnSpc>
              <a:buNone/>
            </a:pPr>
            <a:r>
              <a:rPr lang="en-US" sz="3600" b="1" dirty="0">
                <a:solidFill>
                  <a:srgbClr val="FFFFFF"/>
                </a:solidFill>
                <a:latin typeface="Arial" pitchFamily="34" charset="0"/>
                <a:ea typeface="Arial" pitchFamily="34" charset="-122"/>
                <a:cs typeface="Arial" pitchFamily="34" charset="-120"/>
              </a:rPr>
              <a:t>CHUYỂN ĐỔI SỐ</a:t>
            </a:r>
            <a:endParaRPr lang="en-US" sz="3600" dirty="0"/>
          </a:p>
          <a:p>
            <a:pPr indent="0" marL="0">
              <a:lnSpc>
                <a:spcPts val="4000"/>
              </a:lnSpc>
              <a:buNone/>
            </a:pPr>
            <a:r>
              <a:rPr lang="en-US" sz="3600" b="1" dirty="0">
                <a:solidFill>
                  <a:srgbClr val="FFFFFF"/>
                </a:solidFill>
                <a:latin typeface="Arial" pitchFamily="34" charset="0"/>
                <a:ea typeface="Arial" pitchFamily="34" charset="-122"/>
                <a:cs typeface="Arial" pitchFamily="34" charset="-120"/>
              </a:rPr>
              <a:t>VÀ CƠ HỘI NGHỀ NGHIỆP</a:t>
            </a:r>
            <a:endParaRPr lang="en-US" sz="3600" dirty="0"/>
          </a:p>
        </p:txBody>
      </p:sp>
      <p:sp>
        <p:nvSpPr>
          <p:cNvPr id="7" name="Text 4"/>
          <p:cNvSpPr txBox="1"/>
          <p:nvPr/>
        </p:nvSpPr>
        <p:spPr>
          <a:xfrm>
            <a:off x="822960" y="4526280"/>
            <a:ext cx="9875520" cy="548640"/>
          </a:xfrm>
          <a:prstGeom prst="rect">
            <a:avLst/>
          </a:prstGeom>
          <a:noFill/>
          <a:ln/>
        </p:spPr>
        <p:txBody>
          <a:bodyPr wrap="square" lIns="0" tIns="0" rIns="0" bIns="0" rtlCol="0" anchor="ctr"/>
          <a:lstStyle/>
          <a:p>
            <a:pPr indent="0" marL="0">
              <a:buNone/>
            </a:pPr>
            <a:r>
              <a:rPr lang="en-US" sz="1600" b="1" dirty="0">
                <a:solidFill>
                  <a:srgbClr val="F2A93B"/>
                </a:solidFill>
                <a:latin typeface="Arial" pitchFamily="34" charset="0"/>
                <a:ea typeface="Arial" pitchFamily="34" charset="-122"/>
                <a:cs typeface="Arial" pitchFamily="34" charset="-120"/>
              </a:rPr>
              <a:t>Mối liên hệ giữa chuyển đổi số và nghề nghiệp</a:t>
            </a:r>
            <a:endParaRPr lang="en-US" sz="1600" dirty="0"/>
          </a:p>
        </p:txBody>
      </p:sp>
      <p:sp>
        <p:nvSpPr>
          <p:cNvPr id="8" name="Text 5"/>
          <p:cNvSpPr txBox="1"/>
          <p:nvPr/>
        </p:nvSpPr>
        <p:spPr>
          <a:xfrm>
            <a:off x="457200" y="6492240"/>
            <a:ext cx="7315200" cy="274320"/>
          </a:xfrm>
          <a:prstGeom prst="rect">
            <a:avLst/>
          </a:prstGeom>
          <a:noFill/>
          <a:ln/>
        </p:spPr>
        <p:txBody>
          <a:bodyPr wrap="square" lIns="0" tIns="0" rIns="0" bIns="0" rtlCol="0" anchor="ctr"/>
          <a:lstStyle/>
          <a:p>
            <a:pPr algn="l" indent="0" marL="0">
              <a:buNone/>
            </a:pPr>
            <a:r>
              <a:rPr lang="en-US" sz="1000" dirty="0">
                <a:solidFill>
                  <a:srgbClr val="9FC2C6"/>
                </a:solidFill>
                <a:latin typeface="Arial" pitchFamily="34" charset="0"/>
                <a:ea typeface="Arial" pitchFamily="34" charset="-122"/>
                <a:cs typeface="Arial" pitchFamily="34" charset="-120"/>
              </a:rPr>
              <a:t>Chuyên đề: AI và chuyển đổi số</a:t>
            </a:r>
            <a:endParaRPr lang="en-US" sz="1000" dirty="0"/>
          </a:p>
        </p:txBody>
      </p:sp>
      <p:sp>
        <p:nvSpPr>
          <p:cNvPr id="9" name="Text 6"/>
          <p:cNvSpPr txBox="1"/>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9FC2C6"/>
                </a:solidFill>
                <a:latin typeface="Arial" pitchFamily="34" charset="0"/>
                <a:ea typeface="Arial" pitchFamily="34" charset="-122"/>
                <a:cs typeface="Arial" pitchFamily="34" charset="-120"/>
              </a:rPr>
              <a:t>9</a:t>
            </a:r>
            <a:endParaRPr lang="en-US" sz="1000" dirty="0"/>
          </a:p>
        </p:txBody>
      </p:sp>
    </p:spTree>
  </p:cSld>
  <p:clrMapOvr>
    <a:masterClrMapping/>
  </p:clrMapOvr>
  <p:transition spd="med">
    <p:push dir="l"/>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347472"/>
            <a:ext cx="457200" cy="457200"/>
          </a:xfrm>
          <a:prstGeom prst="ellipse">
            <a:avLst/>
          </a:prstGeom>
          <a:solidFill>
            <a:srgbClr val="127C82"/>
          </a:solidFill>
          <a:ln/>
        </p:spPr>
      </p:sp>
      <p:pic>
        <p:nvPicPr>
          <p:cNvPr id="3" name="Image 0" descr="/home/claude/aichuyendoiso2/assets/icons/rotate_FFFFFF.png">    </p:cNvPr>
          <p:cNvPicPr>
            <a:picLocks noChangeAspect="1"/>
          </p:cNvPicPr>
          <p:nvPr/>
        </p:nvPicPr>
        <p:blipFill>
          <a:blip r:embed="rId2"/>
          <a:stretch>
            <a:fillRect/>
          </a:stretch>
        </p:blipFill>
        <p:spPr>
          <a:xfrm>
            <a:off x="580644" y="470916"/>
            <a:ext cx="210312" cy="210312"/>
          </a:xfrm>
          <a:prstGeom prst="rect">
            <a:avLst/>
          </a:prstGeom>
        </p:spPr>
      </p:pic>
      <p:sp>
        <p:nvSpPr>
          <p:cNvPr id="4" name="Text 1"/>
          <p:cNvSpPr txBox="1"/>
          <p:nvPr/>
        </p:nvSpPr>
        <p:spPr>
          <a:xfrm>
            <a:off x="1051560" y="301752"/>
            <a:ext cx="10607040" cy="566928"/>
          </a:xfrm>
          <a:prstGeom prst="rect">
            <a:avLst/>
          </a:prstGeom>
          <a:noFill/>
          <a:ln/>
        </p:spPr>
        <p:txBody>
          <a:bodyPr wrap="square" lIns="0" tIns="0" rIns="0" bIns="0" rtlCol="0" anchor="ctr"/>
          <a:lstStyle/>
          <a:p>
            <a:pPr indent="0" marL="0">
              <a:buNone/>
            </a:pPr>
            <a:r>
              <a:rPr lang="en-US" sz="2600" b="1" dirty="0">
                <a:solidFill>
                  <a:srgbClr val="0B5257"/>
                </a:solidFill>
                <a:latin typeface="Arial" pitchFamily="34" charset="0"/>
                <a:ea typeface="Arial" pitchFamily="34" charset="-122"/>
                <a:cs typeface="Arial" pitchFamily="34" charset="-120"/>
              </a:rPr>
              <a:t>Khái Niệm Chuyển Đổi Số</a:t>
            </a:r>
            <a:endParaRPr lang="en-US" sz="2600" dirty="0"/>
          </a:p>
        </p:txBody>
      </p:sp>
      <p:sp>
        <p:nvSpPr>
          <p:cNvPr id="5" name="Text 2"/>
          <p:cNvSpPr txBox="1"/>
          <p:nvPr/>
        </p:nvSpPr>
        <p:spPr>
          <a:xfrm>
            <a:off x="457200" y="6492240"/>
            <a:ext cx="7315200" cy="274320"/>
          </a:xfrm>
          <a:prstGeom prst="rect">
            <a:avLst/>
          </a:prstGeom>
          <a:noFill/>
          <a:ln/>
        </p:spPr>
        <p:txBody>
          <a:bodyPr wrap="square" lIns="0" tIns="0" rIns="0" bIns="0" rtlCol="0" anchor="ctr"/>
          <a:lstStyle/>
          <a:p>
            <a:pPr algn="l" indent="0" marL="0">
              <a:buNone/>
            </a:pPr>
            <a:r>
              <a:rPr lang="en-US" sz="1000" dirty="0">
                <a:solidFill>
                  <a:srgbClr val="5C7378"/>
                </a:solidFill>
                <a:latin typeface="Arial" pitchFamily="34" charset="0"/>
                <a:ea typeface="Arial" pitchFamily="34" charset="-122"/>
                <a:cs typeface="Arial" pitchFamily="34" charset="-120"/>
              </a:rPr>
              <a:t>Phần 2 · Chuyển đổi số &amp; cơ hội nghề</a:t>
            </a:r>
            <a:endParaRPr lang="en-US" sz="1000" dirty="0"/>
          </a:p>
        </p:txBody>
      </p:sp>
      <p:sp>
        <p:nvSpPr>
          <p:cNvPr id="6" name="Text 3"/>
          <p:cNvSpPr txBox="1"/>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C7378"/>
                </a:solidFill>
                <a:latin typeface="Arial" pitchFamily="34" charset="0"/>
                <a:ea typeface="Arial" pitchFamily="34" charset="-122"/>
                <a:cs typeface="Arial" pitchFamily="34" charset="-120"/>
              </a:rPr>
              <a:t>10</a:t>
            </a:r>
            <a:endParaRPr lang="en-US" sz="1000" dirty="0"/>
          </a:p>
        </p:txBody>
      </p:sp>
      <p:sp>
        <p:nvSpPr>
          <p:cNvPr id="7" name="Shape 4"/>
          <p:cNvSpPr/>
          <p:nvPr/>
        </p:nvSpPr>
        <p:spPr>
          <a:xfrm>
            <a:off x="731520" y="1371600"/>
            <a:ext cx="10698480" cy="1280160"/>
          </a:xfrm>
          <a:prstGeom prst="roundRect">
            <a:avLst>
              <a:gd name="adj" fmla="val 7143"/>
            </a:avLst>
          </a:prstGeom>
          <a:solidFill>
            <a:srgbClr val="127C82"/>
          </a:solidFill>
          <a:ln/>
        </p:spPr>
      </p:sp>
      <p:sp>
        <p:nvSpPr>
          <p:cNvPr id="8" name="Text 5"/>
          <p:cNvSpPr txBox="1"/>
          <p:nvPr/>
        </p:nvSpPr>
        <p:spPr>
          <a:xfrm>
            <a:off x="1005840" y="1371600"/>
            <a:ext cx="10149840" cy="1280160"/>
          </a:xfrm>
          <a:prstGeom prst="rect">
            <a:avLst/>
          </a:prstGeom>
          <a:noFill/>
          <a:ln/>
        </p:spPr>
        <p:txBody>
          <a:bodyPr wrap="square" lIns="0" tIns="0" rIns="0" bIns="0" rtlCol="0" anchor="ctr"/>
          <a:lstStyle/>
          <a:p>
            <a:pPr algn="ctr" indent="0" marL="0">
              <a:lnSpc>
                <a:spcPts val="2400"/>
              </a:lnSpc>
              <a:buNone/>
            </a:pPr>
            <a:r>
              <a:rPr lang="en-US" sz="1800" b="1" dirty="0">
                <a:solidFill>
                  <a:srgbClr val="FFFFFF"/>
                </a:solidFill>
                <a:latin typeface="Arial" pitchFamily="34" charset="0"/>
                <a:ea typeface="Arial" pitchFamily="34" charset="-122"/>
                <a:cs typeface="Arial" pitchFamily="34" charset="-120"/>
              </a:rPr>
              <a:t>Là việc đưa công việc từ giấy tờ, thao tác thủ công</a:t>
            </a:r>
            <a:endParaRPr lang="en-US" sz="1800" dirty="0"/>
          </a:p>
          <a:p>
            <a:pPr algn="ctr" indent="0" marL="0">
              <a:lnSpc>
                <a:spcPts val="2400"/>
              </a:lnSpc>
              <a:buNone/>
            </a:pPr>
            <a:r>
              <a:rPr lang="en-US" sz="1800" b="1" dirty="0">
                <a:solidFill>
                  <a:srgbClr val="FFFFFF"/>
                </a:solidFill>
                <a:latin typeface="Arial" pitchFamily="34" charset="0"/>
                <a:ea typeface="Arial" pitchFamily="34" charset="-122"/>
                <a:cs typeface="Arial" pitchFamily="34" charset="-120"/>
              </a:rPr>
              <a:t>lên máy tính, điện thoại, internet — để nhanh hơn, tiện hơn.</a:t>
            </a:r>
            <a:endParaRPr lang="en-US" sz="1800" dirty="0"/>
          </a:p>
        </p:txBody>
      </p:sp>
      <p:sp>
        <p:nvSpPr>
          <p:cNvPr id="9" name="Shape 6"/>
          <p:cNvSpPr/>
          <p:nvPr/>
        </p:nvSpPr>
        <p:spPr>
          <a:xfrm>
            <a:off x="731520" y="2971800"/>
            <a:ext cx="5166360" cy="2651760"/>
          </a:xfrm>
          <a:prstGeom prst="roundRect">
            <a:avLst>
              <a:gd name="adj" fmla="val 2759"/>
            </a:avLst>
          </a:prstGeom>
          <a:solidFill>
            <a:srgbClr val="F4F4F4"/>
          </a:solidFill>
          <a:ln w="12700">
            <a:solidFill>
              <a:srgbClr val="E4E4E4"/>
            </a:solidFill>
            <a:prstDash val="solid"/>
          </a:ln>
        </p:spPr>
      </p:sp>
      <p:sp>
        <p:nvSpPr>
          <p:cNvPr id="10" name="Text 7"/>
          <p:cNvSpPr txBox="1"/>
          <p:nvPr/>
        </p:nvSpPr>
        <p:spPr>
          <a:xfrm>
            <a:off x="960120" y="3154680"/>
            <a:ext cx="4709160" cy="365760"/>
          </a:xfrm>
          <a:prstGeom prst="rect">
            <a:avLst/>
          </a:prstGeom>
          <a:noFill/>
          <a:ln/>
        </p:spPr>
        <p:txBody>
          <a:bodyPr wrap="square" lIns="0" tIns="0" rIns="0" bIns="0" rtlCol="0" anchor="ctr"/>
          <a:lstStyle/>
          <a:p>
            <a:pPr indent="0" marL="0">
              <a:buNone/>
            </a:pPr>
            <a:r>
              <a:rPr lang="en-US" sz="1400" b="1" dirty="0">
                <a:solidFill>
                  <a:srgbClr val="5C7378"/>
                </a:solidFill>
                <a:latin typeface="Arial" pitchFamily="34" charset="0"/>
                <a:ea typeface="Arial" pitchFamily="34" charset="-122"/>
                <a:cs typeface="Arial" pitchFamily="34" charset="-120"/>
              </a:rPr>
              <a:t>TRƯỚC ĐÂY</a:t>
            </a:r>
            <a:endParaRPr lang="en-US" sz="1400" dirty="0"/>
          </a:p>
        </p:txBody>
      </p:sp>
      <p:sp>
        <p:nvSpPr>
          <p:cNvPr id="11" name="Text 8"/>
          <p:cNvSpPr txBox="1"/>
          <p:nvPr/>
        </p:nvSpPr>
        <p:spPr>
          <a:xfrm>
            <a:off x="960120" y="3520440"/>
            <a:ext cx="4709160" cy="2011680"/>
          </a:xfrm>
          <a:prstGeom prst="rect">
            <a:avLst/>
          </a:prstGeom>
          <a:noFill/>
          <a:ln/>
        </p:spPr>
        <p:txBody>
          <a:bodyPr wrap="square" lIns="0" tIns="0" rIns="0" bIns="0" rtlCol="0" anchor="ctr"/>
          <a:lstStyle/>
          <a:p>
            <a:pPr indent="0" marL="0">
              <a:lnSpc>
                <a:spcPts val="2100"/>
              </a:lnSpc>
              <a:buNone/>
            </a:pPr>
            <a:r>
              <a:rPr lang="en-US" sz="1400" dirty="0">
                <a:solidFill>
                  <a:srgbClr val="17282B"/>
                </a:solidFill>
                <a:latin typeface="Arial" pitchFamily="34" charset="0"/>
                <a:ea typeface="Arial" pitchFamily="34" charset="-122"/>
                <a:cs typeface="Arial" pitchFamily="34" charset="-120"/>
              </a:rPr>
              <a:t>• Viết đơn, ghi sổ bằng tay</a:t>
            </a:r>
            <a:endParaRPr lang="en-US" sz="1400" dirty="0"/>
          </a:p>
          <a:p>
            <a:pPr indent="0" marL="0">
              <a:lnSpc>
                <a:spcPts val="2100"/>
              </a:lnSpc>
              <a:buNone/>
            </a:pPr>
            <a:r>
              <a:rPr lang="en-US" sz="1400" dirty="0">
                <a:solidFill>
                  <a:srgbClr val="17282B"/>
                </a:solidFill>
                <a:latin typeface="Arial" pitchFamily="34" charset="0"/>
                <a:ea typeface="Arial" pitchFamily="34" charset="-122"/>
                <a:cs typeface="Arial" pitchFamily="34" charset="-120"/>
              </a:rPr>
              <a:t>• Xếp hàng nộp hồ sơ trực tiếp</a:t>
            </a:r>
            <a:endParaRPr lang="en-US" sz="1400" dirty="0"/>
          </a:p>
          <a:p>
            <a:pPr indent="0" marL="0">
              <a:lnSpc>
                <a:spcPts val="2100"/>
              </a:lnSpc>
              <a:buNone/>
            </a:pPr>
            <a:r>
              <a:rPr lang="en-US" sz="1400" dirty="0">
                <a:solidFill>
                  <a:srgbClr val="17282B"/>
                </a:solidFill>
                <a:latin typeface="Arial" pitchFamily="34" charset="0"/>
                <a:ea typeface="Arial" pitchFamily="34" charset="-122"/>
                <a:cs typeface="Arial" pitchFamily="34" charset="-120"/>
              </a:rPr>
              <a:t>• Trả tiền mặt</a:t>
            </a:r>
            <a:endParaRPr lang="en-US" sz="1400" dirty="0"/>
          </a:p>
          <a:p>
            <a:pPr indent="0" marL="0">
              <a:lnSpc>
                <a:spcPts val="2100"/>
              </a:lnSpc>
              <a:buNone/>
            </a:pPr>
            <a:r>
              <a:rPr lang="en-US" sz="1400" dirty="0">
                <a:solidFill>
                  <a:srgbClr val="17282B"/>
                </a:solidFill>
                <a:latin typeface="Arial" pitchFamily="34" charset="0"/>
                <a:ea typeface="Arial" pitchFamily="34" charset="-122"/>
                <a:cs typeface="Arial" pitchFamily="34" charset="-120"/>
              </a:rPr>
              <a:t>• Tra cứu thông tin bằng sách, hỏi người quen</a:t>
            </a:r>
            <a:endParaRPr lang="en-US" sz="1400" dirty="0"/>
          </a:p>
        </p:txBody>
      </p:sp>
      <p:sp>
        <p:nvSpPr>
          <p:cNvPr id="12" name="Shape 9"/>
          <p:cNvSpPr/>
          <p:nvPr/>
        </p:nvSpPr>
        <p:spPr>
          <a:xfrm>
            <a:off x="6263640" y="2971800"/>
            <a:ext cx="5166360" cy="2651760"/>
          </a:xfrm>
          <a:prstGeom prst="roundRect">
            <a:avLst>
              <a:gd name="adj" fmla="val 2759"/>
            </a:avLst>
          </a:prstGeom>
          <a:solidFill>
            <a:srgbClr val="EEF5F5"/>
          </a:solidFill>
          <a:ln w="12700">
            <a:solidFill>
              <a:srgbClr val="D6E6E6"/>
            </a:solidFill>
            <a:prstDash val="solid"/>
          </a:ln>
        </p:spPr>
      </p:sp>
      <p:sp>
        <p:nvSpPr>
          <p:cNvPr id="13" name="Text 10"/>
          <p:cNvSpPr txBox="1"/>
          <p:nvPr/>
        </p:nvSpPr>
        <p:spPr>
          <a:xfrm>
            <a:off x="6492240" y="3154680"/>
            <a:ext cx="4709160" cy="365760"/>
          </a:xfrm>
          <a:prstGeom prst="rect">
            <a:avLst/>
          </a:prstGeom>
          <a:noFill/>
          <a:ln/>
        </p:spPr>
        <p:txBody>
          <a:bodyPr wrap="square" lIns="0" tIns="0" rIns="0" bIns="0" rtlCol="0" anchor="ctr"/>
          <a:lstStyle/>
          <a:p>
            <a:pPr indent="0" marL="0">
              <a:buNone/>
            </a:pPr>
            <a:r>
              <a:rPr lang="en-US" sz="1400" b="1" dirty="0">
                <a:solidFill>
                  <a:srgbClr val="0B5257"/>
                </a:solidFill>
                <a:latin typeface="Arial" pitchFamily="34" charset="0"/>
                <a:ea typeface="Arial" pitchFamily="34" charset="-122"/>
                <a:cs typeface="Arial" pitchFamily="34" charset="-120"/>
              </a:rPr>
              <a:t>BÂY GIỜ</a:t>
            </a:r>
            <a:endParaRPr lang="en-US" sz="1400" dirty="0"/>
          </a:p>
        </p:txBody>
      </p:sp>
      <p:sp>
        <p:nvSpPr>
          <p:cNvPr id="14" name="Text 11"/>
          <p:cNvSpPr txBox="1"/>
          <p:nvPr/>
        </p:nvSpPr>
        <p:spPr>
          <a:xfrm>
            <a:off x="6492240" y="3520440"/>
            <a:ext cx="4709160" cy="2011680"/>
          </a:xfrm>
          <a:prstGeom prst="rect">
            <a:avLst/>
          </a:prstGeom>
          <a:noFill/>
          <a:ln/>
        </p:spPr>
        <p:txBody>
          <a:bodyPr wrap="square" lIns="0" tIns="0" rIns="0" bIns="0" rtlCol="0" anchor="ctr"/>
          <a:lstStyle/>
          <a:p>
            <a:pPr indent="0" marL="0">
              <a:lnSpc>
                <a:spcPts val="2100"/>
              </a:lnSpc>
              <a:buNone/>
            </a:pPr>
            <a:r>
              <a:rPr lang="en-US" sz="1400" dirty="0">
                <a:solidFill>
                  <a:srgbClr val="17282B"/>
                </a:solidFill>
                <a:latin typeface="Arial" pitchFamily="34" charset="0"/>
                <a:ea typeface="Arial" pitchFamily="34" charset="-122"/>
                <a:cs typeface="Arial" pitchFamily="34" charset="-120"/>
              </a:rPr>
              <a:t>• Nộp hồ sơ, đăng ký online</a:t>
            </a:r>
            <a:endParaRPr lang="en-US" sz="1400" dirty="0"/>
          </a:p>
          <a:p>
            <a:pPr indent="0" marL="0">
              <a:lnSpc>
                <a:spcPts val="2100"/>
              </a:lnSpc>
              <a:buNone/>
            </a:pPr>
            <a:r>
              <a:rPr lang="en-US" sz="1400" dirty="0">
                <a:solidFill>
                  <a:srgbClr val="17282B"/>
                </a:solidFill>
                <a:latin typeface="Arial" pitchFamily="34" charset="0"/>
                <a:ea typeface="Arial" pitchFamily="34" charset="-122"/>
                <a:cs typeface="Arial" pitchFamily="34" charset="-120"/>
              </a:rPr>
              <a:t>• Nộp hồ sơ qua Cổng dịch vụ công</a:t>
            </a:r>
            <a:endParaRPr lang="en-US" sz="1400" dirty="0"/>
          </a:p>
          <a:p>
            <a:pPr indent="0" marL="0">
              <a:lnSpc>
                <a:spcPts val="2100"/>
              </a:lnSpc>
              <a:buNone/>
            </a:pPr>
            <a:r>
              <a:rPr lang="en-US" sz="1400" dirty="0">
                <a:solidFill>
                  <a:srgbClr val="17282B"/>
                </a:solidFill>
                <a:latin typeface="Arial" pitchFamily="34" charset="0"/>
                <a:ea typeface="Arial" pitchFamily="34" charset="-122"/>
                <a:cs typeface="Arial" pitchFamily="34" charset="-120"/>
              </a:rPr>
              <a:t>• Quét mã QR để thanh toán</a:t>
            </a:r>
            <a:endParaRPr lang="en-US" sz="1400" dirty="0"/>
          </a:p>
          <a:p>
            <a:pPr indent="0" marL="0">
              <a:lnSpc>
                <a:spcPts val="2100"/>
              </a:lnSpc>
              <a:buNone/>
            </a:pPr>
            <a:r>
              <a:rPr lang="en-US" sz="1400" dirty="0">
                <a:solidFill>
                  <a:srgbClr val="17282B"/>
                </a:solidFill>
                <a:latin typeface="Arial" pitchFamily="34" charset="0"/>
                <a:ea typeface="Arial" pitchFamily="34" charset="-122"/>
                <a:cs typeface="Arial" pitchFamily="34" charset="-120"/>
              </a:rPr>
              <a:t>• Tra cứu thông tin, hỏi AI tức thì</a:t>
            </a:r>
            <a:endParaRPr lang="en-US" sz="14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347472"/>
            <a:ext cx="457200" cy="457200"/>
          </a:xfrm>
          <a:prstGeom prst="ellipse">
            <a:avLst/>
          </a:prstGeom>
          <a:solidFill>
            <a:srgbClr val="127C82"/>
          </a:solidFill>
          <a:ln/>
        </p:spPr>
      </p:sp>
      <p:pic>
        <p:nvPicPr>
          <p:cNvPr id="3" name="Image 0" descr="/home/claude/aichuyendoiso2/assets/icons/rotate_FFFFFF.png">    </p:cNvPr>
          <p:cNvPicPr>
            <a:picLocks noChangeAspect="1"/>
          </p:cNvPicPr>
          <p:nvPr/>
        </p:nvPicPr>
        <p:blipFill>
          <a:blip r:embed="rId2"/>
          <a:stretch>
            <a:fillRect/>
          </a:stretch>
        </p:blipFill>
        <p:spPr>
          <a:xfrm>
            <a:off x="580644" y="470916"/>
            <a:ext cx="210312" cy="210312"/>
          </a:xfrm>
          <a:prstGeom prst="rect">
            <a:avLst/>
          </a:prstGeom>
        </p:spPr>
      </p:pic>
      <p:sp>
        <p:nvSpPr>
          <p:cNvPr id="4" name="Text 1"/>
          <p:cNvSpPr txBox="1"/>
          <p:nvPr/>
        </p:nvSpPr>
        <p:spPr>
          <a:xfrm>
            <a:off x="1051560" y="301752"/>
            <a:ext cx="10607040" cy="566928"/>
          </a:xfrm>
          <a:prstGeom prst="rect">
            <a:avLst/>
          </a:prstGeom>
          <a:noFill/>
          <a:ln/>
        </p:spPr>
        <p:txBody>
          <a:bodyPr wrap="square" lIns="0" tIns="0" rIns="0" bIns="0" rtlCol="0" anchor="ctr"/>
          <a:lstStyle/>
          <a:p>
            <a:pPr indent="0" marL="0">
              <a:buNone/>
            </a:pPr>
            <a:r>
              <a:rPr lang="en-US" sz="2600" b="1" dirty="0">
                <a:solidFill>
                  <a:srgbClr val="0B5257"/>
                </a:solidFill>
                <a:latin typeface="Arial" pitchFamily="34" charset="0"/>
                <a:ea typeface="Arial" pitchFamily="34" charset="-122"/>
                <a:cs typeface="Arial" pitchFamily="34" charset="-120"/>
              </a:rPr>
              <a:t>Chuyển đổi số đang diễn ra quanh ta</a:t>
            </a:r>
            <a:endParaRPr lang="en-US" sz="2600" dirty="0"/>
          </a:p>
        </p:txBody>
      </p:sp>
      <p:sp>
        <p:nvSpPr>
          <p:cNvPr id="5" name="Text 2"/>
          <p:cNvSpPr txBox="1"/>
          <p:nvPr/>
        </p:nvSpPr>
        <p:spPr>
          <a:xfrm>
            <a:off x="457200" y="6492240"/>
            <a:ext cx="7315200" cy="274320"/>
          </a:xfrm>
          <a:prstGeom prst="rect">
            <a:avLst/>
          </a:prstGeom>
          <a:noFill/>
          <a:ln/>
        </p:spPr>
        <p:txBody>
          <a:bodyPr wrap="square" lIns="0" tIns="0" rIns="0" bIns="0" rtlCol="0" anchor="ctr"/>
          <a:lstStyle/>
          <a:p>
            <a:pPr algn="l" indent="0" marL="0">
              <a:buNone/>
            </a:pPr>
            <a:r>
              <a:rPr lang="en-US" sz="1000" dirty="0">
                <a:solidFill>
                  <a:srgbClr val="5C7378"/>
                </a:solidFill>
                <a:latin typeface="Arial" pitchFamily="34" charset="0"/>
                <a:ea typeface="Arial" pitchFamily="34" charset="-122"/>
                <a:cs typeface="Arial" pitchFamily="34" charset="-120"/>
              </a:rPr>
              <a:t>Phần 2 · Chuyển đổi số &amp; cơ hội nghề</a:t>
            </a:r>
            <a:endParaRPr lang="en-US" sz="1000" dirty="0"/>
          </a:p>
        </p:txBody>
      </p:sp>
      <p:sp>
        <p:nvSpPr>
          <p:cNvPr id="6" name="Text 3"/>
          <p:cNvSpPr txBox="1"/>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C7378"/>
                </a:solidFill>
                <a:latin typeface="Arial" pitchFamily="34" charset="0"/>
                <a:ea typeface="Arial" pitchFamily="34" charset="-122"/>
                <a:cs typeface="Arial" pitchFamily="34" charset="-120"/>
              </a:rPr>
              <a:t>11</a:t>
            </a:r>
            <a:endParaRPr lang="en-US" sz="1000" dirty="0"/>
          </a:p>
        </p:txBody>
      </p:sp>
      <p:sp>
        <p:nvSpPr>
          <p:cNvPr id="7" name="Shape 4"/>
          <p:cNvSpPr/>
          <p:nvPr/>
        </p:nvSpPr>
        <p:spPr>
          <a:xfrm>
            <a:off x="731520" y="1234440"/>
            <a:ext cx="5189220" cy="2354580"/>
          </a:xfrm>
          <a:prstGeom prst="roundRect">
            <a:avLst>
              <a:gd name="adj" fmla="val 3107"/>
            </a:avLst>
          </a:prstGeom>
          <a:solidFill>
            <a:srgbClr val="EEF5F5"/>
          </a:solidFill>
          <a:ln w="12700">
            <a:solidFill>
              <a:srgbClr val="D6E6E6"/>
            </a:solidFill>
            <a:prstDash val="solid"/>
          </a:ln>
        </p:spPr>
      </p:sp>
      <p:sp>
        <p:nvSpPr>
          <p:cNvPr id="8" name="Shape 5"/>
          <p:cNvSpPr/>
          <p:nvPr/>
        </p:nvSpPr>
        <p:spPr>
          <a:xfrm>
            <a:off x="987552" y="1472184"/>
            <a:ext cx="457200" cy="457200"/>
          </a:xfrm>
          <a:prstGeom prst="ellipse">
            <a:avLst/>
          </a:prstGeom>
          <a:solidFill>
            <a:srgbClr val="F2A93B"/>
          </a:solidFill>
          <a:ln/>
        </p:spPr>
      </p:sp>
      <p:pic>
        <p:nvPicPr>
          <p:cNvPr id="9" name="Image 1" descr="/home/claude/aichuyendoiso2/assets/icons/qrcode_0B3B45.png">    </p:cNvPr>
          <p:cNvPicPr>
            <a:picLocks noChangeAspect="1"/>
          </p:cNvPicPr>
          <p:nvPr/>
        </p:nvPicPr>
        <p:blipFill>
          <a:blip r:embed="rId3"/>
          <a:stretch>
            <a:fillRect/>
          </a:stretch>
        </p:blipFill>
        <p:spPr>
          <a:xfrm>
            <a:off x="1110996" y="1595628"/>
            <a:ext cx="210312" cy="210312"/>
          </a:xfrm>
          <a:prstGeom prst="rect">
            <a:avLst/>
          </a:prstGeom>
        </p:spPr>
      </p:pic>
      <p:sp>
        <p:nvSpPr>
          <p:cNvPr id="10" name="Text 6"/>
          <p:cNvSpPr txBox="1"/>
          <p:nvPr/>
        </p:nvSpPr>
        <p:spPr>
          <a:xfrm>
            <a:off x="1600200" y="1417320"/>
            <a:ext cx="4137660" cy="548640"/>
          </a:xfrm>
          <a:prstGeom prst="rect">
            <a:avLst/>
          </a:prstGeom>
          <a:noFill/>
          <a:ln/>
        </p:spPr>
        <p:txBody>
          <a:bodyPr wrap="square" lIns="0" tIns="0" rIns="0" bIns="0" rtlCol="0" anchor="ctr"/>
          <a:lstStyle/>
          <a:p>
            <a:pPr indent="0" marL="0">
              <a:lnSpc>
                <a:spcPts val="1700"/>
              </a:lnSpc>
              <a:buNone/>
            </a:pPr>
            <a:r>
              <a:rPr lang="en-US" sz="1550" b="1" dirty="0">
                <a:solidFill>
                  <a:srgbClr val="17282B"/>
                </a:solidFill>
                <a:latin typeface="Arial" pitchFamily="34" charset="0"/>
                <a:ea typeface="Arial" pitchFamily="34" charset="-122"/>
                <a:cs typeface="Arial" pitchFamily="34" charset="-120"/>
              </a:rPr>
              <a:t>Thanh toán quét mã QR</a:t>
            </a:r>
            <a:endParaRPr lang="en-US" sz="1550" dirty="0"/>
          </a:p>
        </p:txBody>
      </p:sp>
      <p:sp>
        <p:nvSpPr>
          <p:cNvPr id="11" name="Text 7"/>
          <p:cNvSpPr txBox="1"/>
          <p:nvPr/>
        </p:nvSpPr>
        <p:spPr>
          <a:xfrm>
            <a:off x="987552" y="2103120"/>
            <a:ext cx="4677156" cy="1303020"/>
          </a:xfrm>
          <a:prstGeom prst="rect">
            <a:avLst/>
          </a:prstGeom>
          <a:noFill/>
          <a:ln/>
        </p:spPr>
        <p:txBody>
          <a:bodyPr wrap="square" lIns="0" tIns="0" rIns="0" bIns="0" rtlCol="0" anchor="t"/>
          <a:lstStyle/>
          <a:p>
            <a:pPr indent="0" marL="0">
              <a:lnSpc>
                <a:spcPts val="1600"/>
              </a:lnSpc>
              <a:buNone/>
            </a:pPr>
            <a:r>
              <a:rPr lang="en-US" sz="1300" dirty="0">
                <a:solidFill>
                  <a:srgbClr val="5C7378"/>
                </a:solidFill>
                <a:latin typeface="Arial" pitchFamily="34" charset="0"/>
                <a:ea typeface="Arial" pitchFamily="34" charset="-122"/>
                <a:cs typeface="Arial" pitchFamily="34" charset="-120"/>
              </a:rPr>
              <a:t>Mua hàng, chuyển tiền không cần tiền mặt.</a:t>
            </a:r>
            <a:endParaRPr lang="en-US" sz="1300" dirty="0"/>
          </a:p>
        </p:txBody>
      </p:sp>
      <p:sp>
        <p:nvSpPr>
          <p:cNvPr id="12" name="Shape 8"/>
          <p:cNvSpPr/>
          <p:nvPr/>
        </p:nvSpPr>
        <p:spPr>
          <a:xfrm>
            <a:off x="6240780" y="1234440"/>
            <a:ext cx="5189220" cy="2354580"/>
          </a:xfrm>
          <a:prstGeom prst="roundRect">
            <a:avLst>
              <a:gd name="adj" fmla="val 3107"/>
            </a:avLst>
          </a:prstGeom>
          <a:solidFill>
            <a:srgbClr val="EEF5F5"/>
          </a:solidFill>
          <a:ln w="12700">
            <a:solidFill>
              <a:srgbClr val="D6E6E6"/>
            </a:solidFill>
            <a:prstDash val="solid"/>
          </a:ln>
        </p:spPr>
      </p:sp>
      <p:sp>
        <p:nvSpPr>
          <p:cNvPr id="13" name="Shape 9"/>
          <p:cNvSpPr/>
          <p:nvPr/>
        </p:nvSpPr>
        <p:spPr>
          <a:xfrm>
            <a:off x="6496812" y="1472184"/>
            <a:ext cx="457200" cy="457200"/>
          </a:xfrm>
          <a:prstGeom prst="ellipse">
            <a:avLst/>
          </a:prstGeom>
          <a:solidFill>
            <a:srgbClr val="F2A93B"/>
          </a:solidFill>
          <a:ln/>
        </p:spPr>
      </p:sp>
      <p:pic>
        <p:nvPicPr>
          <p:cNvPr id="14" name="Image 2" descr="/home/claude/aichuyendoiso2/assets/icons/cart_0B3B45.png">    </p:cNvPr>
          <p:cNvPicPr>
            <a:picLocks noChangeAspect="1"/>
          </p:cNvPicPr>
          <p:nvPr/>
        </p:nvPicPr>
        <p:blipFill>
          <a:blip r:embed="rId4"/>
          <a:stretch>
            <a:fillRect/>
          </a:stretch>
        </p:blipFill>
        <p:spPr>
          <a:xfrm>
            <a:off x="6620256" y="1595628"/>
            <a:ext cx="210312" cy="210312"/>
          </a:xfrm>
          <a:prstGeom prst="rect">
            <a:avLst/>
          </a:prstGeom>
        </p:spPr>
      </p:pic>
      <p:sp>
        <p:nvSpPr>
          <p:cNvPr id="15" name="Text 10"/>
          <p:cNvSpPr txBox="1"/>
          <p:nvPr/>
        </p:nvSpPr>
        <p:spPr>
          <a:xfrm>
            <a:off x="7109460" y="1417320"/>
            <a:ext cx="4137660" cy="548640"/>
          </a:xfrm>
          <a:prstGeom prst="rect">
            <a:avLst/>
          </a:prstGeom>
          <a:noFill/>
          <a:ln/>
        </p:spPr>
        <p:txBody>
          <a:bodyPr wrap="square" lIns="0" tIns="0" rIns="0" bIns="0" rtlCol="0" anchor="ctr"/>
          <a:lstStyle/>
          <a:p>
            <a:pPr indent="0" marL="0">
              <a:lnSpc>
                <a:spcPts val="1700"/>
              </a:lnSpc>
              <a:buNone/>
            </a:pPr>
            <a:r>
              <a:rPr lang="en-US" sz="1550" b="1" dirty="0">
                <a:solidFill>
                  <a:srgbClr val="17282B"/>
                </a:solidFill>
                <a:latin typeface="Arial" pitchFamily="34" charset="0"/>
                <a:ea typeface="Arial" pitchFamily="34" charset="-122"/>
                <a:cs typeface="Arial" pitchFamily="34" charset="-120"/>
              </a:rPr>
              <a:t>Bán hàng online</a:t>
            </a:r>
            <a:endParaRPr lang="en-US" sz="1550" dirty="0"/>
          </a:p>
        </p:txBody>
      </p:sp>
      <p:sp>
        <p:nvSpPr>
          <p:cNvPr id="16" name="Text 11"/>
          <p:cNvSpPr txBox="1"/>
          <p:nvPr/>
        </p:nvSpPr>
        <p:spPr>
          <a:xfrm>
            <a:off x="6496812" y="2103120"/>
            <a:ext cx="4677156" cy="1303020"/>
          </a:xfrm>
          <a:prstGeom prst="rect">
            <a:avLst/>
          </a:prstGeom>
          <a:noFill/>
          <a:ln/>
        </p:spPr>
        <p:txBody>
          <a:bodyPr wrap="square" lIns="0" tIns="0" rIns="0" bIns="0" rtlCol="0" anchor="t"/>
          <a:lstStyle/>
          <a:p>
            <a:pPr indent="0" marL="0">
              <a:lnSpc>
                <a:spcPts val="1600"/>
              </a:lnSpc>
              <a:buNone/>
            </a:pPr>
            <a:r>
              <a:rPr lang="en-US" sz="1300" dirty="0">
                <a:solidFill>
                  <a:srgbClr val="5C7378"/>
                </a:solidFill>
                <a:latin typeface="Arial" pitchFamily="34" charset="0"/>
                <a:ea typeface="Arial" pitchFamily="34" charset="-122"/>
                <a:cs typeface="Arial" pitchFamily="34" charset="-120"/>
              </a:rPr>
              <a:t>Shopee, Facebook, TikTok Shop — bán không cần cửa hàng.</a:t>
            </a:r>
            <a:endParaRPr lang="en-US" sz="1300" dirty="0"/>
          </a:p>
        </p:txBody>
      </p:sp>
      <p:sp>
        <p:nvSpPr>
          <p:cNvPr id="17" name="Shape 12"/>
          <p:cNvSpPr/>
          <p:nvPr/>
        </p:nvSpPr>
        <p:spPr>
          <a:xfrm>
            <a:off x="731520" y="3909060"/>
            <a:ext cx="5189220" cy="2354580"/>
          </a:xfrm>
          <a:prstGeom prst="roundRect">
            <a:avLst>
              <a:gd name="adj" fmla="val 3107"/>
            </a:avLst>
          </a:prstGeom>
          <a:solidFill>
            <a:srgbClr val="EEF5F5"/>
          </a:solidFill>
          <a:ln w="12700">
            <a:solidFill>
              <a:srgbClr val="D6E6E6"/>
            </a:solidFill>
            <a:prstDash val="solid"/>
          </a:ln>
        </p:spPr>
      </p:sp>
      <p:sp>
        <p:nvSpPr>
          <p:cNvPr id="18" name="Shape 13"/>
          <p:cNvSpPr/>
          <p:nvPr/>
        </p:nvSpPr>
        <p:spPr>
          <a:xfrm>
            <a:off x="987552" y="4146804"/>
            <a:ext cx="457200" cy="457200"/>
          </a:xfrm>
          <a:prstGeom prst="ellipse">
            <a:avLst/>
          </a:prstGeom>
          <a:solidFill>
            <a:srgbClr val="F2A93B"/>
          </a:solidFill>
          <a:ln/>
        </p:spPr>
      </p:sp>
      <p:pic>
        <p:nvPicPr>
          <p:cNvPr id="19" name="Image 3" descr="/home/claude/aichuyendoiso2/assets/icons/mobile_0B3B45.png">    </p:cNvPr>
          <p:cNvPicPr>
            <a:picLocks noChangeAspect="1"/>
          </p:cNvPicPr>
          <p:nvPr/>
        </p:nvPicPr>
        <p:blipFill>
          <a:blip r:embed="rId5"/>
          <a:stretch>
            <a:fillRect/>
          </a:stretch>
        </p:blipFill>
        <p:spPr>
          <a:xfrm>
            <a:off x="1110996" y="4270248"/>
            <a:ext cx="210312" cy="210312"/>
          </a:xfrm>
          <a:prstGeom prst="rect">
            <a:avLst/>
          </a:prstGeom>
        </p:spPr>
      </p:pic>
      <p:sp>
        <p:nvSpPr>
          <p:cNvPr id="20" name="Text 14"/>
          <p:cNvSpPr txBox="1"/>
          <p:nvPr/>
        </p:nvSpPr>
        <p:spPr>
          <a:xfrm>
            <a:off x="1600200" y="4091940"/>
            <a:ext cx="4137660" cy="548640"/>
          </a:xfrm>
          <a:prstGeom prst="rect">
            <a:avLst/>
          </a:prstGeom>
          <a:noFill/>
          <a:ln/>
        </p:spPr>
        <p:txBody>
          <a:bodyPr wrap="square" lIns="0" tIns="0" rIns="0" bIns="0" rtlCol="0" anchor="ctr"/>
          <a:lstStyle/>
          <a:p>
            <a:pPr indent="0" marL="0">
              <a:lnSpc>
                <a:spcPts val="1700"/>
              </a:lnSpc>
              <a:buNone/>
            </a:pPr>
            <a:r>
              <a:rPr lang="en-US" sz="1550" b="1" dirty="0">
                <a:solidFill>
                  <a:srgbClr val="17282B"/>
                </a:solidFill>
                <a:latin typeface="Arial" pitchFamily="34" charset="0"/>
                <a:ea typeface="Arial" pitchFamily="34" charset="-122"/>
                <a:cs typeface="Arial" pitchFamily="34" charset="-120"/>
              </a:rPr>
              <a:t>Khám bệnh, đặt lịch qua app</a:t>
            </a:r>
            <a:endParaRPr lang="en-US" sz="1550" dirty="0"/>
          </a:p>
        </p:txBody>
      </p:sp>
      <p:sp>
        <p:nvSpPr>
          <p:cNvPr id="21" name="Text 15"/>
          <p:cNvSpPr txBox="1"/>
          <p:nvPr/>
        </p:nvSpPr>
        <p:spPr>
          <a:xfrm>
            <a:off x="987552" y="4777740"/>
            <a:ext cx="4677156" cy="1303020"/>
          </a:xfrm>
          <a:prstGeom prst="rect">
            <a:avLst/>
          </a:prstGeom>
          <a:noFill/>
          <a:ln/>
        </p:spPr>
        <p:txBody>
          <a:bodyPr wrap="square" lIns="0" tIns="0" rIns="0" bIns="0" rtlCol="0" anchor="t"/>
          <a:lstStyle/>
          <a:p>
            <a:pPr indent="0" marL="0">
              <a:lnSpc>
                <a:spcPts val="1600"/>
              </a:lnSpc>
              <a:buNone/>
            </a:pPr>
            <a:r>
              <a:rPr lang="en-US" sz="1300" dirty="0">
                <a:solidFill>
                  <a:srgbClr val="5C7378"/>
                </a:solidFill>
                <a:latin typeface="Arial" pitchFamily="34" charset="0"/>
                <a:ea typeface="Arial" pitchFamily="34" charset="-122"/>
                <a:cs typeface="Arial" pitchFamily="34" charset="-120"/>
              </a:rPr>
              <a:t>Đặt lịch khám, tư vấn sức khỏe từ xa.</a:t>
            </a:r>
            <a:endParaRPr lang="en-US" sz="1300" dirty="0"/>
          </a:p>
        </p:txBody>
      </p:sp>
      <p:sp>
        <p:nvSpPr>
          <p:cNvPr id="22" name="Shape 16"/>
          <p:cNvSpPr/>
          <p:nvPr/>
        </p:nvSpPr>
        <p:spPr>
          <a:xfrm>
            <a:off x="6240780" y="3909060"/>
            <a:ext cx="5189220" cy="2354580"/>
          </a:xfrm>
          <a:prstGeom prst="roundRect">
            <a:avLst>
              <a:gd name="adj" fmla="val 3107"/>
            </a:avLst>
          </a:prstGeom>
          <a:solidFill>
            <a:srgbClr val="EEF5F5"/>
          </a:solidFill>
          <a:ln w="12700">
            <a:solidFill>
              <a:srgbClr val="D6E6E6"/>
            </a:solidFill>
            <a:prstDash val="solid"/>
          </a:ln>
        </p:spPr>
      </p:sp>
      <p:sp>
        <p:nvSpPr>
          <p:cNvPr id="23" name="Shape 17"/>
          <p:cNvSpPr/>
          <p:nvPr/>
        </p:nvSpPr>
        <p:spPr>
          <a:xfrm>
            <a:off x="6496812" y="4146804"/>
            <a:ext cx="457200" cy="457200"/>
          </a:xfrm>
          <a:prstGeom prst="ellipse">
            <a:avLst/>
          </a:prstGeom>
          <a:solidFill>
            <a:srgbClr val="F2A93B"/>
          </a:solidFill>
          <a:ln/>
        </p:spPr>
      </p:sp>
      <p:pic>
        <p:nvPicPr>
          <p:cNvPr id="24" name="Image 4" descr="/home/claude/aichuyendoiso2/assets/icons/graduationcap_0B3B45.png">    </p:cNvPr>
          <p:cNvPicPr>
            <a:picLocks noChangeAspect="1"/>
          </p:cNvPicPr>
          <p:nvPr/>
        </p:nvPicPr>
        <p:blipFill>
          <a:blip r:embed="rId6"/>
          <a:stretch>
            <a:fillRect/>
          </a:stretch>
        </p:blipFill>
        <p:spPr>
          <a:xfrm>
            <a:off x="6620256" y="4270248"/>
            <a:ext cx="210312" cy="210312"/>
          </a:xfrm>
          <a:prstGeom prst="rect">
            <a:avLst/>
          </a:prstGeom>
        </p:spPr>
      </p:pic>
      <p:sp>
        <p:nvSpPr>
          <p:cNvPr id="25" name="Text 18"/>
          <p:cNvSpPr txBox="1"/>
          <p:nvPr/>
        </p:nvSpPr>
        <p:spPr>
          <a:xfrm>
            <a:off x="7109460" y="4091940"/>
            <a:ext cx="4137660" cy="548640"/>
          </a:xfrm>
          <a:prstGeom prst="rect">
            <a:avLst/>
          </a:prstGeom>
          <a:noFill/>
          <a:ln/>
        </p:spPr>
        <p:txBody>
          <a:bodyPr wrap="square" lIns="0" tIns="0" rIns="0" bIns="0" rtlCol="0" anchor="ctr"/>
          <a:lstStyle/>
          <a:p>
            <a:pPr indent="0" marL="0">
              <a:lnSpc>
                <a:spcPts val="1700"/>
              </a:lnSpc>
              <a:buNone/>
            </a:pPr>
            <a:r>
              <a:rPr lang="en-US" sz="1550" b="1" dirty="0">
                <a:solidFill>
                  <a:srgbClr val="17282B"/>
                </a:solidFill>
                <a:latin typeface="Arial" pitchFamily="34" charset="0"/>
                <a:ea typeface="Arial" pitchFamily="34" charset="-122"/>
                <a:cs typeface="Arial" pitchFamily="34" charset="-120"/>
              </a:rPr>
              <a:t>Học bạ điện tử, hồ sơ online</a:t>
            </a:r>
            <a:endParaRPr lang="en-US" sz="1550" dirty="0"/>
          </a:p>
        </p:txBody>
      </p:sp>
      <p:sp>
        <p:nvSpPr>
          <p:cNvPr id="26" name="Text 19"/>
          <p:cNvSpPr txBox="1"/>
          <p:nvPr/>
        </p:nvSpPr>
        <p:spPr>
          <a:xfrm>
            <a:off x="6496812" y="4777740"/>
            <a:ext cx="4677156" cy="1303020"/>
          </a:xfrm>
          <a:prstGeom prst="rect">
            <a:avLst/>
          </a:prstGeom>
          <a:noFill/>
          <a:ln/>
        </p:spPr>
        <p:txBody>
          <a:bodyPr wrap="square" lIns="0" tIns="0" rIns="0" bIns="0" rtlCol="0" anchor="t"/>
          <a:lstStyle/>
          <a:p>
            <a:pPr indent="0" marL="0">
              <a:lnSpc>
                <a:spcPts val="1600"/>
              </a:lnSpc>
              <a:buNone/>
            </a:pPr>
            <a:r>
              <a:rPr lang="en-US" sz="1300" dirty="0">
                <a:solidFill>
                  <a:srgbClr val="5C7378"/>
                </a:solidFill>
                <a:latin typeface="Arial" pitchFamily="34" charset="0"/>
                <a:ea typeface="Arial" pitchFamily="34" charset="-122"/>
                <a:cs typeface="Arial" pitchFamily="34" charset="-120"/>
              </a:rPr>
              <a:t>Nộp hồ sơ nhập học, xem điểm trên mạng.</a:t>
            </a:r>
            <a:endParaRPr lang="en-US" sz="13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347472"/>
            <a:ext cx="457200" cy="457200"/>
          </a:xfrm>
          <a:prstGeom prst="ellipse">
            <a:avLst/>
          </a:prstGeom>
          <a:solidFill>
            <a:srgbClr val="127C82"/>
          </a:solidFill>
          <a:ln/>
        </p:spPr>
      </p:sp>
      <p:pic>
        <p:nvPicPr>
          <p:cNvPr id="3" name="Image 0" descr="/home/claude/aichuyendoiso2/assets/icons/rotate_FFFFFF.png">    </p:cNvPr>
          <p:cNvPicPr>
            <a:picLocks noChangeAspect="1"/>
          </p:cNvPicPr>
          <p:nvPr/>
        </p:nvPicPr>
        <p:blipFill>
          <a:blip r:embed="rId2"/>
          <a:stretch>
            <a:fillRect/>
          </a:stretch>
        </p:blipFill>
        <p:spPr>
          <a:xfrm>
            <a:off x="580644" y="470916"/>
            <a:ext cx="210312" cy="210312"/>
          </a:xfrm>
          <a:prstGeom prst="rect">
            <a:avLst/>
          </a:prstGeom>
        </p:spPr>
      </p:pic>
      <p:sp>
        <p:nvSpPr>
          <p:cNvPr id="4" name="Text 1"/>
          <p:cNvSpPr txBox="1"/>
          <p:nvPr/>
        </p:nvSpPr>
        <p:spPr>
          <a:xfrm>
            <a:off x="1051560" y="301752"/>
            <a:ext cx="10607040" cy="566928"/>
          </a:xfrm>
          <a:prstGeom prst="rect">
            <a:avLst/>
          </a:prstGeom>
          <a:noFill/>
          <a:ln/>
        </p:spPr>
        <p:txBody>
          <a:bodyPr wrap="square" lIns="0" tIns="0" rIns="0" bIns="0" rtlCol="0" anchor="ctr"/>
          <a:lstStyle/>
          <a:p>
            <a:pPr indent="0" marL="0">
              <a:buNone/>
            </a:pPr>
            <a:r>
              <a:rPr lang="en-US" sz="2600" b="1" dirty="0">
                <a:solidFill>
                  <a:srgbClr val="0B5257"/>
                </a:solidFill>
                <a:latin typeface="Arial" pitchFamily="34" charset="0"/>
                <a:ea typeface="Arial" pitchFamily="34" charset="-122"/>
                <a:cs typeface="Arial" pitchFamily="34" charset="-120"/>
              </a:rPr>
              <a:t>Vai Trò Của AI Và Chuyển Đổi Số Với Nghề Nghiệp</a:t>
            </a:r>
            <a:endParaRPr lang="en-US" sz="2600" dirty="0"/>
          </a:p>
        </p:txBody>
      </p:sp>
      <p:sp>
        <p:nvSpPr>
          <p:cNvPr id="5" name="Text 2"/>
          <p:cNvSpPr txBox="1"/>
          <p:nvPr/>
        </p:nvSpPr>
        <p:spPr>
          <a:xfrm>
            <a:off x="457200" y="6492240"/>
            <a:ext cx="7315200" cy="274320"/>
          </a:xfrm>
          <a:prstGeom prst="rect">
            <a:avLst/>
          </a:prstGeom>
          <a:noFill/>
          <a:ln/>
        </p:spPr>
        <p:txBody>
          <a:bodyPr wrap="square" lIns="0" tIns="0" rIns="0" bIns="0" rtlCol="0" anchor="ctr"/>
          <a:lstStyle/>
          <a:p>
            <a:pPr algn="l" indent="0" marL="0">
              <a:buNone/>
            </a:pPr>
            <a:r>
              <a:rPr lang="en-US" sz="1000" dirty="0">
                <a:solidFill>
                  <a:srgbClr val="5C7378"/>
                </a:solidFill>
                <a:latin typeface="Arial" pitchFamily="34" charset="0"/>
                <a:ea typeface="Arial" pitchFamily="34" charset="-122"/>
                <a:cs typeface="Arial" pitchFamily="34" charset="-120"/>
              </a:rPr>
              <a:t>Phần 2 · Chuyển đổi số &amp; cơ hội nghề</a:t>
            </a:r>
            <a:endParaRPr lang="en-US" sz="1000" dirty="0"/>
          </a:p>
        </p:txBody>
      </p:sp>
      <p:sp>
        <p:nvSpPr>
          <p:cNvPr id="6" name="Text 3"/>
          <p:cNvSpPr txBox="1"/>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C7378"/>
                </a:solidFill>
                <a:latin typeface="Arial" pitchFamily="34" charset="0"/>
                <a:ea typeface="Arial" pitchFamily="34" charset="-122"/>
                <a:cs typeface="Arial" pitchFamily="34" charset="-120"/>
              </a:rPr>
              <a:t>12</a:t>
            </a:r>
            <a:endParaRPr lang="en-US" sz="1000" dirty="0"/>
          </a:p>
        </p:txBody>
      </p:sp>
      <p:sp>
        <p:nvSpPr>
          <p:cNvPr id="7" name="Shape 4"/>
          <p:cNvSpPr/>
          <p:nvPr/>
        </p:nvSpPr>
        <p:spPr>
          <a:xfrm>
            <a:off x="731520" y="1335024"/>
            <a:ext cx="10698480" cy="1414272"/>
          </a:xfrm>
          <a:prstGeom prst="roundRect">
            <a:avLst>
              <a:gd name="adj" fmla="val 5172"/>
            </a:avLst>
          </a:prstGeom>
          <a:solidFill>
            <a:srgbClr val="EEF5F5"/>
          </a:solidFill>
          <a:ln w="12700">
            <a:solidFill>
              <a:srgbClr val="D6E6E6"/>
            </a:solidFill>
            <a:prstDash val="solid"/>
          </a:ln>
        </p:spPr>
      </p:sp>
      <p:sp>
        <p:nvSpPr>
          <p:cNvPr id="8" name="Shape 5"/>
          <p:cNvSpPr/>
          <p:nvPr/>
        </p:nvSpPr>
        <p:spPr>
          <a:xfrm>
            <a:off x="960120" y="1776984"/>
            <a:ext cx="512064" cy="512064"/>
          </a:xfrm>
          <a:prstGeom prst="ellipse">
            <a:avLst/>
          </a:prstGeom>
          <a:solidFill>
            <a:srgbClr val="127C82"/>
          </a:solidFill>
          <a:ln/>
        </p:spPr>
      </p:sp>
      <p:pic>
        <p:nvPicPr>
          <p:cNvPr id="9" name="Image 1" descr="/home/claude/aichuyendoiso2/assets/icons/briefcase_FFFFFF.png">    </p:cNvPr>
          <p:cNvPicPr>
            <a:picLocks noChangeAspect="1"/>
          </p:cNvPicPr>
          <p:nvPr/>
        </p:nvPicPr>
        <p:blipFill>
          <a:blip r:embed="rId3"/>
          <a:stretch>
            <a:fillRect/>
          </a:stretch>
        </p:blipFill>
        <p:spPr>
          <a:xfrm>
            <a:off x="1098377" y="1915241"/>
            <a:ext cx="235549" cy="235549"/>
          </a:xfrm>
          <a:prstGeom prst="rect">
            <a:avLst/>
          </a:prstGeom>
        </p:spPr>
      </p:pic>
      <p:sp>
        <p:nvSpPr>
          <p:cNvPr id="10" name="Text 6"/>
          <p:cNvSpPr txBox="1"/>
          <p:nvPr/>
        </p:nvSpPr>
        <p:spPr>
          <a:xfrm>
            <a:off x="1691640" y="1408176"/>
            <a:ext cx="9509760" cy="1249680"/>
          </a:xfrm>
          <a:prstGeom prst="rect">
            <a:avLst/>
          </a:prstGeom>
          <a:noFill/>
          <a:ln/>
        </p:spPr>
        <p:txBody>
          <a:bodyPr wrap="square" lIns="0" tIns="0" rIns="0" bIns="0" rtlCol="0" anchor="ctr"/>
          <a:lstStyle/>
          <a:p>
            <a:pPr indent="0" marL="0">
              <a:lnSpc>
                <a:spcPts val="1900"/>
              </a:lnSpc>
              <a:buNone/>
            </a:pPr>
            <a:r>
              <a:rPr lang="en-US" sz="1500" dirty="0">
                <a:solidFill>
                  <a:srgbClr val="17282B"/>
                </a:solidFill>
                <a:latin typeface="Arial" pitchFamily="34" charset="0"/>
                <a:ea typeface="Arial" pitchFamily="34" charset="-122"/>
                <a:cs typeface="Arial" pitchFamily="34" charset="-120"/>
              </a:rPr>
              <a:t>Doanh nghiệp, xưởng, cửa hàng ngày càng dùng công cụ số → biết dùng là có lợi thế khi xin việc.</a:t>
            </a:r>
            <a:endParaRPr lang="en-US" sz="1500" dirty="0"/>
          </a:p>
        </p:txBody>
      </p:sp>
      <p:sp>
        <p:nvSpPr>
          <p:cNvPr id="11" name="Shape 7"/>
          <p:cNvSpPr/>
          <p:nvPr/>
        </p:nvSpPr>
        <p:spPr>
          <a:xfrm>
            <a:off x="731520" y="2950464"/>
            <a:ext cx="10698480" cy="1414272"/>
          </a:xfrm>
          <a:prstGeom prst="roundRect">
            <a:avLst>
              <a:gd name="adj" fmla="val 5172"/>
            </a:avLst>
          </a:prstGeom>
          <a:solidFill>
            <a:srgbClr val="EEF5F5"/>
          </a:solidFill>
          <a:ln w="12700">
            <a:solidFill>
              <a:srgbClr val="D6E6E6"/>
            </a:solidFill>
            <a:prstDash val="solid"/>
          </a:ln>
        </p:spPr>
      </p:sp>
      <p:sp>
        <p:nvSpPr>
          <p:cNvPr id="12" name="Shape 8"/>
          <p:cNvSpPr/>
          <p:nvPr/>
        </p:nvSpPr>
        <p:spPr>
          <a:xfrm>
            <a:off x="960120" y="3392424"/>
            <a:ext cx="512064" cy="512064"/>
          </a:xfrm>
          <a:prstGeom prst="ellipse">
            <a:avLst/>
          </a:prstGeom>
          <a:solidFill>
            <a:srgbClr val="127C82"/>
          </a:solidFill>
          <a:ln/>
        </p:spPr>
      </p:sp>
      <p:pic>
        <p:nvPicPr>
          <p:cNvPr id="13" name="Image 2" descr="/home/claude/aichuyendoiso2/assets/icons/chartline_FFFFFF.png">    </p:cNvPr>
          <p:cNvPicPr>
            <a:picLocks noChangeAspect="1"/>
          </p:cNvPicPr>
          <p:nvPr/>
        </p:nvPicPr>
        <p:blipFill>
          <a:blip r:embed="rId4"/>
          <a:stretch>
            <a:fillRect/>
          </a:stretch>
        </p:blipFill>
        <p:spPr>
          <a:xfrm>
            <a:off x="1098377" y="3530681"/>
            <a:ext cx="235549" cy="235549"/>
          </a:xfrm>
          <a:prstGeom prst="rect">
            <a:avLst/>
          </a:prstGeom>
        </p:spPr>
      </p:pic>
      <p:sp>
        <p:nvSpPr>
          <p:cNvPr id="14" name="Text 9"/>
          <p:cNvSpPr txBox="1"/>
          <p:nvPr/>
        </p:nvSpPr>
        <p:spPr>
          <a:xfrm>
            <a:off x="1691640" y="3023616"/>
            <a:ext cx="9509760" cy="1249680"/>
          </a:xfrm>
          <a:prstGeom prst="rect">
            <a:avLst/>
          </a:prstGeom>
          <a:noFill/>
          <a:ln/>
        </p:spPr>
        <p:txBody>
          <a:bodyPr wrap="square" lIns="0" tIns="0" rIns="0" bIns="0" rtlCol="0" anchor="ctr"/>
          <a:lstStyle/>
          <a:p>
            <a:pPr indent="0" marL="0">
              <a:lnSpc>
                <a:spcPts val="1900"/>
              </a:lnSpc>
              <a:buNone/>
            </a:pPr>
            <a:r>
              <a:rPr lang="en-US" sz="1500" dirty="0">
                <a:solidFill>
                  <a:srgbClr val="17282B"/>
                </a:solidFill>
                <a:latin typeface="Arial" pitchFamily="34" charset="0"/>
                <a:ea typeface="Arial" pitchFamily="34" charset="-122"/>
                <a:cs typeface="Arial" pitchFamily="34" charset="-120"/>
              </a:rPr>
              <a:t>Dùng AI, công cụ số đúng cách giúp làm việc nhanh hơn, chính xác hơn, đỡ tốn công sức.</a:t>
            </a:r>
            <a:endParaRPr lang="en-US" sz="1500" dirty="0"/>
          </a:p>
        </p:txBody>
      </p:sp>
      <p:sp>
        <p:nvSpPr>
          <p:cNvPr id="15" name="Shape 10"/>
          <p:cNvSpPr/>
          <p:nvPr/>
        </p:nvSpPr>
        <p:spPr>
          <a:xfrm>
            <a:off x="731520" y="4565904"/>
            <a:ext cx="10698480" cy="1414272"/>
          </a:xfrm>
          <a:prstGeom prst="roundRect">
            <a:avLst>
              <a:gd name="adj" fmla="val 5172"/>
            </a:avLst>
          </a:prstGeom>
          <a:solidFill>
            <a:srgbClr val="EEF5F5"/>
          </a:solidFill>
          <a:ln w="12700">
            <a:solidFill>
              <a:srgbClr val="D6E6E6"/>
            </a:solidFill>
            <a:prstDash val="solid"/>
          </a:ln>
        </p:spPr>
      </p:sp>
      <p:sp>
        <p:nvSpPr>
          <p:cNvPr id="16" name="Shape 11"/>
          <p:cNvSpPr/>
          <p:nvPr/>
        </p:nvSpPr>
        <p:spPr>
          <a:xfrm>
            <a:off x="960120" y="5007864"/>
            <a:ext cx="512064" cy="512064"/>
          </a:xfrm>
          <a:prstGeom prst="ellipse">
            <a:avLst/>
          </a:prstGeom>
          <a:solidFill>
            <a:srgbClr val="127C82"/>
          </a:solidFill>
          <a:ln/>
        </p:spPr>
      </p:sp>
      <p:pic>
        <p:nvPicPr>
          <p:cNvPr id="17" name="Image 3" descr="/home/claude/aichuyendoiso2/assets/icons/triangleexclamation_FFFFFF.png">    </p:cNvPr>
          <p:cNvPicPr>
            <a:picLocks noChangeAspect="1"/>
          </p:cNvPicPr>
          <p:nvPr/>
        </p:nvPicPr>
        <p:blipFill>
          <a:blip r:embed="rId5"/>
          <a:stretch>
            <a:fillRect/>
          </a:stretch>
        </p:blipFill>
        <p:spPr>
          <a:xfrm>
            <a:off x="1098377" y="5146121"/>
            <a:ext cx="235549" cy="235549"/>
          </a:xfrm>
          <a:prstGeom prst="rect">
            <a:avLst/>
          </a:prstGeom>
        </p:spPr>
      </p:pic>
      <p:sp>
        <p:nvSpPr>
          <p:cNvPr id="18" name="Text 12"/>
          <p:cNvSpPr txBox="1"/>
          <p:nvPr/>
        </p:nvSpPr>
        <p:spPr>
          <a:xfrm>
            <a:off x="1691640" y="4639056"/>
            <a:ext cx="9509760" cy="1249680"/>
          </a:xfrm>
          <a:prstGeom prst="rect">
            <a:avLst/>
          </a:prstGeom>
          <a:noFill/>
          <a:ln/>
        </p:spPr>
        <p:txBody>
          <a:bodyPr wrap="square" lIns="0" tIns="0" rIns="0" bIns="0" rtlCol="0" anchor="ctr"/>
          <a:lstStyle/>
          <a:p>
            <a:pPr indent="0" marL="0">
              <a:lnSpc>
                <a:spcPts val="1900"/>
              </a:lnSpc>
              <a:buNone/>
            </a:pPr>
            <a:r>
              <a:rPr lang="en-US" sz="1500" dirty="0">
                <a:solidFill>
                  <a:srgbClr val="17282B"/>
                </a:solidFill>
                <a:latin typeface="Arial" pitchFamily="34" charset="0"/>
                <a:ea typeface="Arial" pitchFamily="34" charset="-122"/>
                <a:cs typeface="Arial" pitchFamily="34" charset="-120"/>
              </a:rPr>
              <a:t>Người không biết dùng công cụ số sẽ ngày càng khó cạnh tranh trong công việc.</a:t>
            </a:r>
            <a:endParaRPr lang="en-US" sz="15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778240" y="-2011680"/>
            <a:ext cx="5486400" cy="5486400"/>
          </a:xfrm>
          <a:prstGeom prst="ellipse">
            <a:avLst/>
          </a:prstGeom>
          <a:solidFill>
            <a:srgbClr val="0F4B54"/>
          </a:solidFill>
          <a:ln/>
        </p:spPr>
      </p:sp>
      <p:sp>
        <p:nvSpPr>
          <p:cNvPr id="3" name="Text 1"/>
          <p:cNvSpPr txBox="1"/>
          <p:nvPr/>
        </p:nvSpPr>
        <p:spPr>
          <a:xfrm>
            <a:off x="640080" y="1051560"/>
            <a:ext cx="3840480" cy="2377440"/>
          </a:xfrm>
          <a:prstGeom prst="rect">
            <a:avLst/>
          </a:prstGeom>
          <a:noFill/>
          <a:ln/>
        </p:spPr>
        <p:txBody>
          <a:bodyPr wrap="square" lIns="0" tIns="0" rIns="0" bIns="0" rtlCol="0" anchor="ctr"/>
          <a:lstStyle/>
          <a:p>
            <a:pPr indent="0" marL="0">
              <a:buNone/>
            </a:pPr>
            <a:r>
              <a:rPr lang="en-US" sz="13000" b="1" dirty="0">
                <a:solidFill>
                  <a:srgbClr val="155A61"/>
                </a:solidFill>
                <a:latin typeface="Arial" pitchFamily="34" charset="0"/>
                <a:ea typeface="Arial" pitchFamily="34" charset="-122"/>
                <a:cs typeface="Arial" pitchFamily="34" charset="-120"/>
              </a:rPr>
              <a:t>03</a:t>
            </a:r>
            <a:endParaRPr lang="en-US" sz="13000" dirty="0"/>
          </a:p>
        </p:txBody>
      </p:sp>
      <p:sp>
        <p:nvSpPr>
          <p:cNvPr id="4" name="Shape 2"/>
          <p:cNvSpPr/>
          <p:nvPr/>
        </p:nvSpPr>
        <p:spPr>
          <a:xfrm>
            <a:off x="9738360" y="502920"/>
            <a:ext cx="1371600" cy="1371600"/>
          </a:xfrm>
          <a:prstGeom prst="ellipse">
            <a:avLst/>
          </a:prstGeom>
          <a:solidFill>
            <a:srgbClr val="F2A93B"/>
          </a:solidFill>
          <a:ln/>
        </p:spPr>
      </p:sp>
      <p:pic>
        <p:nvPicPr>
          <p:cNvPr id="5" name="Image 0" descr="/home/claude/aichuyendoiso2/assets/icons/comments_0B3B45.png">    </p:cNvPr>
          <p:cNvPicPr>
            <a:picLocks noChangeAspect="1"/>
          </p:cNvPicPr>
          <p:nvPr/>
        </p:nvPicPr>
        <p:blipFill>
          <a:blip r:embed="rId2"/>
          <a:stretch>
            <a:fillRect/>
          </a:stretch>
        </p:blipFill>
        <p:spPr>
          <a:xfrm>
            <a:off x="10108692" y="873252"/>
            <a:ext cx="630936" cy="630936"/>
          </a:xfrm>
          <a:prstGeom prst="rect">
            <a:avLst/>
          </a:prstGeom>
        </p:spPr>
      </p:pic>
      <p:sp>
        <p:nvSpPr>
          <p:cNvPr id="6" name="Text 3"/>
          <p:cNvSpPr txBox="1"/>
          <p:nvPr/>
        </p:nvSpPr>
        <p:spPr>
          <a:xfrm>
            <a:off x="777240" y="3246120"/>
            <a:ext cx="10241280" cy="1463040"/>
          </a:xfrm>
          <a:prstGeom prst="rect">
            <a:avLst/>
          </a:prstGeom>
          <a:noFill/>
          <a:ln/>
        </p:spPr>
        <p:txBody>
          <a:bodyPr wrap="square" lIns="0" tIns="0" rIns="0" bIns="0" rtlCol="0" anchor="ctr"/>
          <a:lstStyle/>
          <a:p>
            <a:pPr indent="0" marL="0">
              <a:lnSpc>
                <a:spcPts val="4000"/>
              </a:lnSpc>
              <a:buNone/>
            </a:pPr>
            <a:r>
              <a:rPr lang="en-US" sz="3600" b="1" dirty="0">
                <a:solidFill>
                  <a:srgbClr val="FFFFFF"/>
                </a:solidFill>
                <a:latin typeface="Arial" pitchFamily="34" charset="0"/>
                <a:ea typeface="Arial" pitchFamily="34" charset="-122"/>
                <a:cs typeface="Arial" pitchFamily="34" charset="-120"/>
              </a:rPr>
              <a:t>CÔNG CỤ AI MIỄN PHÍ</a:t>
            </a:r>
            <a:endParaRPr lang="en-US" sz="3600" dirty="0"/>
          </a:p>
          <a:p>
            <a:pPr indent="0" marL="0">
              <a:lnSpc>
                <a:spcPts val="4000"/>
              </a:lnSpc>
              <a:buNone/>
            </a:pPr>
            <a:r>
              <a:rPr lang="en-US" sz="3600" b="1" dirty="0">
                <a:solidFill>
                  <a:srgbClr val="FFFFFF"/>
                </a:solidFill>
                <a:latin typeface="Arial" pitchFamily="34" charset="0"/>
                <a:ea typeface="Arial" pitchFamily="34" charset="-122"/>
                <a:cs typeface="Arial" pitchFamily="34" charset="-120"/>
              </a:rPr>
              <a:t>VÀ CÁCH "NÓI CHUYỆN" VỚI AI</a:t>
            </a:r>
            <a:endParaRPr lang="en-US" sz="3600" dirty="0"/>
          </a:p>
        </p:txBody>
      </p:sp>
      <p:sp>
        <p:nvSpPr>
          <p:cNvPr id="7" name="Text 4"/>
          <p:cNvSpPr txBox="1"/>
          <p:nvPr/>
        </p:nvSpPr>
        <p:spPr>
          <a:xfrm>
            <a:off x="822960" y="4526280"/>
            <a:ext cx="9875520" cy="548640"/>
          </a:xfrm>
          <a:prstGeom prst="rect">
            <a:avLst/>
          </a:prstGeom>
          <a:noFill/>
          <a:ln/>
        </p:spPr>
        <p:txBody>
          <a:bodyPr wrap="square" lIns="0" tIns="0" rIns="0" bIns="0" rtlCol="0" anchor="ctr"/>
          <a:lstStyle/>
          <a:p>
            <a:pPr indent="0" marL="0">
              <a:buNone/>
            </a:pPr>
            <a:r>
              <a:rPr lang="en-US" sz="1600" b="1" dirty="0">
                <a:solidFill>
                  <a:srgbClr val="F2A93B"/>
                </a:solidFill>
                <a:latin typeface="Arial" pitchFamily="34" charset="0"/>
                <a:ea typeface="Arial" pitchFamily="34" charset="-122"/>
                <a:cs typeface="Arial" pitchFamily="34" charset="-120"/>
              </a:rPr>
              <a:t>Sử dụng miễn phí ngay trên điện thoại</a:t>
            </a:r>
            <a:endParaRPr lang="en-US" sz="1600" dirty="0"/>
          </a:p>
        </p:txBody>
      </p:sp>
      <p:sp>
        <p:nvSpPr>
          <p:cNvPr id="8" name="Text 5"/>
          <p:cNvSpPr txBox="1"/>
          <p:nvPr/>
        </p:nvSpPr>
        <p:spPr>
          <a:xfrm>
            <a:off x="457200" y="6492240"/>
            <a:ext cx="7315200" cy="274320"/>
          </a:xfrm>
          <a:prstGeom prst="rect">
            <a:avLst/>
          </a:prstGeom>
          <a:noFill/>
          <a:ln/>
        </p:spPr>
        <p:txBody>
          <a:bodyPr wrap="square" lIns="0" tIns="0" rIns="0" bIns="0" rtlCol="0" anchor="ctr"/>
          <a:lstStyle/>
          <a:p>
            <a:pPr algn="l" indent="0" marL="0">
              <a:buNone/>
            </a:pPr>
            <a:r>
              <a:rPr lang="en-US" sz="1000" dirty="0">
                <a:solidFill>
                  <a:srgbClr val="9FC2C6"/>
                </a:solidFill>
                <a:latin typeface="Arial" pitchFamily="34" charset="0"/>
                <a:ea typeface="Arial" pitchFamily="34" charset="-122"/>
                <a:cs typeface="Arial" pitchFamily="34" charset="-120"/>
              </a:rPr>
              <a:t>Chuyên đề: AI và chuyển đổi số</a:t>
            </a:r>
            <a:endParaRPr lang="en-US" sz="1000" dirty="0"/>
          </a:p>
        </p:txBody>
      </p:sp>
      <p:sp>
        <p:nvSpPr>
          <p:cNvPr id="9" name="Text 6"/>
          <p:cNvSpPr txBox="1"/>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9FC2C6"/>
                </a:solidFill>
                <a:latin typeface="Arial" pitchFamily="34" charset="0"/>
                <a:ea typeface="Arial" pitchFamily="34" charset="-122"/>
                <a:cs typeface="Arial" pitchFamily="34" charset="-120"/>
              </a:rPr>
              <a:t>13</a:t>
            </a:r>
            <a:endParaRPr lang="en-US" sz="1000" dirty="0"/>
          </a:p>
        </p:txBody>
      </p:sp>
    </p:spTree>
  </p:cSld>
  <p:clrMapOvr>
    <a:masterClrMapping/>
  </p:clrMapOvr>
  <p:transition spd="med">
    <p:push dir="l"/>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347472"/>
            <a:ext cx="457200" cy="457200"/>
          </a:xfrm>
          <a:prstGeom prst="ellipse">
            <a:avLst/>
          </a:prstGeom>
          <a:solidFill>
            <a:srgbClr val="127C82"/>
          </a:solidFill>
          <a:ln/>
        </p:spPr>
      </p:sp>
      <p:pic>
        <p:nvPicPr>
          <p:cNvPr id="3" name="Image 0" descr="/home/claude/aichuyendoiso2/assets/icons/comments_FFFFFF.png">    </p:cNvPr>
          <p:cNvPicPr>
            <a:picLocks noChangeAspect="1"/>
          </p:cNvPicPr>
          <p:nvPr/>
        </p:nvPicPr>
        <p:blipFill>
          <a:blip r:embed="rId2"/>
          <a:stretch>
            <a:fillRect/>
          </a:stretch>
        </p:blipFill>
        <p:spPr>
          <a:xfrm>
            <a:off x="580644" y="470916"/>
            <a:ext cx="210312" cy="210312"/>
          </a:xfrm>
          <a:prstGeom prst="rect">
            <a:avLst/>
          </a:prstGeom>
        </p:spPr>
      </p:pic>
      <p:sp>
        <p:nvSpPr>
          <p:cNvPr id="4" name="Text 1"/>
          <p:cNvSpPr txBox="1"/>
          <p:nvPr/>
        </p:nvSpPr>
        <p:spPr>
          <a:xfrm>
            <a:off x="1051560" y="301752"/>
            <a:ext cx="10607040" cy="566928"/>
          </a:xfrm>
          <a:prstGeom prst="rect">
            <a:avLst/>
          </a:prstGeom>
          <a:noFill/>
          <a:ln/>
        </p:spPr>
        <p:txBody>
          <a:bodyPr wrap="square" lIns="0" tIns="0" rIns="0" bIns="0" rtlCol="0" anchor="ctr"/>
          <a:lstStyle/>
          <a:p>
            <a:pPr indent="0" marL="0">
              <a:buNone/>
            </a:pPr>
            <a:r>
              <a:rPr lang="en-US" sz="2600" b="1" dirty="0">
                <a:solidFill>
                  <a:srgbClr val="0B5257"/>
                </a:solidFill>
                <a:latin typeface="Arial" pitchFamily="34" charset="0"/>
                <a:ea typeface="Arial" pitchFamily="34" charset="-122"/>
                <a:cs typeface="Arial" pitchFamily="34" charset="-120"/>
              </a:rPr>
              <a:t>Công Cụ AI Miễn Phí — Cài Đặt Qua Mã QR</a:t>
            </a:r>
            <a:endParaRPr lang="en-US" sz="2600" dirty="0"/>
          </a:p>
        </p:txBody>
      </p:sp>
      <p:sp>
        <p:nvSpPr>
          <p:cNvPr id="5" name="Text 2"/>
          <p:cNvSpPr txBox="1"/>
          <p:nvPr/>
        </p:nvSpPr>
        <p:spPr>
          <a:xfrm>
            <a:off x="457200" y="6492240"/>
            <a:ext cx="7315200" cy="274320"/>
          </a:xfrm>
          <a:prstGeom prst="rect">
            <a:avLst/>
          </a:prstGeom>
          <a:noFill/>
          <a:ln/>
        </p:spPr>
        <p:txBody>
          <a:bodyPr wrap="square" lIns="0" tIns="0" rIns="0" bIns="0" rtlCol="0" anchor="ctr"/>
          <a:lstStyle/>
          <a:p>
            <a:pPr algn="l" indent="0" marL="0">
              <a:buNone/>
            </a:pPr>
            <a:r>
              <a:rPr lang="en-US" sz="1000" dirty="0">
                <a:solidFill>
                  <a:srgbClr val="5C7378"/>
                </a:solidFill>
                <a:latin typeface="Arial" pitchFamily="34" charset="0"/>
                <a:ea typeface="Arial" pitchFamily="34" charset="-122"/>
                <a:cs typeface="Arial" pitchFamily="34" charset="-120"/>
              </a:rPr>
              <a:t>Phần 3 · Công cụ AI &amp; Prompt (Câu lệnh)</a:t>
            </a:r>
            <a:endParaRPr lang="en-US" sz="1000" dirty="0"/>
          </a:p>
        </p:txBody>
      </p:sp>
      <p:sp>
        <p:nvSpPr>
          <p:cNvPr id="6" name="Text 3"/>
          <p:cNvSpPr txBox="1"/>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C7378"/>
                </a:solidFill>
                <a:latin typeface="Arial" pitchFamily="34" charset="0"/>
                <a:ea typeface="Arial" pitchFamily="34" charset="-122"/>
                <a:cs typeface="Arial" pitchFamily="34" charset="-120"/>
              </a:rPr>
              <a:t>14</a:t>
            </a:r>
            <a:endParaRPr lang="en-US" sz="1000" dirty="0"/>
          </a:p>
        </p:txBody>
      </p:sp>
      <p:sp>
        <p:nvSpPr>
          <p:cNvPr id="7" name="Text 4"/>
          <p:cNvSpPr txBox="1"/>
          <p:nvPr/>
        </p:nvSpPr>
        <p:spPr>
          <a:xfrm>
            <a:off x="731520" y="1188720"/>
            <a:ext cx="10698480" cy="365760"/>
          </a:xfrm>
          <a:prstGeom prst="rect">
            <a:avLst/>
          </a:prstGeom>
          <a:noFill/>
          <a:ln/>
        </p:spPr>
        <p:txBody>
          <a:bodyPr wrap="square" lIns="0" tIns="0" rIns="0" bIns="0" rtlCol="0" anchor="ctr"/>
          <a:lstStyle/>
          <a:p>
            <a:pPr indent="0" marL="0">
              <a:buNone/>
            </a:pPr>
            <a:r>
              <a:rPr lang="en-US" sz="1400" i="1" dirty="0">
                <a:solidFill>
                  <a:srgbClr val="0B5257"/>
                </a:solidFill>
                <a:latin typeface="Arial" pitchFamily="34" charset="0"/>
                <a:ea typeface="Arial" pitchFamily="34" charset="-122"/>
                <a:cs typeface="Arial" pitchFamily="34" charset="-120"/>
              </a:rPr>
              <a:t>Tất cả đều có bản MIỄN PHÍ, dùng được ngay trên điện thoại. Lấy điện thoại ra, quét mã QR để mở trang chính thức:</a:t>
            </a:r>
            <a:endParaRPr lang="en-US" sz="1400" dirty="0"/>
          </a:p>
        </p:txBody>
      </p:sp>
      <p:sp>
        <p:nvSpPr>
          <p:cNvPr id="8" name="Shape 5"/>
          <p:cNvSpPr/>
          <p:nvPr/>
        </p:nvSpPr>
        <p:spPr>
          <a:xfrm>
            <a:off x="731520" y="1691640"/>
            <a:ext cx="10698480" cy="2162556"/>
          </a:xfrm>
          <a:prstGeom prst="roundRect">
            <a:avLst>
              <a:gd name="adj" fmla="val 3383"/>
            </a:avLst>
          </a:prstGeom>
          <a:solidFill>
            <a:srgbClr val="EEF5F5"/>
          </a:solidFill>
          <a:ln w="12700">
            <a:solidFill>
              <a:srgbClr val="D6E6E6"/>
            </a:solidFill>
            <a:prstDash val="solid"/>
          </a:ln>
        </p:spPr>
      </p:sp>
      <p:sp>
        <p:nvSpPr>
          <p:cNvPr id="9" name="Shape 6"/>
          <p:cNvSpPr/>
          <p:nvPr/>
        </p:nvSpPr>
        <p:spPr>
          <a:xfrm>
            <a:off x="932688" y="2516886"/>
            <a:ext cx="566928" cy="566928"/>
          </a:xfrm>
          <a:prstGeom prst="ellipse">
            <a:avLst/>
          </a:prstGeom>
          <a:solidFill>
            <a:srgbClr val="127C82"/>
          </a:solidFill>
          <a:ln/>
        </p:spPr>
      </p:sp>
      <p:pic>
        <p:nvPicPr>
          <p:cNvPr id="10" name="Image 1" descr="/home/claude/aichuyendoiso2/assets/icons/comments_FFFFFF.png">    </p:cNvPr>
          <p:cNvPicPr>
            <a:picLocks noChangeAspect="1"/>
          </p:cNvPicPr>
          <p:nvPr/>
        </p:nvPicPr>
        <p:blipFill>
          <a:blip r:embed="rId3"/>
          <a:stretch>
            <a:fillRect/>
          </a:stretch>
        </p:blipFill>
        <p:spPr>
          <a:xfrm>
            <a:off x="1085759" y="2669957"/>
            <a:ext cx="260787" cy="260787"/>
          </a:xfrm>
          <a:prstGeom prst="rect">
            <a:avLst/>
          </a:prstGeom>
        </p:spPr>
      </p:pic>
      <p:sp>
        <p:nvSpPr>
          <p:cNvPr id="11" name="Text 7"/>
          <p:cNvSpPr txBox="1"/>
          <p:nvPr/>
        </p:nvSpPr>
        <p:spPr>
          <a:xfrm>
            <a:off x="1691640" y="1755648"/>
            <a:ext cx="6035040" cy="365760"/>
          </a:xfrm>
          <a:prstGeom prst="rect">
            <a:avLst/>
          </a:prstGeom>
          <a:noFill/>
          <a:ln/>
        </p:spPr>
        <p:txBody>
          <a:bodyPr wrap="square" lIns="0" tIns="0" rIns="0" bIns="0" rtlCol="0" anchor="b"/>
          <a:lstStyle/>
          <a:p>
            <a:pPr indent="0" marL="0">
              <a:buNone/>
            </a:pPr>
            <a:r>
              <a:rPr lang="en-US" sz="1550" b="1" dirty="0">
                <a:solidFill>
                  <a:srgbClr val="17282B"/>
                </a:solidFill>
                <a:latin typeface="Arial" pitchFamily="34" charset="0"/>
                <a:ea typeface="Arial" pitchFamily="34" charset="-122"/>
                <a:cs typeface="Arial" pitchFamily="34" charset="-120"/>
              </a:rPr>
              <a:t>ChatGPT / Gemini</a:t>
            </a:r>
            <a:endParaRPr lang="en-US" sz="1550" dirty="0"/>
          </a:p>
        </p:txBody>
      </p:sp>
      <p:sp>
        <p:nvSpPr>
          <p:cNvPr id="12" name="Text 8"/>
          <p:cNvSpPr txBox="1"/>
          <p:nvPr/>
        </p:nvSpPr>
        <p:spPr>
          <a:xfrm>
            <a:off x="1691640" y="2103120"/>
            <a:ext cx="6035040" cy="1714500"/>
          </a:xfrm>
          <a:prstGeom prst="rect">
            <a:avLst/>
          </a:prstGeom>
          <a:noFill/>
          <a:ln/>
        </p:spPr>
        <p:txBody>
          <a:bodyPr wrap="square" lIns="0" tIns="0" rIns="0" bIns="0" rtlCol="0" anchor="t"/>
          <a:lstStyle/>
          <a:p>
            <a:pPr indent="0" marL="0">
              <a:lnSpc>
                <a:spcPts val="1500"/>
              </a:lnSpc>
              <a:buNone/>
            </a:pPr>
            <a:r>
              <a:rPr lang="en-US" sz="1250" dirty="0">
                <a:solidFill>
                  <a:srgbClr val="5C7378"/>
                </a:solidFill>
                <a:latin typeface="Arial" pitchFamily="34" charset="0"/>
                <a:ea typeface="Arial" pitchFamily="34" charset="-122"/>
                <a:cs typeface="Arial" pitchFamily="34" charset="-120"/>
              </a:rPr>
              <a:t>Hỏi đáp, viết, dịch, tính toán, tóm tắt.</a:t>
            </a:r>
            <a:endParaRPr lang="en-US" sz="1250" dirty="0"/>
          </a:p>
        </p:txBody>
      </p:sp>
      <p:pic>
        <p:nvPicPr>
          <p:cNvPr id="13" name="Image 2" descr="/home/claude/aichuyendoiso2/assets/qr_chatgpt.png">    </p:cNvPr>
          <p:cNvPicPr>
            <a:picLocks noChangeAspect="1"/>
          </p:cNvPicPr>
          <p:nvPr/>
        </p:nvPicPr>
        <p:blipFill>
          <a:blip r:embed="rId4"/>
          <a:stretch>
            <a:fillRect/>
          </a:stretch>
        </p:blipFill>
        <p:spPr>
          <a:xfrm>
            <a:off x="9784080" y="2366010"/>
            <a:ext cx="868680" cy="868680"/>
          </a:xfrm>
          <a:prstGeom prst="rect">
            <a:avLst/>
          </a:prstGeom>
        </p:spPr>
      </p:pic>
      <p:sp>
        <p:nvSpPr>
          <p:cNvPr id="14" name="Text 9"/>
          <p:cNvSpPr txBox="1"/>
          <p:nvPr/>
        </p:nvSpPr>
        <p:spPr>
          <a:xfrm>
            <a:off x="7680960" y="2599182"/>
            <a:ext cx="1965960" cy="402336"/>
          </a:xfrm>
          <a:prstGeom prst="rect">
            <a:avLst/>
          </a:prstGeom>
          <a:noFill/>
          <a:ln/>
        </p:spPr>
        <p:txBody>
          <a:bodyPr wrap="square" lIns="0" tIns="0" rIns="0" bIns="0" rtlCol="0" anchor="ctr"/>
          <a:lstStyle/>
          <a:p>
            <a:pPr algn="r" indent="0" marL="0">
              <a:lnSpc>
                <a:spcPts val="1300"/>
              </a:lnSpc>
              <a:buNone/>
            </a:pPr>
            <a:r>
              <a:rPr lang="en-US" sz="1150" i="1" dirty="0">
                <a:solidFill>
                  <a:srgbClr val="0B5257"/>
                </a:solidFill>
                <a:latin typeface="Arial" pitchFamily="34" charset="0"/>
                <a:ea typeface="Arial" pitchFamily="34" charset="-122"/>
                <a:cs typeface="Arial" pitchFamily="34" charset="-120"/>
              </a:rPr>
              <a:t>chatgpt.com</a:t>
            </a:r>
            <a:endParaRPr lang="en-US" sz="1150" dirty="0"/>
          </a:p>
        </p:txBody>
      </p:sp>
      <p:sp>
        <p:nvSpPr>
          <p:cNvPr id="15" name="Shape 10"/>
          <p:cNvSpPr/>
          <p:nvPr/>
        </p:nvSpPr>
        <p:spPr>
          <a:xfrm>
            <a:off x="731520" y="4000500"/>
            <a:ext cx="10698480" cy="2162556"/>
          </a:xfrm>
          <a:prstGeom prst="roundRect">
            <a:avLst>
              <a:gd name="adj" fmla="val 3383"/>
            </a:avLst>
          </a:prstGeom>
          <a:solidFill>
            <a:srgbClr val="FFFFFF"/>
          </a:solidFill>
          <a:ln w="12700">
            <a:solidFill>
              <a:srgbClr val="D6E6E6"/>
            </a:solidFill>
            <a:prstDash val="solid"/>
          </a:ln>
        </p:spPr>
      </p:sp>
      <p:sp>
        <p:nvSpPr>
          <p:cNvPr id="16" name="Shape 11"/>
          <p:cNvSpPr/>
          <p:nvPr/>
        </p:nvSpPr>
        <p:spPr>
          <a:xfrm>
            <a:off x="932688" y="4825746"/>
            <a:ext cx="566928" cy="566928"/>
          </a:xfrm>
          <a:prstGeom prst="ellipse">
            <a:avLst/>
          </a:prstGeom>
          <a:solidFill>
            <a:srgbClr val="127C82"/>
          </a:solidFill>
          <a:ln/>
        </p:spPr>
      </p:sp>
      <p:pic>
        <p:nvPicPr>
          <p:cNvPr id="17" name="Image 3" descr="/home/claude/aichuyendoiso2/assets/icons/language_FFFFFF.png">    </p:cNvPr>
          <p:cNvPicPr>
            <a:picLocks noChangeAspect="1"/>
          </p:cNvPicPr>
          <p:nvPr/>
        </p:nvPicPr>
        <p:blipFill>
          <a:blip r:embed="rId5"/>
          <a:stretch>
            <a:fillRect/>
          </a:stretch>
        </p:blipFill>
        <p:spPr>
          <a:xfrm>
            <a:off x="1085759" y="4978817"/>
            <a:ext cx="260787" cy="260787"/>
          </a:xfrm>
          <a:prstGeom prst="rect">
            <a:avLst/>
          </a:prstGeom>
        </p:spPr>
      </p:pic>
      <p:sp>
        <p:nvSpPr>
          <p:cNvPr id="18" name="Text 12"/>
          <p:cNvSpPr txBox="1"/>
          <p:nvPr/>
        </p:nvSpPr>
        <p:spPr>
          <a:xfrm>
            <a:off x="1691640" y="4064508"/>
            <a:ext cx="6035040" cy="365760"/>
          </a:xfrm>
          <a:prstGeom prst="rect">
            <a:avLst/>
          </a:prstGeom>
          <a:noFill/>
          <a:ln/>
        </p:spPr>
        <p:txBody>
          <a:bodyPr wrap="square" lIns="0" tIns="0" rIns="0" bIns="0" rtlCol="0" anchor="b"/>
          <a:lstStyle/>
          <a:p>
            <a:pPr indent="0" marL="0">
              <a:buNone/>
            </a:pPr>
            <a:r>
              <a:rPr lang="en-US" sz="1550" b="1" dirty="0">
                <a:solidFill>
                  <a:srgbClr val="17282B"/>
                </a:solidFill>
                <a:latin typeface="Arial" pitchFamily="34" charset="0"/>
                <a:ea typeface="Arial" pitchFamily="34" charset="-122"/>
                <a:cs typeface="Arial" pitchFamily="34" charset="-120"/>
              </a:rPr>
              <a:t>Google Dịch</a:t>
            </a:r>
            <a:endParaRPr lang="en-US" sz="1550" dirty="0"/>
          </a:p>
        </p:txBody>
      </p:sp>
      <p:sp>
        <p:nvSpPr>
          <p:cNvPr id="19" name="Text 13"/>
          <p:cNvSpPr txBox="1"/>
          <p:nvPr/>
        </p:nvSpPr>
        <p:spPr>
          <a:xfrm>
            <a:off x="1691640" y="4411980"/>
            <a:ext cx="6035040" cy="1714500"/>
          </a:xfrm>
          <a:prstGeom prst="rect">
            <a:avLst/>
          </a:prstGeom>
          <a:noFill/>
          <a:ln/>
        </p:spPr>
        <p:txBody>
          <a:bodyPr wrap="square" lIns="0" tIns="0" rIns="0" bIns="0" rtlCol="0" anchor="t"/>
          <a:lstStyle/>
          <a:p>
            <a:pPr indent="0" marL="0">
              <a:lnSpc>
                <a:spcPts val="1500"/>
              </a:lnSpc>
              <a:buNone/>
            </a:pPr>
            <a:r>
              <a:rPr lang="en-US" sz="1250" dirty="0">
                <a:solidFill>
                  <a:srgbClr val="5C7378"/>
                </a:solidFill>
                <a:latin typeface="Arial" pitchFamily="34" charset="0"/>
                <a:ea typeface="Arial" pitchFamily="34" charset="-122"/>
                <a:cs typeface="Arial" pitchFamily="34" charset="-120"/>
              </a:rPr>
              <a:t>Dịch nhanh giữa nhiều ngôn ngữ.</a:t>
            </a:r>
            <a:endParaRPr lang="en-US" sz="1250" dirty="0"/>
          </a:p>
        </p:txBody>
      </p:sp>
      <p:pic>
        <p:nvPicPr>
          <p:cNvPr id="20" name="Image 4" descr="/home/claude/aichuyendoiso2/assets/qr_translate.png">    </p:cNvPr>
          <p:cNvPicPr>
            <a:picLocks noChangeAspect="1"/>
          </p:cNvPicPr>
          <p:nvPr/>
        </p:nvPicPr>
        <p:blipFill>
          <a:blip r:embed="rId6"/>
          <a:stretch>
            <a:fillRect/>
          </a:stretch>
        </p:blipFill>
        <p:spPr>
          <a:xfrm>
            <a:off x="9784080" y="4674870"/>
            <a:ext cx="868680" cy="868680"/>
          </a:xfrm>
          <a:prstGeom prst="rect">
            <a:avLst/>
          </a:prstGeom>
        </p:spPr>
      </p:pic>
      <p:sp>
        <p:nvSpPr>
          <p:cNvPr id="21" name="Text 14"/>
          <p:cNvSpPr txBox="1"/>
          <p:nvPr/>
        </p:nvSpPr>
        <p:spPr>
          <a:xfrm>
            <a:off x="7680960" y="4908042"/>
            <a:ext cx="1965960" cy="402336"/>
          </a:xfrm>
          <a:prstGeom prst="rect">
            <a:avLst/>
          </a:prstGeom>
          <a:noFill/>
          <a:ln/>
        </p:spPr>
        <p:txBody>
          <a:bodyPr wrap="square" lIns="0" tIns="0" rIns="0" bIns="0" rtlCol="0" anchor="ctr"/>
          <a:lstStyle/>
          <a:p>
            <a:pPr algn="r" indent="0" marL="0">
              <a:lnSpc>
                <a:spcPts val="1300"/>
              </a:lnSpc>
              <a:buNone/>
            </a:pPr>
            <a:r>
              <a:rPr lang="en-US" sz="1150" i="1" dirty="0">
                <a:solidFill>
                  <a:srgbClr val="0B5257"/>
                </a:solidFill>
                <a:latin typeface="Arial" pitchFamily="34" charset="0"/>
                <a:ea typeface="Arial" pitchFamily="34" charset="-122"/>
                <a:cs typeface="Arial" pitchFamily="34" charset="-120"/>
              </a:rPr>
              <a:t>translate.google.com</a:t>
            </a:r>
            <a:endParaRPr lang="en-US" sz="115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347472"/>
            <a:ext cx="457200" cy="457200"/>
          </a:xfrm>
          <a:prstGeom prst="ellipse">
            <a:avLst/>
          </a:prstGeom>
          <a:solidFill>
            <a:srgbClr val="127C82"/>
          </a:solidFill>
          <a:ln/>
        </p:spPr>
      </p:sp>
      <p:pic>
        <p:nvPicPr>
          <p:cNvPr id="3" name="Image 0" descr="/home/claude/aichuyendoiso2/assets/icons/comments_FFFFFF.png">    </p:cNvPr>
          <p:cNvPicPr>
            <a:picLocks noChangeAspect="1"/>
          </p:cNvPicPr>
          <p:nvPr/>
        </p:nvPicPr>
        <p:blipFill>
          <a:blip r:embed="rId2"/>
          <a:stretch>
            <a:fillRect/>
          </a:stretch>
        </p:blipFill>
        <p:spPr>
          <a:xfrm>
            <a:off x="580644" y="470916"/>
            <a:ext cx="210312" cy="210312"/>
          </a:xfrm>
          <a:prstGeom prst="rect">
            <a:avLst/>
          </a:prstGeom>
        </p:spPr>
      </p:pic>
      <p:sp>
        <p:nvSpPr>
          <p:cNvPr id="4" name="Text 1"/>
          <p:cNvSpPr txBox="1"/>
          <p:nvPr/>
        </p:nvSpPr>
        <p:spPr>
          <a:xfrm>
            <a:off x="1051560" y="301752"/>
            <a:ext cx="10607040" cy="566928"/>
          </a:xfrm>
          <a:prstGeom prst="rect">
            <a:avLst/>
          </a:prstGeom>
          <a:noFill/>
          <a:ln/>
        </p:spPr>
        <p:txBody>
          <a:bodyPr wrap="square" lIns="0" tIns="0" rIns="0" bIns="0" rtlCol="0" anchor="ctr"/>
          <a:lstStyle/>
          <a:p>
            <a:pPr indent="0" marL="0">
              <a:buNone/>
            </a:pPr>
            <a:r>
              <a:rPr lang="en-US" sz="2600" b="1" dirty="0">
                <a:solidFill>
                  <a:srgbClr val="0B5257"/>
                </a:solidFill>
                <a:latin typeface="Arial" pitchFamily="34" charset="0"/>
                <a:ea typeface="Arial" pitchFamily="34" charset="-122"/>
                <a:cs typeface="Arial" pitchFamily="34" charset="-120"/>
              </a:rPr>
              <a:t>ChatGPT Và Gemini — Trợ Lý AI Dạng Hội Thoại</a:t>
            </a:r>
            <a:endParaRPr lang="en-US" sz="2600" dirty="0"/>
          </a:p>
        </p:txBody>
      </p:sp>
      <p:sp>
        <p:nvSpPr>
          <p:cNvPr id="5" name="Text 2"/>
          <p:cNvSpPr txBox="1"/>
          <p:nvPr/>
        </p:nvSpPr>
        <p:spPr>
          <a:xfrm>
            <a:off x="457200" y="6492240"/>
            <a:ext cx="7315200" cy="274320"/>
          </a:xfrm>
          <a:prstGeom prst="rect">
            <a:avLst/>
          </a:prstGeom>
          <a:noFill/>
          <a:ln/>
        </p:spPr>
        <p:txBody>
          <a:bodyPr wrap="square" lIns="0" tIns="0" rIns="0" bIns="0" rtlCol="0" anchor="ctr"/>
          <a:lstStyle/>
          <a:p>
            <a:pPr algn="l" indent="0" marL="0">
              <a:buNone/>
            </a:pPr>
            <a:r>
              <a:rPr lang="en-US" sz="1000" dirty="0">
                <a:solidFill>
                  <a:srgbClr val="5C7378"/>
                </a:solidFill>
                <a:latin typeface="Arial" pitchFamily="34" charset="0"/>
                <a:ea typeface="Arial" pitchFamily="34" charset="-122"/>
                <a:cs typeface="Arial" pitchFamily="34" charset="-120"/>
              </a:rPr>
              <a:t>Phần 3 · Công cụ AI &amp; Prompt (Câu lệnh)</a:t>
            </a:r>
            <a:endParaRPr lang="en-US" sz="1000" dirty="0"/>
          </a:p>
        </p:txBody>
      </p:sp>
      <p:sp>
        <p:nvSpPr>
          <p:cNvPr id="6" name="Text 3"/>
          <p:cNvSpPr txBox="1"/>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C7378"/>
                </a:solidFill>
                <a:latin typeface="Arial" pitchFamily="34" charset="0"/>
                <a:ea typeface="Arial" pitchFamily="34" charset="-122"/>
                <a:cs typeface="Arial" pitchFamily="34" charset="-120"/>
              </a:rPr>
              <a:t>15</a:t>
            </a:r>
            <a:endParaRPr lang="en-US" sz="1000" dirty="0"/>
          </a:p>
        </p:txBody>
      </p:sp>
      <p:sp>
        <p:nvSpPr>
          <p:cNvPr id="7" name="Text 4"/>
          <p:cNvSpPr txBox="1"/>
          <p:nvPr/>
        </p:nvSpPr>
        <p:spPr>
          <a:xfrm>
            <a:off x="731520" y="1188720"/>
            <a:ext cx="10698480" cy="365760"/>
          </a:xfrm>
          <a:prstGeom prst="rect">
            <a:avLst/>
          </a:prstGeom>
          <a:noFill/>
          <a:ln/>
        </p:spPr>
        <p:txBody>
          <a:bodyPr wrap="square" lIns="0" tIns="0" rIns="0" bIns="0" rtlCol="0" anchor="ctr"/>
          <a:lstStyle/>
          <a:p>
            <a:pPr indent="0" marL="0">
              <a:buNone/>
            </a:pPr>
            <a:r>
              <a:rPr lang="en-US" sz="1450" i="1" dirty="0">
                <a:solidFill>
                  <a:srgbClr val="0B5257"/>
                </a:solidFill>
                <a:latin typeface="Arial" pitchFamily="34" charset="0"/>
                <a:ea typeface="Arial" pitchFamily="34" charset="-122"/>
                <a:cs typeface="Arial" pitchFamily="34" charset="-120"/>
              </a:rPr>
              <a:t>Người dùng nhập câu hỏi hoặc yêu cầu, AI phản hồi gần như tức thì:</a:t>
            </a:r>
            <a:endParaRPr lang="en-US" sz="1450" dirty="0"/>
          </a:p>
        </p:txBody>
      </p:sp>
      <p:sp>
        <p:nvSpPr>
          <p:cNvPr id="8" name="Shape 5"/>
          <p:cNvSpPr/>
          <p:nvPr/>
        </p:nvSpPr>
        <p:spPr>
          <a:xfrm>
            <a:off x="731520" y="1645920"/>
            <a:ext cx="3383280" cy="4572000"/>
          </a:xfrm>
          <a:prstGeom prst="roundRect">
            <a:avLst>
              <a:gd name="adj" fmla="val 5946"/>
            </a:avLst>
          </a:prstGeom>
          <a:solidFill>
            <a:srgbClr val="0B3B45"/>
          </a:solidFill>
          <a:ln/>
        </p:spPr>
      </p:sp>
      <p:sp>
        <p:nvSpPr>
          <p:cNvPr id="9" name="Shape 6"/>
          <p:cNvSpPr/>
          <p:nvPr/>
        </p:nvSpPr>
        <p:spPr>
          <a:xfrm>
            <a:off x="822960" y="1938528"/>
            <a:ext cx="3200400" cy="4005072"/>
          </a:xfrm>
          <a:prstGeom prst="roundRect">
            <a:avLst>
              <a:gd name="adj" fmla="val 1714"/>
            </a:avLst>
          </a:prstGeom>
          <a:solidFill>
            <a:srgbClr val="FFFFFF"/>
          </a:solidFill>
          <a:ln/>
        </p:spPr>
      </p:sp>
      <p:sp>
        <p:nvSpPr>
          <p:cNvPr id="10" name="Text 7"/>
          <p:cNvSpPr txBox="1"/>
          <p:nvPr/>
        </p:nvSpPr>
        <p:spPr>
          <a:xfrm>
            <a:off x="859536" y="1764792"/>
            <a:ext cx="457200" cy="128016"/>
          </a:xfrm>
          <a:prstGeom prst="rect">
            <a:avLst/>
          </a:prstGeom>
          <a:noFill/>
          <a:ln/>
        </p:spPr>
        <p:txBody>
          <a:bodyPr wrap="square" lIns="0" tIns="0" rIns="0" bIns="0" rtlCol="0" anchor="ctr"/>
          <a:lstStyle/>
          <a:p>
            <a:pPr indent="0" marL="0">
              <a:buNone/>
            </a:pPr>
            <a:r>
              <a:rPr lang="en-US" sz="750" b="1" dirty="0">
                <a:solidFill>
                  <a:srgbClr val="FFFFFF"/>
                </a:solidFill>
                <a:latin typeface="Arial" pitchFamily="34" charset="0"/>
                <a:ea typeface="Arial" pitchFamily="34" charset="-122"/>
                <a:cs typeface="Arial" pitchFamily="34" charset="-120"/>
              </a:rPr>
              <a:t>9:41</a:t>
            </a:r>
            <a:endParaRPr lang="en-US" sz="750" dirty="0"/>
          </a:p>
        </p:txBody>
      </p:sp>
      <p:sp>
        <p:nvSpPr>
          <p:cNvPr id="11" name="Text 8"/>
          <p:cNvSpPr txBox="1"/>
          <p:nvPr/>
        </p:nvSpPr>
        <p:spPr>
          <a:xfrm>
            <a:off x="3246120" y="1764792"/>
            <a:ext cx="749808" cy="128016"/>
          </a:xfrm>
          <a:prstGeom prst="rect">
            <a:avLst/>
          </a:prstGeom>
          <a:noFill/>
          <a:ln/>
        </p:spPr>
        <p:txBody>
          <a:bodyPr wrap="square" lIns="0" tIns="0" rIns="0" bIns="0" rtlCol="0" anchor="ctr"/>
          <a:lstStyle/>
          <a:p>
            <a:pPr algn="r" indent="0" marL="0">
              <a:buNone/>
            </a:pPr>
            <a:r>
              <a:rPr lang="en-US" sz="700" b="1" spc="50" kern="0" dirty="0">
                <a:solidFill>
                  <a:srgbClr val="FFFFFF"/>
                </a:solidFill>
                <a:latin typeface="Arial" pitchFamily="34" charset="0"/>
                <a:ea typeface="Arial" pitchFamily="34" charset="-122"/>
                <a:cs typeface="Arial" pitchFamily="34" charset="-120"/>
              </a:rPr>
              <a:t>••••  ▲  100%</a:t>
            </a:r>
            <a:endParaRPr lang="en-US" sz="700" dirty="0"/>
          </a:p>
        </p:txBody>
      </p:sp>
      <p:sp>
        <p:nvSpPr>
          <p:cNvPr id="12" name="Shape 9"/>
          <p:cNvSpPr/>
          <p:nvPr/>
        </p:nvSpPr>
        <p:spPr>
          <a:xfrm>
            <a:off x="2103120" y="1737360"/>
            <a:ext cx="640080" cy="73152"/>
          </a:xfrm>
          <a:prstGeom prst="roundRect">
            <a:avLst>
              <a:gd name="adj" fmla="val 50000"/>
            </a:avLst>
          </a:prstGeom>
          <a:solidFill>
            <a:srgbClr val="093038"/>
          </a:solidFill>
          <a:ln/>
        </p:spPr>
      </p:sp>
      <p:sp>
        <p:nvSpPr>
          <p:cNvPr id="13" name="Shape 10"/>
          <p:cNvSpPr/>
          <p:nvPr/>
        </p:nvSpPr>
        <p:spPr>
          <a:xfrm>
            <a:off x="822960" y="1938528"/>
            <a:ext cx="3200400" cy="411480"/>
          </a:xfrm>
          <a:prstGeom prst="rect">
            <a:avLst/>
          </a:prstGeom>
          <a:solidFill>
            <a:srgbClr val="127C82"/>
          </a:solidFill>
          <a:ln/>
        </p:spPr>
      </p:sp>
      <p:sp>
        <p:nvSpPr>
          <p:cNvPr id="14" name="Shape 11"/>
          <p:cNvSpPr/>
          <p:nvPr/>
        </p:nvSpPr>
        <p:spPr>
          <a:xfrm>
            <a:off x="932688" y="2011680"/>
            <a:ext cx="274320" cy="274320"/>
          </a:xfrm>
          <a:prstGeom prst="ellipse">
            <a:avLst/>
          </a:prstGeom>
          <a:solidFill>
            <a:srgbClr val="F2A93B"/>
          </a:solidFill>
          <a:ln/>
        </p:spPr>
      </p:sp>
      <p:pic>
        <p:nvPicPr>
          <p:cNvPr id="15" name="Image 1" descr="/home/claude/aichuyendoiso2/assets/icons/robot_0B3B45.png">    </p:cNvPr>
          <p:cNvPicPr>
            <a:picLocks noChangeAspect="1"/>
          </p:cNvPicPr>
          <p:nvPr/>
        </p:nvPicPr>
        <p:blipFill>
          <a:blip r:embed="rId3"/>
          <a:stretch>
            <a:fillRect/>
          </a:stretch>
        </p:blipFill>
        <p:spPr>
          <a:xfrm>
            <a:off x="1006754" y="2085746"/>
            <a:ext cx="126187" cy="126187"/>
          </a:xfrm>
          <a:prstGeom prst="rect">
            <a:avLst/>
          </a:prstGeom>
        </p:spPr>
      </p:pic>
      <p:sp>
        <p:nvSpPr>
          <p:cNvPr id="16" name="Text 12"/>
          <p:cNvSpPr txBox="1"/>
          <p:nvPr/>
        </p:nvSpPr>
        <p:spPr>
          <a:xfrm>
            <a:off x="1280160" y="1938528"/>
            <a:ext cx="2651760" cy="41148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Trợ lý AI</a:t>
            </a:r>
            <a:endParaRPr lang="en-US" sz="1250" dirty="0"/>
          </a:p>
        </p:txBody>
      </p:sp>
      <p:sp>
        <p:nvSpPr>
          <p:cNvPr id="17" name="Shape 13"/>
          <p:cNvSpPr/>
          <p:nvPr/>
        </p:nvSpPr>
        <p:spPr>
          <a:xfrm>
            <a:off x="1591056" y="2487168"/>
            <a:ext cx="2304288" cy="640080"/>
          </a:xfrm>
          <a:prstGeom prst="roundRect">
            <a:avLst>
              <a:gd name="adj" fmla="val 12857"/>
            </a:avLst>
          </a:prstGeom>
          <a:solidFill>
            <a:srgbClr val="F2A93B"/>
          </a:solidFill>
          <a:ln/>
        </p:spPr>
      </p:sp>
      <p:sp>
        <p:nvSpPr>
          <p:cNvPr id="18" name="Text 14"/>
          <p:cNvSpPr txBox="1"/>
          <p:nvPr/>
        </p:nvSpPr>
        <p:spPr>
          <a:xfrm>
            <a:off x="1700784" y="2542032"/>
            <a:ext cx="2084832" cy="530352"/>
          </a:xfrm>
          <a:prstGeom prst="rect">
            <a:avLst/>
          </a:prstGeom>
          <a:noFill/>
          <a:ln/>
        </p:spPr>
        <p:txBody>
          <a:bodyPr wrap="square" lIns="0" tIns="0" rIns="0" bIns="0" rtlCol="0" anchor="ctr"/>
          <a:lstStyle/>
          <a:p>
            <a:pPr indent="0" marL="0">
              <a:lnSpc>
                <a:spcPts val="1200"/>
              </a:lnSpc>
              <a:buNone/>
            </a:pPr>
            <a:r>
              <a:rPr lang="en-US" sz="1050" dirty="0">
                <a:solidFill>
                  <a:srgbClr val="0B3B45"/>
                </a:solidFill>
                <a:latin typeface="Arial" pitchFamily="34" charset="0"/>
                <a:ea typeface="Arial" pitchFamily="34" charset="-122"/>
                <a:cs typeface="Arial" pitchFamily="34" charset="-120"/>
              </a:rPr>
              <a:t>Giải thích chuyển đổi số cho học sinh dễ hiểu?</a:t>
            </a:r>
            <a:endParaRPr lang="en-US" sz="1050" dirty="0"/>
          </a:p>
        </p:txBody>
      </p:sp>
      <p:sp>
        <p:nvSpPr>
          <p:cNvPr id="19" name="Shape 15"/>
          <p:cNvSpPr/>
          <p:nvPr/>
        </p:nvSpPr>
        <p:spPr>
          <a:xfrm>
            <a:off x="950976" y="3246120"/>
            <a:ext cx="2304288" cy="777240"/>
          </a:xfrm>
          <a:prstGeom prst="roundRect">
            <a:avLst>
              <a:gd name="adj" fmla="val 10588"/>
            </a:avLst>
          </a:prstGeom>
          <a:solidFill>
            <a:srgbClr val="EEF5F5"/>
          </a:solidFill>
          <a:ln w="9525">
            <a:solidFill>
              <a:srgbClr val="D6E6E6"/>
            </a:solidFill>
            <a:prstDash val="solid"/>
          </a:ln>
        </p:spPr>
      </p:sp>
      <p:sp>
        <p:nvSpPr>
          <p:cNvPr id="20" name="Text 16"/>
          <p:cNvSpPr txBox="1"/>
          <p:nvPr/>
        </p:nvSpPr>
        <p:spPr>
          <a:xfrm>
            <a:off x="1060704" y="3300984"/>
            <a:ext cx="2084832" cy="667512"/>
          </a:xfrm>
          <a:prstGeom prst="rect">
            <a:avLst/>
          </a:prstGeom>
          <a:noFill/>
          <a:ln/>
        </p:spPr>
        <p:txBody>
          <a:bodyPr wrap="square" lIns="0" tIns="0" rIns="0" bIns="0" rtlCol="0" anchor="ctr"/>
          <a:lstStyle/>
          <a:p>
            <a:pPr indent="0" marL="0">
              <a:lnSpc>
                <a:spcPts val="1200"/>
              </a:lnSpc>
              <a:buNone/>
            </a:pPr>
            <a:r>
              <a:rPr lang="en-US" sz="1050" dirty="0">
                <a:solidFill>
                  <a:srgbClr val="17282B"/>
                </a:solidFill>
                <a:latin typeface="Arial" pitchFamily="34" charset="0"/>
                <a:ea typeface="Arial" pitchFamily="34" charset="-122"/>
                <a:cs typeface="Arial" pitchFamily="34" charset="-120"/>
              </a:rPr>
              <a:t>Chuyển đổi số là đưa công việc lên máy tính, điện thoại để nhanh và tiện hơn...</a:t>
            </a:r>
            <a:endParaRPr lang="en-US" sz="1050" dirty="0"/>
          </a:p>
        </p:txBody>
      </p:sp>
      <p:sp>
        <p:nvSpPr>
          <p:cNvPr id="21" name="Shape 17"/>
          <p:cNvSpPr/>
          <p:nvPr/>
        </p:nvSpPr>
        <p:spPr>
          <a:xfrm>
            <a:off x="932688" y="5559552"/>
            <a:ext cx="2980944" cy="274320"/>
          </a:xfrm>
          <a:prstGeom prst="roundRect">
            <a:avLst>
              <a:gd name="adj" fmla="val 50000"/>
            </a:avLst>
          </a:prstGeom>
          <a:solidFill>
            <a:srgbClr val="F2F2F2"/>
          </a:solidFill>
          <a:ln w="9525">
            <a:solidFill>
              <a:srgbClr val="D6E6E6"/>
            </a:solidFill>
            <a:prstDash val="solid"/>
          </a:ln>
        </p:spPr>
      </p:sp>
      <p:sp>
        <p:nvSpPr>
          <p:cNvPr id="22" name="Text 18"/>
          <p:cNvSpPr txBox="1"/>
          <p:nvPr/>
        </p:nvSpPr>
        <p:spPr>
          <a:xfrm>
            <a:off x="1078992" y="5559552"/>
            <a:ext cx="2697480" cy="274320"/>
          </a:xfrm>
          <a:prstGeom prst="rect">
            <a:avLst/>
          </a:prstGeom>
          <a:noFill/>
          <a:ln/>
        </p:spPr>
        <p:txBody>
          <a:bodyPr wrap="square" lIns="0" tIns="0" rIns="0" bIns="0" rtlCol="0" anchor="ctr"/>
          <a:lstStyle/>
          <a:p>
            <a:pPr indent="0" marL="0">
              <a:buNone/>
            </a:pPr>
            <a:r>
              <a:rPr lang="en-US" sz="1000" i="1" dirty="0">
                <a:solidFill>
                  <a:srgbClr val="5C7378"/>
                </a:solidFill>
                <a:latin typeface="Arial" pitchFamily="34" charset="0"/>
                <a:ea typeface="Arial" pitchFamily="34" charset="-122"/>
                <a:cs typeface="Arial" pitchFamily="34" charset="-120"/>
              </a:rPr>
              <a:t>Nhập câu hỏi...</a:t>
            </a:r>
            <a:endParaRPr lang="en-US" sz="1000" dirty="0"/>
          </a:p>
        </p:txBody>
      </p:sp>
      <p:sp>
        <p:nvSpPr>
          <p:cNvPr id="23" name="Shape 19"/>
          <p:cNvSpPr/>
          <p:nvPr/>
        </p:nvSpPr>
        <p:spPr>
          <a:xfrm>
            <a:off x="2057400" y="6089904"/>
            <a:ext cx="731520" cy="45720"/>
          </a:xfrm>
          <a:prstGeom prst="roundRect">
            <a:avLst>
              <a:gd name="adj" fmla="val 50000"/>
            </a:avLst>
          </a:prstGeom>
          <a:solidFill>
            <a:srgbClr val="093038"/>
          </a:solidFill>
          <a:ln/>
        </p:spPr>
      </p:sp>
      <p:sp>
        <p:nvSpPr>
          <p:cNvPr id="24" name="Shape 20"/>
          <p:cNvSpPr/>
          <p:nvPr/>
        </p:nvSpPr>
        <p:spPr>
          <a:xfrm>
            <a:off x="4434840" y="1691640"/>
            <a:ext cx="457200" cy="457200"/>
          </a:xfrm>
          <a:prstGeom prst="ellipse">
            <a:avLst/>
          </a:prstGeom>
          <a:solidFill>
            <a:srgbClr val="F2A93B"/>
          </a:solidFill>
          <a:ln/>
        </p:spPr>
      </p:sp>
      <p:pic>
        <p:nvPicPr>
          <p:cNvPr id="25" name="Image 2" descr="/home/claude/aichuyendoiso2/assets/icons/message_0B3B45.png">    </p:cNvPr>
          <p:cNvPicPr>
            <a:picLocks noChangeAspect="1"/>
          </p:cNvPicPr>
          <p:nvPr/>
        </p:nvPicPr>
        <p:blipFill>
          <a:blip r:embed="rId4"/>
          <a:stretch>
            <a:fillRect/>
          </a:stretch>
        </p:blipFill>
        <p:spPr>
          <a:xfrm>
            <a:off x="4558284" y="1815084"/>
            <a:ext cx="210312" cy="210312"/>
          </a:xfrm>
          <a:prstGeom prst="rect">
            <a:avLst/>
          </a:prstGeom>
        </p:spPr>
      </p:pic>
      <p:sp>
        <p:nvSpPr>
          <p:cNvPr id="26" name="Text 21"/>
          <p:cNvSpPr txBox="1"/>
          <p:nvPr/>
        </p:nvSpPr>
        <p:spPr>
          <a:xfrm>
            <a:off x="5029200" y="1691640"/>
            <a:ext cx="6309360" cy="457200"/>
          </a:xfrm>
          <a:prstGeom prst="rect">
            <a:avLst/>
          </a:prstGeom>
          <a:noFill/>
          <a:ln/>
        </p:spPr>
        <p:txBody>
          <a:bodyPr wrap="square" lIns="0" tIns="0" rIns="0" bIns="0" rtlCol="0" anchor="ctr"/>
          <a:lstStyle/>
          <a:p>
            <a:pPr indent="0" marL="0">
              <a:buNone/>
            </a:pPr>
            <a:r>
              <a:rPr lang="en-US" sz="1450" b="1" dirty="0">
                <a:solidFill>
                  <a:srgbClr val="17282B"/>
                </a:solidFill>
                <a:latin typeface="Arial" pitchFamily="34" charset="0"/>
                <a:ea typeface="Arial" pitchFamily="34" charset="-122"/>
                <a:cs typeface="Arial" pitchFamily="34" charset="-120"/>
              </a:rPr>
              <a:t>Trả lời câu hỏi</a:t>
            </a:r>
            <a:endParaRPr lang="en-US" sz="1450" dirty="0"/>
          </a:p>
        </p:txBody>
      </p:sp>
      <p:sp>
        <p:nvSpPr>
          <p:cNvPr id="27" name="Shape 22"/>
          <p:cNvSpPr/>
          <p:nvPr/>
        </p:nvSpPr>
        <p:spPr>
          <a:xfrm>
            <a:off x="4434840" y="2313432"/>
            <a:ext cx="457200" cy="457200"/>
          </a:xfrm>
          <a:prstGeom prst="ellipse">
            <a:avLst/>
          </a:prstGeom>
          <a:solidFill>
            <a:srgbClr val="F2A93B"/>
          </a:solidFill>
          <a:ln/>
        </p:spPr>
      </p:sp>
      <p:pic>
        <p:nvPicPr>
          <p:cNvPr id="28" name="Image 3" descr="/home/claude/aichuyendoiso2/assets/icons/filelines_0B3B45.png">    </p:cNvPr>
          <p:cNvPicPr>
            <a:picLocks noChangeAspect="1"/>
          </p:cNvPicPr>
          <p:nvPr/>
        </p:nvPicPr>
        <p:blipFill>
          <a:blip r:embed="rId5"/>
          <a:stretch>
            <a:fillRect/>
          </a:stretch>
        </p:blipFill>
        <p:spPr>
          <a:xfrm>
            <a:off x="4558284" y="2436876"/>
            <a:ext cx="210312" cy="210312"/>
          </a:xfrm>
          <a:prstGeom prst="rect">
            <a:avLst/>
          </a:prstGeom>
        </p:spPr>
      </p:pic>
      <p:sp>
        <p:nvSpPr>
          <p:cNvPr id="29" name="Text 23"/>
          <p:cNvSpPr txBox="1"/>
          <p:nvPr/>
        </p:nvSpPr>
        <p:spPr>
          <a:xfrm>
            <a:off x="5029200" y="2313432"/>
            <a:ext cx="6309360" cy="457200"/>
          </a:xfrm>
          <a:prstGeom prst="rect">
            <a:avLst/>
          </a:prstGeom>
          <a:noFill/>
          <a:ln/>
        </p:spPr>
        <p:txBody>
          <a:bodyPr wrap="square" lIns="0" tIns="0" rIns="0" bIns="0" rtlCol="0" anchor="ctr"/>
          <a:lstStyle/>
          <a:p>
            <a:pPr indent="0" marL="0">
              <a:buNone/>
            </a:pPr>
            <a:r>
              <a:rPr lang="en-US" sz="1450" b="1" dirty="0">
                <a:solidFill>
                  <a:srgbClr val="17282B"/>
                </a:solidFill>
                <a:latin typeface="Arial" pitchFamily="34" charset="0"/>
                <a:ea typeface="Arial" pitchFamily="34" charset="-122"/>
                <a:cs typeface="Arial" pitchFamily="34" charset="-120"/>
              </a:rPr>
              <a:t>Viết đoạn văn, tin nhắn</a:t>
            </a:r>
            <a:endParaRPr lang="en-US" sz="1450" dirty="0"/>
          </a:p>
        </p:txBody>
      </p:sp>
      <p:sp>
        <p:nvSpPr>
          <p:cNvPr id="30" name="Shape 24"/>
          <p:cNvSpPr/>
          <p:nvPr/>
        </p:nvSpPr>
        <p:spPr>
          <a:xfrm>
            <a:off x="4434840" y="2935224"/>
            <a:ext cx="457200" cy="457200"/>
          </a:xfrm>
          <a:prstGeom prst="ellipse">
            <a:avLst/>
          </a:prstGeom>
          <a:solidFill>
            <a:srgbClr val="F2A93B"/>
          </a:solidFill>
          <a:ln/>
        </p:spPr>
      </p:sp>
      <p:pic>
        <p:nvPicPr>
          <p:cNvPr id="31" name="Image 4" descr="/home/claude/aichuyendoiso2/assets/icons/language_0B3B45.png">    </p:cNvPr>
          <p:cNvPicPr>
            <a:picLocks noChangeAspect="1"/>
          </p:cNvPicPr>
          <p:nvPr/>
        </p:nvPicPr>
        <p:blipFill>
          <a:blip r:embed="rId6"/>
          <a:stretch>
            <a:fillRect/>
          </a:stretch>
        </p:blipFill>
        <p:spPr>
          <a:xfrm>
            <a:off x="4558284" y="3058668"/>
            <a:ext cx="210312" cy="210312"/>
          </a:xfrm>
          <a:prstGeom prst="rect">
            <a:avLst/>
          </a:prstGeom>
        </p:spPr>
      </p:pic>
      <p:sp>
        <p:nvSpPr>
          <p:cNvPr id="32" name="Text 25"/>
          <p:cNvSpPr txBox="1"/>
          <p:nvPr/>
        </p:nvSpPr>
        <p:spPr>
          <a:xfrm>
            <a:off x="5029200" y="2935224"/>
            <a:ext cx="6309360" cy="457200"/>
          </a:xfrm>
          <a:prstGeom prst="rect">
            <a:avLst/>
          </a:prstGeom>
          <a:noFill/>
          <a:ln/>
        </p:spPr>
        <p:txBody>
          <a:bodyPr wrap="square" lIns="0" tIns="0" rIns="0" bIns="0" rtlCol="0" anchor="ctr"/>
          <a:lstStyle/>
          <a:p>
            <a:pPr indent="0" marL="0">
              <a:buNone/>
            </a:pPr>
            <a:r>
              <a:rPr lang="en-US" sz="1450" b="1" dirty="0">
                <a:solidFill>
                  <a:srgbClr val="17282B"/>
                </a:solidFill>
                <a:latin typeface="Arial" pitchFamily="34" charset="0"/>
                <a:ea typeface="Arial" pitchFamily="34" charset="-122"/>
                <a:cs typeface="Arial" pitchFamily="34" charset="-120"/>
              </a:rPr>
              <a:t>Dịch ngôn ngữ</a:t>
            </a:r>
            <a:endParaRPr lang="en-US" sz="1450" dirty="0"/>
          </a:p>
        </p:txBody>
      </p:sp>
      <p:sp>
        <p:nvSpPr>
          <p:cNvPr id="33" name="Shape 26"/>
          <p:cNvSpPr/>
          <p:nvPr/>
        </p:nvSpPr>
        <p:spPr>
          <a:xfrm>
            <a:off x="4434840" y="3557016"/>
            <a:ext cx="457200" cy="457200"/>
          </a:xfrm>
          <a:prstGeom prst="ellipse">
            <a:avLst/>
          </a:prstGeom>
          <a:solidFill>
            <a:srgbClr val="F2A93B"/>
          </a:solidFill>
          <a:ln/>
        </p:spPr>
      </p:sp>
      <p:pic>
        <p:nvPicPr>
          <p:cNvPr id="34" name="Image 5" descr="/home/claude/aichuyendoiso2/assets/icons/calculator_0B3B45.png">    </p:cNvPr>
          <p:cNvPicPr>
            <a:picLocks noChangeAspect="1"/>
          </p:cNvPicPr>
          <p:nvPr/>
        </p:nvPicPr>
        <p:blipFill>
          <a:blip r:embed="rId7"/>
          <a:stretch>
            <a:fillRect/>
          </a:stretch>
        </p:blipFill>
        <p:spPr>
          <a:xfrm>
            <a:off x="4558284" y="3680460"/>
            <a:ext cx="210312" cy="210312"/>
          </a:xfrm>
          <a:prstGeom prst="rect">
            <a:avLst/>
          </a:prstGeom>
        </p:spPr>
      </p:pic>
      <p:sp>
        <p:nvSpPr>
          <p:cNvPr id="35" name="Text 27"/>
          <p:cNvSpPr txBox="1"/>
          <p:nvPr/>
        </p:nvSpPr>
        <p:spPr>
          <a:xfrm>
            <a:off x="5029200" y="3557016"/>
            <a:ext cx="6309360" cy="457200"/>
          </a:xfrm>
          <a:prstGeom prst="rect">
            <a:avLst/>
          </a:prstGeom>
          <a:noFill/>
          <a:ln/>
        </p:spPr>
        <p:txBody>
          <a:bodyPr wrap="square" lIns="0" tIns="0" rIns="0" bIns="0" rtlCol="0" anchor="ctr"/>
          <a:lstStyle/>
          <a:p>
            <a:pPr indent="0" marL="0">
              <a:buNone/>
            </a:pPr>
            <a:r>
              <a:rPr lang="en-US" sz="1450" b="1" dirty="0">
                <a:solidFill>
                  <a:srgbClr val="17282B"/>
                </a:solidFill>
                <a:latin typeface="Arial" pitchFamily="34" charset="0"/>
                <a:ea typeface="Arial" pitchFamily="34" charset="-122"/>
                <a:cs typeface="Arial" pitchFamily="34" charset="-120"/>
              </a:rPr>
              <a:t>Tính toán, giải bài tập</a:t>
            </a:r>
            <a:endParaRPr lang="en-US" sz="1450" dirty="0"/>
          </a:p>
        </p:txBody>
      </p:sp>
      <p:sp>
        <p:nvSpPr>
          <p:cNvPr id="36" name="Shape 28"/>
          <p:cNvSpPr/>
          <p:nvPr/>
        </p:nvSpPr>
        <p:spPr>
          <a:xfrm>
            <a:off x="4434840" y="4178808"/>
            <a:ext cx="457200" cy="457200"/>
          </a:xfrm>
          <a:prstGeom prst="ellipse">
            <a:avLst/>
          </a:prstGeom>
          <a:solidFill>
            <a:srgbClr val="F2A93B"/>
          </a:solidFill>
          <a:ln/>
        </p:spPr>
      </p:sp>
      <p:pic>
        <p:nvPicPr>
          <p:cNvPr id="37" name="Image 6" descr="/home/claude/aichuyendoiso2/assets/icons/bookopen_0B3B45.png">    </p:cNvPr>
          <p:cNvPicPr>
            <a:picLocks noChangeAspect="1"/>
          </p:cNvPicPr>
          <p:nvPr/>
        </p:nvPicPr>
        <p:blipFill>
          <a:blip r:embed="rId8"/>
          <a:stretch>
            <a:fillRect/>
          </a:stretch>
        </p:blipFill>
        <p:spPr>
          <a:xfrm>
            <a:off x="4558284" y="4302252"/>
            <a:ext cx="210312" cy="210312"/>
          </a:xfrm>
          <a:prstGeom prst="rect">
            <a:avLst/>
          </a:prstGeom>
        </p:spPr>
      </p:pic>
      <p:sp>
        <p:nvSpPr>
          <p:cNvPr id="38" name="Text 29"/>
          <p:cNvSpPr txBox="1"/>
          <p:nvPr/>
        </p:nvSpPr>
        <p:spPr>
          <a:xfrm>
            <a:off x="5029200" y="4178808"/>
            <a:ext cx="6309360" cy="457200"/>
          </a:xfrm>
          <a:prstGeom prst="rect">
            <a:avLst/>
          </a:prstGeom>
          <a:noFill/>
          <a:ln/>
        </p:spPr>
        <p:txBody>
          <a:bodyPr wrap="square" lIns="0" tIns="0" rIns="0" bIns="0" rtlCol="0" anchor="ctr"/>
          <a:lstStyle/>
          <a:p>
            <a:pPr indent="0" marL="0">
              <a:buNone/>
            </a:pPr>
            <a:r>
              <a:rPr lang="en-US" sz="1450" b="1" dirty="0">
                <a:solidFill>
                  <a:srgbClr val="17282B"/>
                </a:solidFill>
                <a:latin typeface="Arial" pitchFamily="34" charset="0"/>
                <a:ea typeface="Arial" pitchFamily="34" charset="-122"/>
                <a:cs typeface="Arial" pitchFamily="34" charset="-120"/>
              </a:rPr>
              <a:t>Tóm tắt bài dài</a:t>
            </a:r>
            <a:endParaRPr lang="en-US" sz="1450" dirty="0"/>
          </a:p>
        </p:txBody>
      </p:sp>
      <p:sp>
        <p:nvSpPr>
          <p:cNvPr id="39" name="Shape 30"/>
          <p:cNvSpPr/>
          <p:nvPr/>
        </p:nvSpPr>
        <p:spPr>
          <a:xfrm>
            <a:off x="4434840" y="4800600"/>
            <a:ext cx="457200" cy="457200"/>
          </a:xfrm>
          <a:prstGeom prst="ellipse">
            <a:avLst/>
          </a:prstGeom>
          <a:solidFill>
            <a:srgbClr val="F2A93B"/>
          </a:solidFill>
          <a:ln/>
        </p:spPr>
      </p:sp>
      <p:pic>
        <p:nvPicPr>
          <p:cNvPr id="40" name="Image 7" descr="/home/claude/aichuyendoiso2/assets/icons/lightbulb_0B3B45.png">    </p:cNvPr>
          <p:cNvPicPr>
            <a:picLocks noChangeAspect="1"/>
          </p:cNvPicPr>
          <p:nvPr/>
        </p:nvPicPr>
        <p:blipFill>
          <a:blip r:embed="rId9"/>
          <a:stretch>
            <a:fillRect/>
          </a:stretch>
        </p:blipFill>
        <p:spPr>
          <a:xfrm>
            <a:off x="4558284" y="4924044"/>
            <a:ext cx="210312" cy="210312"/>
          </a:xfrm>
          <a:prstGeom prst="rect">
            <a:avLst/>
          </a:prstGeom>
        </p:spPr>
      </p:pic>
      <p:sp>
        <p:nvSpPr>
          <p:cNvPr id="41" name="Text 31"/>
          <p:cNvSpPr txBox="1"/>
          <p:nvPr/>
        </p:nvSpPr>
        <p:spPr>
          <a:xfrm>
            <a:off x="5029200" y="4800600"/>
            <a:ext cx="6309360" cy="457200"/>
          </a:xfrm>
          <a:prstGeom prst="rect">
            <a:avLst/>
          </a:prstGeom>
          <a:noFill/>
          <a:ln/>
        </p:spPr>
        <p:txBody>
          <a:bodyPr wrap="square" lIns="0" tIns="0" rIns="0" bIns="0" rtlCol="0" anchor="ctr"/>
          <a:lstStyle/>
          <a:p>
            <a:pPr indent="0" marL="0">
              <a:buNone/>
            </a:pPr>
            <a:r>
              <a:rPr lang="en-US" sz="1450" b="1" dirty="0">
                <a:solidFill>
                  <a:srgbClr val="17282B"/>
                </a:solidFill>
                <a:latin typeface="Arial" pitchFamily="34" charset="0"/>
                <a:ea typeface="Arial" pitchFamily="34" charset="-122"/>
                <a:cs typeface="Arial" pitchFamily="34" charset="-120"/>
              </a:rPr>
              <a:t>Gợi ý ý tưởng</a:t>
            </a:r>
            <a:endParaRPr lang="en-US" sz="1450" dirty="0"/>
          </a:p>
        </p:txBody>
      </p:sp>
      <p:sp>
        <p:nvSpPr>
          <p:cNvPr id="42" name="Shape 32"/>
          <p:cNvSpPr/>
          <p:nvPr/>
        </p:nvSpPr>
        <p:spPr>
          <a:xfrm>
            <a:off x="4434840" y="5513832"/>
            <a:ext cx="6263640" cy="822960"/>
          </a:xfrm>
          <a:prstGeom prst="roundRect">
            <a:avLst>
              <a:gd name="adj" fmla="val 8889"/>
            </a:avLst>
          </a:prstGeom>
          <a:solidFill>
            <a:srgbClr val="0B3B45"/>
          </a:solidFill>
          <a:ln/>
        </p:spPr>
      </p:sp>
      <p:sp>
        <p:nvSpPr>
          <p:cNvPr id="43" name="Text 33"/>
          <p:cNvSpPr txBox="1"/>
          <p:nvPr/>
        </p:nvSpPr>
        <p:spPr>
          <a:xfrm>
            <a:off x="4663440" y="5513832"/>
            <a:ext cx="5852160" cy="822960"/>
          </a:xfrm>
          <a:prstGeom prst="rect">
            <a:avLst/>
          </a:prstGeom>
          <a:noFill/>
          <a:ln/>
        </p:spPr>
        <p:txBody>
          <a:bodyPr wrap="square" lIns="0" tIns="0" rIns="0" bIns="0" rtlCol="0" anchor="ctr"/>
          <a:lstStyle/>
          <a:p>
            <a:pPr indent="0" marL="0">
              <a:lnSpc>
                <a:spcPts val="1400"/>
              </a:lnSpc>
              <a:buNone/>
            </a:pPr>
            <a:r>
              <a:rPr lang="en-US" sz="1150" dirty="0">
                <a:solidFill>
                  <a:srgbClr val="D7ECEC"/>
                </a:solidFill>
                <a:latin typeface="Arial" pitchFamily="34" charset="0"/>
                <a:ea typeface="Arial" pitchFamily="34" charset="-122"/>
                <a:cs typeface="Arial" pitchFamily="34" charset="-120"/>
              </a:rPr>
              <a:t>[DEMO trực tiếp — nếu lớp có mạng] Mở ChatGPT/Gemini trên máy chiếu, gõ thử 1 câu hỏi để cả lớp thấy kết quả thật.</a:t>
            </a:r>
            <a:endParaRPr lang="en-US" sz="115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347472"/>
            <a:ext cx="457200" cy="457200"/>
          </a:xfrm>
          <a:prstGeom prst="ellipse">
            <a:avLst/>
          </a:prstGeom>
          <a:solidFill>
            <a:srgbClr val="127C82"/>
          </a:solidFill>
          <a:ln/>
        </p:spPr>
      </p:sp>
      <p:pic>
        <p:nvPicPr>
          <p:cNvPr id="3" name="Image 0" descr="/home/claude/aichuyendoiso2/assets/icons/graduationcap_FFFFFF.png">    </p:cNvPr>
          <p:cNvPicPr>
            <a:picLocks noChangeAspect="1"/>
          </p:cNvPicPr>
          <p:nvPr/>
        </p:nvPicPr>
        <p:blipFill>
          <a:blip r:embed="rId2"/>
          <a:stretch>
            <a:fillRect/>
          </a:stretch>
        </p:blipFill>
        <p:spPr>
          <a:xfrm>
            <a:off x="580644" y="470916"/>
            <a:ext cx="210312" cy="210312"/>
          </a:xfrm>
          <a:prstGeom prst="rect">
            <a:avLst/>
          </a:prstGeom>
        </p:spPr>
      </p:pic>
      <p:sp>
        <p:nvSpPr>
          <p:cNvPr id="4" name="Text 1"/>
          <p:cNvSpPr txBox="1"/>
          <p:nvPr/>
        </p:nvSpPr>
        <p:spPr>
          <a:xfrm>
            <a:off x="1051560" y="301752"/>
            <a:ext cx="10607040" cy="566928"/>
          </a:xfrm>
          <a:prstGeom prst="rect">
            <a:avLst/>
          </a:prstGeom>
          <a:noFill/>
          <a:ln/>
        </p:spPr>
        <p:txBody>
          <a:bodyPr wrap="square" lIns="0" tIns="0" rIns="0" bIns="0" rtlCol="0" anchor="ctr"/>
          <a:lstStyle/>
          <a:p>
            <a:pPr indent="0" marL="0">
              <a:buNone/>
            </a:pPr>
            <a:r>
              <a:rPr lang="en-US" sz="2600" b="1" dirty="0">
                <a:solidFill>
                  <a:srgbClr val="0B5257"/>
                </a:solidFill>
                <a:latin typeface="Arial" pitchFamily="34" charset="0"/>
                <a:ea typeface="Arial" pitchFamily="34" charset="-122"/>
                <a:cs typeface="Arial" pitchFamily="34" charset="-120"/>
              </a:rPr>
              <a:t>AI Hỗ Trợ Việc Học Tập</a:t>
            </a:r>
            <a:endParaRPr lang="en-US" sz="2600" dirty="0"/>
          </a:p>
        </p:txBody>
      </p:sp>
      <p:sp>
        <p:nvSpPr>
          <p:cNvPr id="5" name="Text 2"/>
          <p:cNvSpPr txBox="1"/>
          <p:nvPr/>
        </p:nvSpPr>
        <p:spPr>
          <a:xfrm>
            <a:off x="457200" y="6492240"/>
            <a:ext cx="7315200" cy="274320"/>
          </a:xfrm>
          <a:prstGeom prst="rect">
            <a:avLst/>
          </a:prstGeom>
          <a:noFill/>
          <a:ln/>
        </p:spPr>
        <p:txBody>
          <a:bodyPr wrap="square" lIns="0" tIns="0" rIns="0" bIns="0" rtlCol="0" anchor="ctr"/>
          <a:lstStyle/>
          <a:p>
            <a:pPr algn="l" indent="0" marL="0">
              <a:buNone/>
            </a:pPr>
            <a:r>
              <a:rPr lang="en-US" sz="1000" dirty="0">
                <a:solidFill>
                  <a:srgbClr val="5C7378"/>
                </a:solidFill>
                <a:latin typeface="Arial" pitchFamily="34" charset="0"/>
                <a:ea typeface="Arial" pitchFamily="34" charset="-122"/>
                <a:cs typeface="Arial" pitchFamily="34" charset="-120"/>
              </a:rPr>
              <a:t>Phần 3 · Công cụ AI &amp; Prompt (Câu lệnh)</a:t>
            </a:r>
            <a:endParaRPr lang="en-US" sz="1000" dirty="0"/>
          </a:p>
        </p:txBody>
      </p:sp>
      <p:sp>
        <p:nvSpPr>
          <p:cNvPr id="6" name="Text 3"/>
          <p:cNvSpPr txBox="1"/>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C7378"/>
                </a:solidFill>
                <a:latin typeface="Arial" pitchFamily="34" charset="0"/>
                <a:ea typeface="Arial" pitchFamily="34" charset="-122"/>
                <a:cs typeface="Arial" pitchFamily="34" charset="-120"/>
              </a:rPr>
              <a:t>16</a:t>
            </a:r>
            <a:endParaRPr lang="en-US" sz="1000" dirty="0"/>
          </a:p>
        </p:txBody>
      </p:sp>
      <p:sp>
        <p:nvSpPr>
          <p:cNvPr id="7" name="Text 4"/>
          <p:cNvSpPr txBox="1"/>
          <p:nvPr/>
        </p:nvSpPr>
        <p:spPr>
          <a:xfrm>
            <a:off x="731520" y="1188720"/>
            <a:ext cx="10698480" cy="365760"/>
          </a:xfrm>
          <a:prstGeom prst="rect">
            <a:avLst/>
          </a:prstGeom>
          <a:noFill/>
          <a:ln/>
        </p:spPr>
        <p:txBody>
          <a:bodyPr wrap="square" lIns="0" tIns="0" rIns="0" bIns="0" rtlCol="0" anchor="ctr"/>
          <a:lstStyle/>
          <a:p>
            <a:pPr indent="0" marL="0">
              <a:buNone/>
            </a:pPr>
            <a:r>
              <a:rPr lang="en-US" sz="1400" i="1" dirty="0">
                <a:solidFill>
                  <a:srgbClr val="0B5257"/>
                </a:solidFill>
                <a:latin typeface="Arial" pitchFamily="34" charset="0"/>
                <a:ea typeface="Arial" pitchFamily="34" charset="-122"/>
                <a:cs typeface="Arial" pitchFamily="34" charset="-120"/>
              </a:rPr>
              <a:t>Thực hành ngay với chính vở/bài tập của em — hai công cụ AI MIỄN PHÍ dành riêng cho việc học:</a:t>
            </a:r>
            <a:endParaRPr lang="en-US" sz="1400" dirty="0"/>
          </a:p>
        </p:txBody>
      </p:sp>
      <p:sp>
        <p:nvSpPr>
          <p:cNvPr id="8" name="Shape 5"/>
          <p:cNvSpPr/>
          <p:nvPr/>
        </p:nvSpPr>
        <p:spPr>
          <a:xfrm>
            <a:off x="731520" y="4892040"/>
            <a:ext cx="10698480" cy="1371600"/>
          </a:xfrm>
          <a:prstGeom prst="roundRect">
            <a:avLst>
              <a:gd name="adj" fmla="val 6000"/>
            </a:avLst>
          </a:prstGeom>
          <a:solidFill>
            <a:srgbClr val="0B3B45"/>
          </a:solidFill>
          <a:ln/>
        </p:spPr>
      </p:sp>
      <p:sp>
        <p:nvSpPr>
          <p:cNvPr id="9" name="Text 6"/>
          <p:cNvSpPr txBox="1"/>
          <p:nvPr/>
        </p:nvSpPr>
        <p:spPr>
          <a:xfrm>
            <a:off x="960120" y="4983480"/>
            <a:ext cx="10241280" cy="256032"/>
          </a:xfrm>
          <a:prstGeom prst="rect">
            <a:avLst/>
          </a:prstGeom>
          <a:noFill/>
          <a:ln/>
        </p:spPr>
        <p:txBody>
          <a:bodyPr wrap="square" lIns="0" tIns="0" rIns="0" bIns="0" rtlCol="0" anchor="ctr"/>
          <a:lstStyle/>
          <a:p>
            <a:pPr indent="0" marL="0">
              <a:buNone/>
            </a:pPr>
            <a:r>
              <a:rPr lang="en-US" sz="1150" b="1" dirty="0">
                <a:solidFill>
                  <a:srgbClr val="F2A93B"/>
                </a:solidFill>
                <a:latin typeface="Arial" pitchFamily="34" charset="0"/>
                <a:ea typeface="Arial" pitchFamily="34" charset="-122"/>
                <a:cs typeface="Arial" pitchFamily="34" charset="-120"/>
              </a:rPr>
              <a:t>3 BƯỚC THỰC HÀNH NGAY (dùng đúng 1 trang vở/bài tập em mang theo):</a:t>
            </a:r>
            <a:endParaRPr lang="en-US" sz="1150" dirty="0"/>
          </a:p>
        </p:txBody>
      </p:sp>
      <p:sp>
        <p:nvSpPr>
          <p:cNvPr id="10" name="Shape 7"/>
          <p:cNvSpPr/>
          <p:nvPr/>
        </p:nvSpPr>
        <p:spPr>
          <a:xfrm>
            <a:off x="960120" y="5312664"/>
            <a:ext cx="329184" cy="329184"/>
          </a:xfrm>
          <a:prstGeom prst="ellipse">
            <a:avLst/>
          </a:prstGeom>
          <a:solidFill>
            <a:srgbClr val="F2A93B"/>
          </a:solidFill>
          <a:ln/>
        </p:spPr>
      </p:sp>
      <p:pic>
        <p:nvPicPr>
          <p:cNvPr id="11" name="Image 1" descr="/home/claude/aichuyendoiso2/assets/icons/circlecheck_0B3B45.png">    </p:cNvPr>
          <p:cNvPicPr>
            <a:picLocks noChangeAspect="1"/>
          </p:cNvPicPr>
          <p:nvPr/>
        </p:nvPicPr>
        <p:blipFill>
          <a:blip r:embed="rId3"/>
          <a:stretch>
            <a:fillRect/>
          </a:stretch>
        </p:blipFill>
        <p:spPr>
          <a:xfrm>
            <a:off x="1049000" y="5401544"/>
            <a:ext cx="151425" cy="151425"/>
          </a:xfrm>
          <a:prstGeom prst="rect">
            <a:avLst/>
          </a:prstGeom>
        </p:spPr>
      </p:pic>
      <p:sp>
        <p:nvSpPr>
          <p:cNvPr id="12" name="Text 8"/>
          <p:cNvSpPr txBox="1"/>
          <p:nvPr/>
        </p:nvSpPr>
        <p:spPr>
          <a:xfrm>
            <a:off x="1380744" y="5294376"/>
            <a:ext cx="2910840" cy="219456"/>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Bước 1</a:t>
            </a:r>
            <a:endParaRPr lang="en-US" sz="1050" dirty="0"/>
          </a:p>
        </p:txBody>
      </p:sp>
      <p:sp>
        <p:nvSpPr>
          <p:cNvPr id="13" name="Text 9"/>
          <p:cNvSpPr txBox="1"/>
          <p:nvPr/>
        </p:nvSpPr>
        <p:spPr>
          <a:xfrm>
            <a:off x="960120" y="5641848"/>
            <a:ext cx="3230880" cy="530352"/>
          </a:xfrm>
          <a:prstGeom prst="rect">
            <a:avLst/>
          </a:prstGeom>
          <a:noFill/>
          <a:ln/>
        </p:spPr>
        <p:txBody>
          <a:bodyPr wrap="square" lIns="0" tIns="0" rIns="0" bIns="0" rtlCol="0" anchor="ctr"/>
          <a:lstStyle/>
          <a:p>
            <a:pPr indent="0" marL="0">
              <a:lnSpc>
                <a:spcPts val="1300"/>
              </a:lnSpc>
              <a:buNone/>
            </a:pPr>
            <a:r>
              <a:rPr lang="en-US" sz="1000" dirty="0">
                <a:solidFill>
                  <a:srgbClr val="D7ECEC"/>
                </a:solidFill>
                <a:latin typeface="Arial" pitchFamily="34" charset="0"/>
                <a:ea typeface="Arial" pitchFamily="34" charset="-122"/>
                <a:cs typeface="Arial" pitchFamily="34" charset="-120"/>
              </a:rPr>
              <a:t>Lấy 1 trang vở ghi hoặc bài tập đang làm dở của môn đang học.</a:t>
            </a:r>
            <a:endParaRPr lang="en-US" sz="1000" dirty="0"/>
          </a:p>
        </p:txBody>
      </p:sp>
      <p:sp>
        <p:nvSpPr>
          <p:cNvPr id="14" name="Shape 10"/>
          <p:cNvSpPr/>
          <p:nvPr/>
        </p:nvSpPr>
        <p:spPr>
          <a:xfrm>
            <a:off x="4373880" y="5312664"/>
            <a:ext cx="329184" cy="329184"/>
          </a:xfrm>
          <a:prstGeom prst="ellipse">
            <a:avLst/>
          </a:prstGeom>
          <a:solidFill>
            <a:srgbClr val="F2A93B"/>
          </a:solidFill>
          <a:ln/>
        </p:spPr>
      </p:sp>
      <p:pic>
        <p:nvPicPr>
          <p:cNvPr id="15" name="Image 2" descr="/home/claude/aichuyendoiso2/assets/icons/circlecheck_0B3B45.png">    </p:cNvPr>
          <p:cNvPicPr>
            <a:picLocks noChangeAspect="1"/>
          </p:cNvPicPr>
          <p:nvPr/>
        </p:nvPicPr>
        <p:blipFill>
          <a:blip r:embed="rId4"/>
          <a:stretch>
            <a:fillRect/>
          </a:stretch>
        </p:blipFill>
        <p:spPr>
          <a:xfrm>
            <a:off x="4462760" y="5401544"/>
            <a:ext cx="151425" cy="151425"/>
          </a:xfrm>
          <a:prstGeom prst="rect">
            <a:avLst/>
          </a:prstGeom>
        </p:spPr>
      </p:pic>
      <p:sp>
        <p:nvSpPr>
          <p:cNvPr id="16" name="Text 11"/>
          <p:cNvSpPr txBox="1"/>
          <p:nvPr/>
        </p:nvSpPr>
        <p:spPr>
          <a:xfrm>
            <a:off x="4794504" y="5294376"/>
            <a:ext cx="2910840" cy="219456"/>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Bước 2</a:t>
            </a:r>
            <a:endParaRPr lang="en-US" sz="1050" dirty="0"/>
          </a:p>
        </p:txBody>
      </p:sp>
      <p:sp>
        <p:nvSpPr>
          <p:cNvPr id="17" name="Text 12"/>
          <p:cNvSpPr txBox="1"/>
          <p:nvPr/>
        </p:nvSpPr>
        <p:spPr>
          <a:xfrm>
            <a:off x="4373880" y="5641848"/>
            <a:ext cx="3230880" cy="530352"/>
          </a:xfrm>
          <a:prstGeom prst="rect">
            <a:avLst/>
          </a:prstGeom>
          <a:noFill/>
          <a:ln/>
        </p:spPr>
        <p:txBody>
          <a:bodyPr wrap="square" lIns="0" tIns="0" rIns="0" bIns="0" rtlCol="0" anchor="ctr"/>
          <a:lstStyle/>
          <a:p>
            <a:pPr indent="0" marL="0">
              <a:lnSpc>
                <a:spcPts val="1300"/>
              </a:lnSpc>
              <a:buNone/>
            </a:pPr>
            <a:r>
              <a:rPr lang="en-US" sz="1000" dirty="0">
                <a:solidFill>
                  <a:srgbClr val="D7ECEC"/>
                </a:solidFill>
                <a:latin typeface="Arial" pitchFamily="34" charset="0"/>
                <a:ea typeface="Arial" pitchFamily="34" charset="-122"/>
                <a:cs typeface="Arial" pitchFamily="34" charset="-120"/>
              </a:rPr>
              <a:t>Chụp ảnh, tải lên NotebookLM (ghi chú) hoặc Photomath (bài toán).</a:t>
            </a:r>
            <a:endParaRPr lang="en-US" sz="1000" dirty="0"/>
          </a:p>
        </p:txBody>
      </p:sp>
      <p:sp>
        <p:nvSpPr>
          <p:cNvPr id="18" name="Shape 13"/>
          <p:cNvSpPr/>
          <p:nvPr/>
        </p:nvSpPr>
        <p:spPr>
          <a:xfrm>
            <a:off x="7787640" y="5312664"/>
            <a:ext cx="329184" cy="329184"/>
          </a:xfrm>
          <a:prstGeom prst="ellipse">
            <a:avLst/>
          </a:prstGeom>
          <a:solidFill>
            <a:srgbClr val="F2A93B"/>
          </a:solidFill>
          <a:ln/>
        </p:spPr>
      </p:sp>
      <p:pic>
        <p:nvPicPr>
          <p:cNvPr id="19" name="Image 3" descr="/home/claude/aichuyendoiso2/assets/icons/circlecheck_0B3B45.png">    </p:cNvPr>
          <p:cNvPicPr>
            <a:picLocks noChangeAspect="1"/>
          </p:cNvPicPr>
          <p:nvPr/>
        </p:nvPicPr>
        <p:blipFill>
          <a:blip r:embed="rId5"/>
          <a:stretch>
            <a:fillRect/>
          </a:stretch>
        </p:blipFill>
        <p:spPr>
          <a:xfrm>
            <a:off x="7876520" y="5401544"/>
            <a:ext cx="151425" cy="151425"/>
          </a:xfrm>
          <a:prstGeom prst="rect">
            <a:avLst/>
          </a:prstGeom>
        </p:spPr>
      </p:pic>
      <p:sp>
        <p:nvSpPr>
          <p:cNvPr id="20" name="Text 14"/>
          <p:cNvSpPr txBox="1"/>
          <p:nvPr/>
        </p:nvSpPr>
        <p:spPr>
          <a:xfrm>
            <a:off x="8208264" y="5294376"/>
            <a:ext cx="2910840" cy="219456"/>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Bước 3</a:t>
            </a:r>
            <a:endParaRPr lang="en-US" sz="1050" dirty="0"/>
          </a:p>
        </p:txBody>
      </p:sp>
      <p:sp>
        <p:nvSpPr>
          <p:cNvPr id="21" name="Text 15"/>
          <p:cNvSpPr txBox="1"/>
          <p:nvPr/>
        </p:nvSpPr>
        <p:spPr>
          <a:xfrm>
            <a:off x="7787640" y="5641848"/>
            <a:ext cx="3230880" cy="530352"/>
          </a:xfrm>
          <a:prstGeom prst="rect">
            <a:avLst/>
          </a:prstGeom>
          <a:noFill/>
          <a:ln/>
        </p:spPr>
        <p:txBody>
          <a:bodyPr wrap="square" lIns="0" tIns="0" rIns="0" bIns="0" rtlCol="0" anchor="ctr"/>
          <a:lstStyle/>
          <a:p>
            <a:pPr indent="0" marL="0">
              <a:lnSpc>
                <a:spcPts val="1300"/>
              </a:lnSpc>
              <a:buNone/>
            </a:pPr>
            <a:r>
              <a:rPr lang="en-US" sz="1000" dirty="0">
                <a:solidFill>
                  <a:srgbClr val="D7ECEC"/>
                </a:solidFill>
                <a:latin typeface="Arial" pitchFamily="34" charset="0"/>
                <a:ea typeface="Arial" pitchFamily="34" charset="-122"/>
                <a:cs typeface="Arial" pitchFamily="34" charset="-120"/>
              </a:rPr>
              <a:t>Đọc kết quả AI, so sánh cách làm thường ngày — chỗ nào đúng, chỗ nào cần kiểm tra lại.</a:t>
            </a:r>
            <a:endParaRPr lang="en-US" sz="1000" dirty="0"/>
          </a:p>
        </p:txBody>
      </p:sp>
      <p:sp>
        <p:nvSpPr>
          <p:cNvPr id="22" name="Shape 16"/>
          <p:cNvSpPr/>
          <p:nvPr/>
        </p:nvSpPr>
        <p:spPr>
          <a:xfrm>
            <a:off x="731520" y="1691640"/>
            <a:ext cx="10698480" cy="1408176"/>
          </a:xfrm>
          <a:prstGeom prst="roundRect">
            <a:avLst>
              <a:gd name="adj" fmla="val 5195"/>
            </a:avLst>
          </a:prstGeom>
          <a:solidFill>
            <a:srgbClr val="EEF5F5"/>
          </a:solidFill>
          <a:ln w="12700">
            <a:solidFill>
              <a:srgbClr val="D6E6E6"/>
            </a:solidFill>
            <a:prstDash val="solid"/>
          </a:ln>
        </p:spPr>
      </p:sp>
      <p:sp>
        <p:nvSpPr>
          <p:cNvPr id="23" name="Shape 17"/>
          <p:cNvSpPr/>
          <p:nvPr/>
        </p:nvSpPr>
        <p:spPr>
          <a:xfrm>
            <a:off x="932688" y="2139696"/>
            <a:ext cx="566928" cy="566928"/>
          </a:xfrm>
          <a:prstGeom prst="ellipse">
            <a:avLst/>
          </a:prstGeom>
          <a:solidFill>
            <a:srgbClr val="127C82"/>
          </a:solidFill>
          <a:ln/>
        </p:spPr>
      </p:sp>
      <p:pic>
        <p:nvPicPr>
          <p:cNvPr id="24" name="Image 4" descr="/home/claude/aichuyendoiso2/assets/icons/bookopen_FFFFFF.png">    </p:cNvPr>
          <p:cNvPicPr>
            <a:picLocks noChangeAspect="1"/>
          </p:cNvPicPr>
          <p:nvPr/>
        </p:nvPicPr>
        <p:blipFill>
          <a:blip r:embed="rId6"/>
          <a:stretch>
            <a:fillRect/>
          </a:stretch>
        </p:blipFill>
        <p:spPr>
          <a:xfrm>
            <a:off x="1085759" y="2292767"/>
            <a:ext cx="260787" cy="260787"/>
          </a:xfrm>
          <a:prstGeom prst="rect">
            <a:avLst/>
          </a:prstGeom>
        </p:spPr>
      </p:pic>
      <p:sp>
        <p:nvSpPr>
          <p:cNvPr id="25" name="Text 18"/>
          <p:cNvSpPr txBox="1"/>
          <p:nvPr/>
        </p:nvSpPr>
        <p:spPr>
          <a:xfrm>
            <a:off x="1691640" y="1755648"/>
            <a:ext cx="6035040" cy="365760"/>
          </a:xfrm>
          <a:prstGeom prst="rect">
            <a:avLst/>
          </a:prstGeom>
          <a:noFill/>
          <a:ln/>
        </p:spPr>
        <p:txBody>
          <a:bodyPr wrap="square" lIns="0" tIns="0" rIns="0" bIns="0" rtlCol="0" anchor="b"/>
          <a:lstStyle/>
          <a:p>
            <a:pPr indent="0" marL="0">
              <a:buNone/>
            </a:pPr>
            <a:r>
              <a:rPr lang="en-US" sz="1550" b="1" dirty="0">
                <a:solidFill>
                  <a:srgbClr val="17282B"/>
                </a:solidFill>
                <a:latin typeface="Arial" pitchFamily="34" charset="0"/>
                <a:ea typeface="Arial" pitchFamily="34" charset="-122"/>
                <a:cs typeface="Arial" pitchFamily="34" charset="-120"/>
              </a:rPr>
              <a:t>NotebookLM (Google)</a:t>
            </a:r>
            <a:endParaRPr lang="en-US" sz="1550" dirty="0"/>
          </a:p>
        </p:txBody>
      </p:sp>
      <p:sp>
        <p:nvSpPr>
          <p:cNvPr id="26" name="Text 19"/>
          <p:cNvSpPr txBox="1"/>
          <p:nvPr/>
        </p:nvSpPr>
        <p:spPr>
          <a:xfrm>
            <a:off x="1691640" y="2103120"/>
            <a:ext cx="6035040" cy="960120"/>
          </a:xfrm>
          <a:prstGeom prst="rect">
            <a:avLst/>
          </a:prstGeom>
          <a:noFill/>
          <a:ln/>
        </p:spPr>
        <p:txBody>
          <a:bodyPr wrap="square" lIns="0" tIns="0" rIns="0" bIns="0" rtlCol="0" anchor="t"/>
          <a:lstStyle/>
          <a:p>
            <a:pPr indent="0" marL="0">
              <a:lnSpc>
                <a:spcPts val="1500"/>
              </a:lnSpc>
              <a:buNone/>
            </a:pPr>
            <a:r>
              <a:rPr lang="en-US" sz="1250" dirty="0">
                <a:solidFill>
                  <a:srgbClr val="5C7378"/>
                </a:solidFill>
                <a:latin typeface="Arial" pitchFamily="34" charset="0"/>
                <a:ea typeface="Arial" pitchFamily="34" charset="-122"/>
                <a:cs typeface="Arial" pitchFamily="34" charset="-120"/>
              </a:rPr>
              <a:t>Tải file bài giảng/ảnh chụp vở ghi lên → AI tóm tắt, tạo câu hỏi ôn tập, giải thích lại phần khó hiểu. Ví dụ: tải 10 trang bài giảng môn học lên → có ngay bản tóm tắt + 5 câu hỏi ôn tập trong chưa đầy 1 phút.</a:t>
            </a:r>
            <a:endParaRPr lang="en-US" sz="1250" dirty="0"/>
          </a:p>
        </p:txBody>
      </p:sp>
      <p:pic>
        <p:nvPicPr>
          <p:cNvPr id="27" name="Image 5" descr="/home/claude/aichuyendoiso2/assets/qr_notebooklm.png">    </p:cNvPr>
          <p:cNvPicPr>
            <a:picLocks noChangeAspect="1"/>
          </p:cNvPicPr>
          <p:nvPr/>
        </p:nvPicPr>
        <p:blipFill>
          <a:blip r:embed="rId7"/>
          <a:stretch>
            <a:fillRect/>
          </a:stretch>
        </p:blipFill>
        <p:spPr>
          <a:xfrm>
            <a:off x="9784080" y="1988820"/>
            <a:ext cx="868680" cy="868680"/>
          </a:xfrm>
          <a:prstGeom prst="rect">
            <a:avLst/>
          </a:prstGeom>
        </p:spPr>
      </p:pic>
      <p:sp>
        <p:nvSpPr>
          <p:cNvPr id="28" name="Text 20"/>
          <p:cNvSpPr txBox="1"/>
          <p:nvPr/>
        </p:nvSpPr>
        <p:spPr>
          <a:xfrm>
            <a:off x="7680960" y="2221992"/>
            <a:ext cx="1965960" cy="402336"/>
          </a:xfrm>
          <a:prstGeom prst="rect">
            <a:avLst/>
          </a:prstGeom>
          <a:noFill/>
          <a:ln/>
        </p:spPr>
        <p:txBody>
          <a:bodyPr wrap="square" lIns="0" tIns="0" rIns="0" bIns="0" rtlCol="0" anchor="ctr"/>
          <a:lstStyle/>
          <a:p>
            <a:pPr algn="r" indent="0" marL="0">
              <a:lnSpc>
                <a:spcPts val="1300"/>
              </a:lnSpc>
              <a:buNone/>
            </a:pPr>
            <a:r>
              <a:rPr lang="en-US" sz="1150" i="1" dirty="0">
                <a:solidFill>
                  <a:srgbClr val="0B5257"/>
                </a:solidFill>
                <a:latin typeface="Arial" pitchFamily="34" charset="0"/>
                <a:ea typeface="Arial" pitchFamily="34" charset="-122"/>
                <a:cs typeface="Arial" pitchFamily="34" charset="-120"/>
              </a:rPr>
              <a:t>notebook.google.com</a:t>
            </a:r>
            <a:endParaRPr lang="en-US" sz="1150" dirty="0"/>
          </a:p>
        </p:txBody>
      </p:sp>
      <p:sp>
        <p:nvSpPr>
          <p:cNvPr id="29" name="Shape 21"/>
          <p:cNvSpPr/>
          <p:nvPr/>
        </p:nvSpPr>
        <p:spPr>
          <a:xfrm>
            <a:off x="731520" y="3246120"/>
            <a:ext cx="10698480" cy="1408176"/>
          </a:xfrm>
          <a:prstGeom prst="roundRect">
            <a:avLst>
              <a:gd name="adj" fmla="val 5195"/>
            </a:avLst>
          </a:prstGeom>
          <a:solidFill>
            <a:srgbClr val="FFFFFF"/>
          </a:solidFill>
          <a:ln w="12700">
            <a:solidFill>
              <a:srgbClr val="D6E6E6"/>
            </a:solidFill>
            <a:prstDash val="solid"/>
          </a:ln>
        </p:spPr>
      </p:sp>
      <p:sp>
        <p:nvSpPr>
          <p:cNvPr id="30" name="Shape 22"/>
          <p:cNvSpPr/>
          <p:nvPr/>
        </p:nvSpPr>
        <p:spPr>
          <a:xfrm>
            <a:off x="932688" y="3694176"/>
            <a:ext cx="566928" cy="566928"/>
          </a:xfrm>
          <a:prstGeom prst="ellipse">
            <a:avLst/>
          </a:prstGeom>
          <a:solidFill>
            <a:srgbClr val="127C82"/>
          </a:solidFill>
          <a:ln/>
        </p:spPr>
      </p:sp>
      <p:pic>
        <p:nvPicPr>
          <p:cNvPr id="31" name="Image 6" descr="/home/claude/aichuyendoiso2/assets/icons/calculator_FFFFFF.png">    </p:cNvPr>
          <p:cNvPicPr>
            <a:picLocks noChangeAspect="1"/>
          </p:cNvPicPr>
          <p:nvPr/>
        </p:nvPicPr>
        <p:blipFill>
          <a:blip r:embed="rId8"/>
          <a:stretch>
            <a:fillRect/>
          </a:stretch>
        </p:blipFill>
        <p:spPr>
          <a:xfrm>
            <a:off x="1085759" y="3847247"/>
            <a:ext cx="260787" cy="260787"/>
          </a:xfrm>
          <a:prstGeom prst="rect">
            <a:avLst/>
          </a:prstGeom>
        </p:spPr>
      </p:pic>
      <p:sp>
        <p:nvSpPr>
          <p:cNvPr id="32" name="Text 23"/>
          <p:cNvSpPr txBox="1"/>
          <p:nvPr/>
        </p:nvSpPr>
        <p:spPr>
          <a:xfrm>
            <a:off x="1691640" y="3310128"/>
            <a:ext cx="6035040" cy="365760"/>
          </a:xfrm>
          <a:prstGeom prst="rect">
            <a:avLst/>
          </a:prstGeom>
          <a:noFill/>
          <a:ln/>
        </p:spPr>
        <p:txBody>
          <a:bodyPr wrap="square" lIns="0" tIns="0" rIns="0" bIns="0" rtlCol="0" anchor="b"/>
          <a:lstStyle/>
          <a:p>
            <a:pPr indent="0" marL="0">
              <a:buNone/>
            </a:pPr>
            <a:r>
              <a:rPr lang="en-US" sz="1550" b="1" dirty="0">
                <a:solidFill>
                  <a:srgbClr val="17282B"/>
                </a:solidFill>
                <a:latin typeface="Arial" pitchFamily="34" charset="0"/>
                <a:ea typeface="Arial" pitchFamily="34" charset="-122"/>
                <a:cs typeface="Arial" pitchFamily="34" charset="-120"/>
              </a:rPr>
              <a:t>Photomath</a:t>
            </a:r>
            <a:endParaRPr lang="en-US" sz="1550" dirty="0"/>
          </a:p>
        </p:txBody>
      </p:sp>
      <p:sp>
        <p:nvSpPr>
          <p:cNvPr id="33" name="Text 24"/>
          <p:cNvSpPr txBox="1"/>
          <p:nvPr/>
        </p:nvSpPr>
        <p:spPr>
          <a:xfrm>
            <a:off x="1691640" y="3657600"/>
            <a:ext cx="6035040" cy="960120"/>
          </a:xfrm>
          <a:prstGeom prst="rect">
            <a:avLst/>
          </a:prstGeom>
          <a:noFill/>
          <a:ln/>
        </p:spPr>
        <p:txBody>
          <a:bodyPr wrap="square" lIns="0" tIns="0" rIns="0" bIns="0" rtlCol="0" anchor="t"/>
          <a:lstStyle/>
          <a:p>
            <a:pPr indent="0" marL="0">
              <a:lnSpc>
                <a:spcPts val="1500"/>
              </a:lnSpc>
              <a:buNone/>
            </a:pPr>
            <a:r>
              <a:rPr lang="en-US" sz="1250" dirty="0">
                <a:solidFill>
                  <a:srgbClr val="5C7378"/>
                </a:solidFill>
                <a:latin typeface="Arial" pitchFamily="34" charset="0"/>
                <a:ea typeface="Arial" pitchFamily="34" charset="-122"/>
                <a:cs typeface="Arial" pitchFamily="34" charset="-120"/>
              </a:rPr>
              <a:t>Chụp ảnh bài toán, công thức kỹ thuật, điện, xây dựng → AI giải từng bước kèm hình minh họa. Ví dụ: chụp đề bài tính điện trở tương đương → xem lời giải chi tiết từng bước như có gia sư kèm riêng.</a:t>
            </a:r>
            <a:endParaRPr lang="en-US" sz="1250" dirty="0"/>
          </a:p>
        </p:txBody>
      </p:sp>
      <p:pic>
        <p:nvPicPr>
          <p:cNvPr id="34" name="Image 7" descr="/home/claude/aichuyendoiso2/assets/qr_photomath.png">    </p:cNvPr>
          <p:cNvPicPr>
            <a:picLocks noChangeAspect="1"/>
          </p:cNvPicPr>
          <p:nvPr/>
        </p:nvPicPr>
        <p:blipFill>
          <a:blip r:embed="rId9"/>
          <a:stretch>
            <a:fillRect/>
          </a:stretch>
        </p:blipFill>
        <p:spPr>
          <a:xfrm>
            <a:off x="9784080" y="3543300"/>
            <a:ext cx="868680" cy="868680"/>
          </a:xfrm>
          <a:prstGeom prst="rect">
            <a:avLst/>
          </a:prstGeom>
        </p:spPr>
      </p:pic>
      <p:sp>
        <p:nvSpPr>
          <p:cNvPr id="35" name="Text 25"/>
          <p:cNvSpPr txBox="1"/>
          <p:nvPr/>
        </p:nvSpPr>
        <p:spPr>
          <a:xfrm>
            <a:off x="7680960" y="3776472"/>
            <a:ext cx="1965960" cy="402336"/>
          </a:xfrm>
          <a:prstGeom prst="rect">
            <a:avLst/>
          </a:prstGeom>
          <a:noFill/>
          <a:ln/>
        </p:spPr>
        <p:txBody>
          <a:bodyPr wrap="square" lIns="0" tIns="0" rIns="0" bIns="0" rtlCol="0" anchor="ctr"/>
          <a:lstStyle/>
          <a:p>
            <a:pPr algn="r" indent="0" marL="0">
              <a:lnSpc>
                <a:spcPts val="1300"/>
              </a:lnSpc>
              <a:buNone/>
            </a:pPr>
            <a:r>
              <a:rPr lang="en-US" sz="1150" i="1" dirty="0">
                <a:solidFill>
                  <a:srgbClr val="0B5257"/>
                </a:solidFill>
                <a:latin typeface="Arial" pitchFamily="34" charset="0"/>
                <a:ea typeface="Arial" pitchFamily="34" charset="-122"/>
                <a:cs typeface="Arial" pitchFamily="34" charset="-120"/>
              </a:rPr>
              <a:t>photomath.com</a:t>
            </a:r>
            <a:endParaRPr lang="en-US" sz="115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937760" y="960120"/>
            <a:ext cx="2286000" cy="2286000"/>
          </a:xfrm>
          <a:prstGeom prst="ellipse">
            <a:avLst/>
          </a:prstGeom>
          <a:solidFill>
            <a:srgbClr val="F2A93B"/>
          </a:solidFill>
          <a:ln/>
        </p:spPr>
      </p:sp>
      <p:pic>
        <p:nvPicPr>
          <p:cNvPr id="3" name="Image 0" descr="/home/claude/aichuyendoiso2/assets/icons/lightbulb_0B3B45.png">    </p:cNvPr>
          <p:cNvPicPr>
            <a:picLocks noChangeAspect="1"/>
          </p:cNvPicPr>
          <p:nvPr/>
        </p:nvPicPr>
        <p:blipFill>
          <a:blip r:embed="rId2"/>
          <a:stretch>
            <a:fillRect/>
          </a:stretch>
        </p:blipFill>
        <p:spPr>
          <a:xfrm>
            <a:off x="5554980" y="1577340"/>
            <a:ext cx="1051560" cy="1051560"/>
          </a:xfrm>
          <a:prstGeom prst="rect">
            <a:avLst/>
          </a:prstGeom>
        </p:spPr>
      </p:pic>
      <p:sp>
        <p:nvSpPr>
          <p:cNvPr id="4" name="Text 1"/>
          <p:cNvSpPr txBox="1"/>
          <p:nvPr/>
        </p:nvSpPr>
        <p:spPr>
          <a:xfrm>
            <a:off x="731520" y="3657600"/>
            <a:ext cx="10698480" cy="822960"/>
          </a:xfrm>
          <a:prstGeom prst="rect">
            <a:avLst/>
          </a:prstGeom>
          <a:no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GIẢI LAO 10 PHÚT</a:t>
            </a:r>
            <a:endParaRPr lang="en-US" sz="3400" dirty="0"/>
          </a:p>
        </p:txBody>
      </p:sp>
      <p:sp>
        <p:nvSpPr>
          <p:cNvPr id="5" name="Text 2"/>
          <p:cNvSpPr txBox="1"/>
          <p:nvPr/>
        </p:nvSpPr>
        <p:spPr>
          <a:xfrm>
            <a:off x="731520" y="4434840"/>
            <a:ext cx="10698480" cy="457200"/>
          </a:xfrm>
          <a:prstGeom prst="rect">
            <a:avLst/>
          </a:prstGeom>
          <a:noFill/>
          <a:ln/>
        </p:spPr>
        <p:txBody>
          <a:bodyPr wrap="square" lIns="0" tIns="0" rIns="0" bIns="0" rtlCol="0" anchor="ctr"/>
          <a:lstStyle/>
          <a:p>
            <a:pPr algn="ctr" indent="0" marL="0">
              <a:buNone/>
            </a:pPr>
            <a:r>
              <a:rPr lang="en-US" sz="1500" dirty="0">
                <a:solidFill>
                  <a:srgbClr val="9FC2C6"/>
                </a:solidFill>
                <a:latin typeface="Arial" pitchFamily="34" charset="0"/>
                <a:ea typeface="Arial" pitchFamily="34" charset="-122"/>
                <a:cs typeface="Arial" pitchFamily="34" charset="-120"/>
              </a:rPr>
              <a:t>Uống nước, thư giãn — quay lại đúng giờ nhé!</a:t>
            </a:r>
            <a:endParaRPr lang="en-US" sz="15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347472"/>
            <a:ext cx="457200" cy="457200"/>
          </a:xfrm>
          <a:prstGeom prst="ellipse">
            <a:avLst/>
          </a:prstGeom>
          <a:solidFill>
            <a:srgbClr val="127C82"/>
          </a:solidFill>
          <a:ln/>
        </p:spPr>
      </p:sp>
      <p:pic>
        <p:nvPicPr>
          <p:cNvPr id="3" name="Image 0" descr="/home/claude/aichuyendoiso2/assets/icons/message_FFFFFF.png">    </p:cNvPr>
          <p:cNvPicPr>
            <a:picLocks noChangeAspect="1"/>
          </p:cNvPicPr>
          <p:nvPr/>
        </p:nvPicPr>
        <p:blipFill>
          <a:blip r:embed="rId2"/>
          <a:stretch>
            <a:fillRect/>
          </a:stretch>
        </p:blipFill>
        <p:spPr>
          <a:xfrm>
            <a:off x="580644" y="470916"/>
            <a:ext cx="210312" cy="210312"/>
          </a:xfrm>
          <a:prstGeom prst="rect">
            <a:avLst/>
          </a:prstGeom>
        </p:spPr>
      </p:pic>
      <p:sp>
        <p:nvSpPr>
          <p:cNvPr id="4" name="Text 1"/>
          <p:cNvSpPr txBox="1"/>
          <p:nvPr/>
        </p:nvSpPr>
        <p:spPr>
          <a:xfrm>
            <a:off x="1051560" y="301752"/>
            <a:ext cx="10607040" cy="566928"/>
          </a:xfrm>
          <a:prstGeom prst="rect">
            <a:avLst/>
          </a:prstGeom>
          <a:noFill/>
          <a:ln/>
        </p:spPr>
        <p:txBody>
          <a:bodyPr wrap="square" lIns="0" tIns="0" rIns="0" bIns="0" rtlCol="0" anchor="ctr"/>
          <a:lstStyle/>
          <a:p>
            <a:pPr indent="0" marL="0">
              <a:buNone/>
            </a:pPr>
            <a:r>
              <a:rPr lang="en-US" sz="2600" b="1" dirty="0">
                <a:solidFill>
                  <a:srgbClr val="0B5257"/>
                </a:solidFill>
                <a:latin typeface="Arial" pitchFamily="34" charset="0"/>
                <a:ea typeface="Arial" pitchFamily="34" charset="-122"/>
                <a:cs typeface="Arial" pitchFamily="34" charset="-120"/>
              </a:rPr>
              <a:t>Khái Niệm Prompt (Câu Lệnh)</a:t>
            </a:r>
            <a:endParaRPr lang="en-US" sz="2600" dirty="0"/>
          </a:p>
        </p:txBody>
      </p:sp>
      <p:sp>
        <p:nvSpPr>
          <p:cNvPr id="5" name="Text 2"/>
          <p:cNvSpPr txBox="1"/>
          <p:nvPr/>
        </p:nvSpPr>
        <p:spPr>
          <a:xfrm>
            <a:off x="457200" y="6492240"/>
            <a:ext cx="7315200" cy="274320"/>
          </a:xfrm>
          <a:prstGeom prst="rect">
            <a:avLst/>
          </a:prstGeom>
          <a:noFill/>
          <a:ln/>
        </p:spPr>
        <p:txBody>
          <a:bodyPr wrap="square" lIns="0" tIns="0" rIns="0" bIns="0" rtlCol="0" anchor="ctr"/>
          <a:lstStyle/>
          <a:p>
            <a:pPr algn="l" indent="0" marL="0">
              <a:buNone/>
            </a:pPr>
            <a:r>
              <a:rPr lang="en-US" sz="1000" dirty="0">
                <a:solidFill>
                  <a:srgbClr val="5C7378"/>
                </a:solidFill>
                <a:latin typeface="Arial" pitchFamily="34" charset="0"/>
                <a:ea typeface="Arial" pitchFamily="34" charset="-122"/>
                <a:cs typeface="Arial" pitchFamily="34" charset="-120"/>
              </a:rPr>
              <a:t>Phần 3 · Công cụ AI &amp; Prompt (Câu lệnh)</a:t>
            </a:r>
            <a:endParaRPr lang="en-US" sz="1000" dirty="0"/>
          </a:p>
        </p:txBody>
      </p:sp>
      <p:sp>
        <p:nvSpPr>
          <p:cNvPr id="6" name="Text 3"/>
          <p:cNvSpPr txBox="1"/>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C7378"/>
                </a:solidFill>
                <a:latin typeface="Arial" pitchFamily="34" charset="0"/>
                <a:ea typeface="Arial" pitchFamily="34" charset="-122"/>
                <a:cs typeface="Arial" pitchFamily="34" charset="-120"/>
              </a:rPr>
              <a:t>17</a:t>
            </a:r>
            <a:endParaRPr lang="en-US" sz="1000" dirty="0"/>
          </a:p>
        </p:txBody>
      </p:sp>
      <p:sp>
        <p:nvSpPr>
          <p:cNvPr id="7" name="Shape 4"/>
          <p:cNvSpPr/>
          <p:nvPr/>
        </p:nvSpPr>
        <p:spPr>
          <a:xfrm>
            <a:off x="731520" y="1325880"/>
            <a:ext cx="10698480" cy="1234440"/>
          </a:xfrm>
          <a:prstGeom prst="roundRect">
            <a:avLst>
              <a:gd name="adj" fmla="val 7407"/>
            </a:avLst>
          </a:prstGeom>
          <a:solidFill>
            <a:srgbClr val="127C82"/>
          </a:solidFill>
          <a:ln/>
        </p:spPr>
      </p:sp>
      <p:sp>
        <p:nvSpPr>
          <p:cNvPr id="8" name="Text 5"/>
          <p:cNvSpPr txBox="1"/>
          <p:nvPr/>
        </p:nvSpPr>
        <p:spPr>
          <a:xfrm>
            <a:off x="1005840" y="1325880"/>
            <a:ext cx="10149840" cy="12344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Prompt (câu lệnh) = câu yêu cầu em gõ cho AI, để AI hiểu cần làm gì.</a:t>
            </a:r>
            <a:endParaRPr lang="en-US" sz="1800" dirty="0"/>
          </a:p>
        </p:txBody>
      </p:sp>
      <p:sp>
        <p:nvSpPr>
          <p:cNvPr id="9" name="Text 6"/>
          <p:cNvSpPr txBox="1"/>
          <p:nvPr/>
        </p:nvSpPr>
        <p:spPr>
          <a:xfrm>
            <a:off x="731520" y="2743200"/>
            <a:ext cx="10698480" cy="822960"/>
          </a:xfrm>
          <a:prstGeom prst="rect">
            <a:avLst/>
          </a:prstGeom>
          <a:noFill/>
          <a:ln/>
        </p:spPr>
        <p:txBody>
          <a:bodyPr wrap="square" lIns="0" tIns="0" rIns="0" bIns="0" rtlCol="0" anchor="ctr"/>
          <a:lstStyle/>
          <a:p>
            <a:pPr indent="0" marL="0">
              <a:lnSpc>
                <a:spcPts val="2100"/>
              </a:lnSpc>
              <a:buNone/>
            </a:pPr>
            <a:r>
              <a:rPr lang="en-US" sz="1550" dirty="0">
                <a:solidFill>
                  <a:srgbClr val="17282B"/>
                </a:solidFill>
                <a:latin typeface="Arial" pitchFamily="34" charset="0"/>
                <a:ea typeface="Arial" pitchFamily="34" charset="-122"/>
                <a:cs typeface="Arial" pitchFamily="34" charset="-120"/>
              </a:rPr>
              <a:t>Nguyên tắc tương tự khi nhờ người khác thực hiện một việc: yêu cầu RÕ RÀNG sẽ nhận được kết quả đúng ý; yêu cầu MƠ HỒ khiến người thực hiện phải tự đoán và dễ làm sai.</a:t>
            </a:r>
            <a:endParaRPr lang="en-US" sz="1550" dirty="0"/>
          </a:p>
        </p:txBody>
      </p:sp>
      <p:sp>
        <p:nvSpPr>
          <p:cNvPr id="10" name="Shape 7"/>
          <p:cNvSpPr/>
          <p:nvPr/>
        </p:nvSpPr>
        <p:spPr>
          <a:xfrm>
            <a:off x="731520" y="3749040"/>
            <a:ext cx="10698480" cy="2011680"/>
          </a:xfrm>
          <a:prstGeom prst="roundRect">
            <a:avLst>
              <a:gd name="adj" fmla="val 3636"/>
            </a:avLst>
          </a:prstGeom>
          <a:solidFill>
            <a:srgbClr val="FBEFE3"/>
          </a:solidFill>
          <a:ln w="12700">
            <a:solidFill>
              <a:srgbClr val="F0CFA0"/>
            </a:solidFill>
            <a:prstDash val="solid"/>
          </a:ln>
        </p:spPr>
      </p:sp>
      <p:sp>
        <p:nvSpPr>
          <p:cNvPr id="11" name="Text 8"/>
          <p:cNvSpPr txBox="1"/>
          <p:nvPr/>
        </p:nvSpPr>
        <p:spPr>
          <a:xfrm>
            <a:off x="1005840" y="3931920"/>
            <a:ext cx="10149840" cy="365760"/>
          </a:xfrm>
          <a:prstGeom prst="rect">
            <a:avLst/>
          </a:prstGeom>
          <a:noFill/>
          <a:ln/>
        </p:spPr>
        <p:txBody>
          <a:bodyPr wrap="square" lIns="0" tIns="0" rIns="0" bIns="0" rtlCol="0" anchor="ctr"/>
          <a:lstStyle/>
          <a:p>
            <a:pPr indent="0" marL="0">
              <a:buNone/>
            </a:pPr>
            <a:r>
              <a:rPr lang="en-US" sz="1400" b="1" dirty="0">
                <a:solidFill>
                  <a:srgbClr val="7A4A12"/>
                </a:solidFill>
                <a:latin typeface="Arial" pitchFamily="34" charset="0"/>
                <a:ea typeface="Arial" pitchFamily="34" charset="-122"/>
                <a:cs typeface="Arial" pitchFamily="34" charset="-120"/>
              </a:rPr>
              <a:t>Nguyên tắc này áp dụng tương tự với AI:</a:t>
            </a:r>
            <a:endParaRPr lang="en-US" sz="1400" dirty="0"/>
          </a:p>
        </p:txBody>
      </p:sp>
      <p:sp>
        <p:nvSpPr>
          <p:cNvPr id="12" name="Text 9"/>
          <p:cNvSpPr txBox="1"/>
          <p:nvPr/>
        </p:nvSpPr>
        <p:spPr>
          <a:xfrm>
            <a:off x="1005840" y="4343400"/>
            <a:ext cx="10149840" cy="1280160"/>
          </a:xfrm>
          <a:prstGeom prst="rect">
            <a:avLst/>
          </a:prstGeom>
          <a:noFill/>
          <a:ln/>
        </p:spPr>
        <p:txBody>
          <a:bodyPr wrap="square" lIns="0" tIns="0" rIns="0" bIns="0" rtlCol="0" anchor="ctr"/>
          <a:lstStyle/>
          <a:p>
            <a:pPr indent="0" marL="0">
              <a:lnSpc>
                <a:spcPts val="2200"/>
              </a:lnSpc>
              <a:buNone/>
            </a:pPr>
            <a:r>
              <a:rPr lang="en-US" sz="1450" dirty="0">
                <a:solidFill>
                  <a:srgbClr val="7A4A12"/>
                </a:solidFill>
                <a:latin typeface="Arial" pitchFamily="34" charset="0"/>
                <a:ea typeface="Arial" pitchFamily="34" charset="-122"/>
                <a:cs typeface="Arial" pitchFamily="34" charset="-120"/>
              </a:rPr>
              <a:t>Prompt (câu lệnh) càng rõ ràng, cụ thể  →  AI hiểu đúng  →  Kết quả chính xác  →  Đỡ mất thời gian sửa lại.</a:t>
            </a:r>
            <a:endParaRPr lang="en-US" sz="1450" dirty="0"/>
          </a:p>
          <a:p>
            <a:pPr indent="0" marL="0">
              <a:lnSpc>
                <a:spcPts val="2200"/>
              </a:lnSpc>
              <a:buNone/>
            </a:pPr>
            <a:r>
              <a:rPr lang="en-US" sz="1450" dirty="0">
                <a:solidFill>
                  <a:srgbClr val="7A4A12"/>
                </a:solidFill>
                <a:latin typeface="Arial" pitchFamily="34" charset="0"/>
                <a:ea typeface="Arial" pitchFamily="34" charset="-122"/>
                <a:cs typeface="Arial" pitchFamily="34" charset="-120"/>
              </a:rPr>
              <a:t>Prompt mơ hồ, thiếu thông tin  →  AI phải đoán  →  Kết quả chung chung  →  Mất công sửa nhiều lần.</a:t>
            </a:r>
            <a:endParaRPr lang="en-US" sz="145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347472"/>
            <a:ext cx="457200" cy="457200"/>
          </a:xfrm>
          <a:prstGeom prst="ellipse">
            <a:avLst/>
          </a:prstGeom>
          <a:solidFill>
            <a:srgbClr val="127C82"/>
          </a:solidFill>
          <a:ln/>
        </p:spPr>
      </p:sp>
      <p:pic>
        <p:nvPicPr>
          <p:cNvPr id="3" name="Image 0" descr="/home/claude/aichuyendoiso2/assets/icons/wand_FFFFFF.png">    </p:cNvPr>
          <p:cNvPicPr>
            <a:picLocks noChangeAspect="1"/>
          </p:cNvPicPr>
          <p:nvPr/>
        </p:nvPicPr>
        <p:blipFill>
          <a:blip r:embed="rId2"/>
          <a:stretch>
            <a:fillRect/>
          </a:stretch>
        </p:blipFill>
        <p:spPr>
          <a:xfrm>
            <a:off x="580644" y="470916"/>
            <a:ext cx="210312" cy="210312"/>
          </a:xfrm>
          <a:prstGeom prst="rect">
            <a:avLst/>
          </a:prstGeom>
        </p:spPr>
      </p:pic>
      <p:sp>
        <p:nvSpPr>
          <p:cNvPr id="4" name="Text 1"/>
          <p:cNvSpPr txBox="1"/>
          <p:nvPr/>
        </p:nvSpPr>
        <p:spPr>
          <a:xfrm>
            <a:off x="1051560" y="301752"/>
            <a:ext cx="10607040" cy="566928"/>
          </a:xfrm>
          <a:prstGeom prst="rect">
            <a:avLst/>
          </a:prstGeom>
          <a:noFill/>
          <a:ln/>
        </p:spPr>
        <p:txBody>
          <a:bodyPr wrap="square" lIns="0" tIns="0" rIns="0" bIns="0" rtlCol="0" anchor="ctr"/>
          <a:lstStyle/>
          <a:p>
            <a:pPr indent="0" marL="0">
              <a:buNone/>
            </a:pPr>
            <a:r>
              <a:rPr lang="en-US" sz="2600" b="1" dirty="0">
                <a:solidFill>
                  <a:srgbClr val="0B5257"/>
                </a:solidFill>
                <a:latin typeface="Arial" pitchFamily="34" charset="0"/>
                <a:ea typeface="Arial" pitchFamily="34" charset="-122"/>
                <a:cs typeface="Arial" pitchFamily="34" charset="-120"/>
              </a:rPr>
              <a:t>Công Thức Viết Prompt (Câu Lệnh) Dễ Nhớ</a:t>
            </a:r>
            <a:endParaRPr lang="en-US" sz="2600" dirty="0"/>
          </a:p>
        </p:txBody>
      </p:sp>
      <p:sp>
        <p:nvSpPr>
          <p:cNvPr id="5" name="Text 2"/>
          <p:cNvSpPr txBox="1"/>
          <p:nvPr/>
        </p:nvSpPr>
        <p:spPr>
          <a:xfrm>
            <a:off x="457200" y="6492240"/>
            <a:ext cx="7315200" cy="274320"/>
          </a:xfrm>
          <a:prstGeom prst="rect">
            <a:avLst/>
          </a:prstGeom>
          <a:noFill/>
          <a:ln/>
        </p:spPr>
        <p:txBody>
          <a:bodyPr wrap="square" lIns="0" tIns="0" rIns="0" bIns="0" rtlCol="0" anchor="ctr"/>
          <a:lstStyle/>
          <a:p>
            <a:pPr algn="l" indent="0" marL="0">
              <a:buNone/>
            </a:pPr>
            <a:r>
              <a:rPr lang="en-US" sz="1000" dirty="0">
                <a:solidFill>
                  <a:srgbClr val="5C7378"/>
                </a:solidFill>
                <a:latin typeface="Arial" pitchFamily="34" charset="0"/>
                <a:ea typeface="Arial" pitchFamily="34" charset="-122"/>
                <a:cs typeface="Arial" pitchFamily="34" charset="-120"/>
              </a:rPr>
              <a:t>Phần 3 · Công cụ AI &amp; Prompt (Câu lệnh)</a:t>
            </a:r>
            <a:endParaRPr lang="en-US" sz="1000" dirty="0"/>
          </a:p>
        </p:txBody>
      </p:sp>
      <p:sp>
        <p:nvSpPr>
          <p:cNvPr id="6" name="Text 3"/>
          <p:cNvSpPr txBox="1"/>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C7378"/>
                </a:solidFill>
                <a:latin typeface="Arial" pitchFamily="34" charset="0"/>
                <a:ea typeface="Arial" pitchFamily="34" charset="-122"/>
                <a:cs typeface="Arial" pitchFamily="34" charset="-120"/>
              </a:rPr>
              <a:t>18</a:t>
            </a:r>
            <a:endParaRPr lang="en-US" sz="1000" dirty="0"/>
          </a:p>
        </p:txBody>
      </p:sp>
      <p:sp>
        <p:nvSpPr>
          <p:cNvPr id="7" name="Shape 4"/>
          <p:cNvSpPr/>
          <p:nvPr/>
        </p:nvSpPr>
        <p:spPr>
          <a:xfrm>
            <a:off x="731520" y="1188720"/>
            <a:ext cx="10698480" cy="960120"/>
          </a:xfrm>
          <a:prstGeom prst="roundRect">
            <a:avLst>
              <a:gd name="adj" fmla="val 9524"/>
            </a:avLst>
          </a:prstGeom>
          <a:solidFill>
            <a:srgbClr val="0B3B45"/>
          </a:solidFill>
          <a:ln/>
        </p:spPr>
      </p:sp>
      <p:sp>
        <p:nvSpPr>
          <p:cNvPr id="8" name="Text 5"/>
          <p:cNvSpPr txBox="1"/>
          <p:nvPr/>
        </p:nvSpPr>
        <p:spPr>
          <a:xfrm>
            <a:off x="1005840" y="1188720"/>
            <a:ext cx="10149840" cy="960120"/>
          </a:xfrm>
          <a:prstGeom prst="rect">
            <a:avLst/>
          </a:prstGeom>
          <a:noFill/>
          <a:ln/>
        </p:spPr>
        <p:txBody>
          <a:bodyPr wrap="square" lIns="0" tIns="0" rIns="0" bIns="0" rtlCol="0" anchor="ctr"/>
          <a:lstStyle/>
          <a:p>
            <a:pPr algn="ctr" indent="0" marL="0">
              <a:lnSpc>
                <a:spcPts val="2200"/>
              </a:lnSpc>
              <a:buNone/>
            </a:pPr>
            <a:r>
              <a:rPr lang="en-US" sz="1700" b="1" dirty="0">
                <a:solidFill>
                  <a:srgbClr val="F2A93B"/>
                </a:solidFill>
                <a:latin typeface="Arial" pitchFamily="34" charset="0"/>
                <a:ea typeface="Arial" pitchFamily="34" charset="-122"/>
                <a:cs typeface="Arial" pitchFamily="34" charset="-120"/>
              </a:rPr>
              <a:t>"Hãy [làm gì đó]  +  để [mục đích]  +  với [yêu cầu cụ thể]"</a:t>
            </a:r>
            <a:endParaRPr lang="en-US" sz="1700" dirty="0"/>
          </a:p>
        </p:txBody>
      </p:sp>
      <p:sp>
        <p:nvSpPr>
          <p:cNvPr id="9" name="Text 6"/>
          <p:cNvSpPr txBox="1"/>
          <p:nvPr/>
        </p:nvSpPr>
        <p:spPr>
          <a:xfrm>
            <a:off x="731520" y="2286000"/>
            <a:ext cx="10698480" cy="292608"/>
          </a:xfrm>
          <a:prstGeom prst="rect">
            <a:avLst/>
          </a:prstGeom>
          <a:noFill/>
          <a:ln/>
        </p:spPr>
        <p:txBody>
          <a:bodyPr wrap="square" lIns="0" tIns="0" rIns="0" bIns="0" rtlCol="0" anchor="ctr"/>
          <a:lstStyle/>
          <a:p>
            <a:pPr indent="0" marL="0">
              <a:buNone/>
            </a:pPr>
            <a:r>
              <a:rPr lang="en-US" sz="1250" b="1" spc="100" kern="0" dirty="0">
                <a:solidFill>
                  <a:srgbClr val="0B5257"/>
                </a:solidFill>
                <a:latin typeface="Arial" pitchFamily="34" charset="0"/>
                <a:ea typeface="Arial" pitchFamily="34" charset="-122"/>
                <a:cs typeface="Arial" pitchFamily="34" charset="-120"/>
              </a:rPr>
              <a:t>VÍ DỤ ÁP DỤNG — PROMPT (CÂU LỆNH)</a:t>
            </a:r>
            <a:endParaRPr lang="en-US" sz="1250" dirty="0"/>
          </a:p>
        </p:txBody>
      </p:sp>
      <p:sp>
        <p:nvSpPr>
          <p:cNvPr id="10" name="Shape 7"/>
          <p:cNvSpPr/>
          <p:nvPr/>
        </p:nvSpPr>
        <p:spPr>
          <a:xfrm>
            <a:off x="731520" y="2587752"/>
            <a:ext cx="10698480" cy="960120"/>
          </a:xfrm>
          <a:prstGeom prst="roundRect">
            <a:avLst>
              <a:gd name="adj" fmla="val 7619"/>
            </a:avLst>
          </a:prstGeom>
          <a:solidFill>
            <a:srgbClr val="EEF5F5"/>
          </a:solidFill>
          <a:ln w="12700">
            <a:solidFill>
              <a:srgbClr val="D6E6E6"/>
            </a:solidFill>
            <a:prstDash val="solid"/>
          </a:ln>
        </p:spPr>
      </p:sp>
      <p:sp>
        <p:nvSpPr>
          <p:cNvPr id="11" name="Text 8"/>
          <p:cNvSpPr txBox="1"/>
          <p:nvPr/>
        </p:nvSpPr>
        <p:spPr>
          <a:xfrm>
            <a:off x="1005840" y="2587752"/>
            <a:ext cx="10149840" cy="960120"/>
          </a:xfrm>
          <a:prstGeom prst="rect">
            <a:avLst/>
          </a:prstGeom>
          <a:noFill/>
          <a:ln/>
        </p:spPr>
        <p:txBody>
          <a:bodyPr wrap="square" lIns="0" tIns="0" rIns="0" bIns="0" rtlCol="0" anchor="ctr"/>
          <a:lstStyle/>
          <a:p>
            <a:pPr indent="0" marL="0">
              <a:lnSpc>
                <a:spcPts val="1900"/>
              </a:lnSpc>
              <a:buNone/>
            </a:pPr>
            <a:r>
              <a:rPr lang="en-US" sz="1400" i="1" dirty="0">
                <a:solidFill>
                  <a:srgbClr val="17282B"/>
                </a:solidFill>
                <a:latin typeface="Arial" pitchFamily="34" charset="0"/>
                <a:ea typeface="Arial" pitchFamily="34" charset="-122"/>
                <a:cs typeface="Arial" pitchFamily="34" charset="-120"/>
              </a:rPr>
              <a:t>"Hãy viết giúp tôi một tin quảng cáo bán rau sạch trên Facebook, ngắn gọn, giọng vui vẻ, có kèm 2-3 biểu tượng cảm xúc, để thu hút khách mua hàng."</a:t>
            </a:r>
            <a:endParaRPr lang="en-US" sz="1400" dirty="0"/>
          </a:p>
        </p:txBody>
      </p:sp>
      <p:sp>
        <p:nvSpPr>
          <p:cNvPr id="12" name="Text 9"/>
          <p:cNvSpPr txBox="1"/>
          <p:nvPr/>
        </p:nvSpPr>
        <p:spPr>
          <a:xfrm>
            <a:off x="731520" y="3730752"/>
            <a:ext cx="10698480" cy="292608"/>
          </a:xfrm>
          <a:prstGeom prst="rect">
            <a:avLst/>
          </a:prstGeom>
          <a:noFill/>
          <a:ln/>
        </p:spPr>
        <p:txBody>
          <a:bodyPr wrap="square" lIns="0" tIns="0" rIns="0" bIns="0" rtlCol="0" anchor="ctr"/>
          <a:lstStyle/>
          <a:p>
            <a:pPr indent="0" marL="0">
              <a:buNone/>
            </a:pPr>
            <a:r>
              <a:rPr lang="en-US" sz="1250" b="1" spc="100" kern="0" dirty="0">
                <a:solidFill>
                  <a:srgbClr val="0B5257"/>
                </a:solidFill>
                <a:latin typeface="Arial" pitchFamily="34" charset="0"/>
                <a:ea typeface="Arial" pitchFamily="34" charset="-122"/>
                <a:cs typeface="Arial" pitchFamily="34" charset="-120"/>
              </a:rPr>
              <a:t>AI TRẢ LỜI (VÍ DỤ MINH HỌA)</a:t>
            </a:r>
            <a:endParaRPr lang="en-US" sz="1250" dirty="0"/>
          </a:p>
        </p:txBody>
      </p:sp>
      <p:sp>
        <p:nvSpPr>
          <p:cNvPr id="13" name="Shape 10"/>
          <p:cNvSpPr/>
          <p:nvPr/>
        </p:nvSpPr>
        <p:spPr>
          <a:xfrm>
            <a:off x="731520" y="4032504"/>
            <a:ext cx="10698480" cy="2011680"/>
          </a:xfrm>
          <a:prstGeom prst="roundRect">
            <a:avLst>
              <a:gd name="adj" fmla="val 4545"/>
            </a:avLst>
          </a:prstGeom>
          <a:solidFill>
            <a:srgbClr val="EEF5F5"/>
          </a:solidFill>
          <a:ln w="12700">
            <a:solidFill>
              <a:srgbClr val="D6E6E6"/>
            </a:solidFill>
            <a:prstDash val="solid"/>
          </a:ln>
        </p:spPr>
      </p:sp>
      <p:sp>
        <p:nvSpPr>
          <p:cNvPr id="14" name="Shape 11"/>
          <p:cNvSpPr/>
          <p:nvPr/>
        </p:nvSpPr>
        <p:spPr>
          <a:xfrm>
            <a:off x="932688" y="4197096"/>
            <a:ext cx="365760" cy="365760"/>
          </a:xfrm>
          <a:prstGeom prst="ellipse">
            <a:avLst/>
          </a:prstGeom>
          <a:solidFill>
            <a:srgbClr val="127C82"/>
          </a:solidFill>
          <a:ln/>
        </p:spPr>
      </p:sp>
      <p:pic>
        <p:nvPicPr>
          <p:cNvPr id="15" name="Image 1" descr="/home/claude/aichuyendoiso2/assets/icons/robot_FFFFFF.png">    </p:cNvPr>
          <p:cNvPicPr>
            <a:picLocks noChangeAspect="1"/>
          </p:cNvPicPr>
          <p:nvPr/>
        </p:nvPicPr>
        <p:blipFill>
          <a:blip r:embed="rId3"/>
          <a:stretch>
            <a:fillRect/>
          </a:stretch>
        </p:blipFill>
        <p:spPr>
          <a:xfrm>
            <a:off x="1031443" y="4295851"/>
            <a:ext cx="168250" cy="168250"/>
          </a:xfrm>
          <a:prstGeom prst="rect">
            <a:avLst/>
          </a:prstGeom>
        </p:spPr>
      </p:pic>
      <p:sp>
        <p:nvSpPr>
          <p:cNvPr id="16" name="Text 12"/>
          <p:cNvSpPr txBox="1"/>
          <p:nvPr/>
        </p:nvSpPr>
        <p:spPr>
          <a:xfrm>
            <a:off x="1481328" y="4178808"/>
            <a:ext cx="9738360" cy="1737360"/>
          </a:xfrm>
          <a:prstGeom prst="rect">
            <a:avLst/>
          </a:prstGeom>
          <a:noFill/>
          <a:ln/>
        </p:spPr>
        <p:txBody>
          <a:bodyPr wrap="square" lIns="0" tIns="0" rIns="0" bIns="0" rtlCol="0" anchor="t"/>
          <a:lstStyle/>
          <a:p>
            <a:pPr indent="0" marL="0">
              <a:lnSpc>
                <a:spcPts val="1700"/>
              </a:lnSpc>
              <a:buNone/>
            </a:pPr>
            <a:r>
              <a:rPr lang="en-US" sz="1250" dirty="0">
                <a:solidFill>
                  <a:srgbClr val="17282B"/>
                </a:solidFill>
                <a:latin typeface="Arial" pitchFamily="34" charset="0"/>
                <a:ea typeface="Arial" pitchFamily="34" charset="-122"/>
                <a:cs typeface="Arial" pitchFamily="34" charset="-120"/>
              </a:rPr>
              <a:t>🥬 RAU SẠCH NHÀ VƯỜN — hái sáng, giao trưa!</a:t>
            </a:r>
            <a:endParaRPr lang="en-US" sz="1250" dirty="0"/>
          </a:p>
          <a:p>
            <a:pPr indent="0" marL="0">
              <a:lnSpc>
                <a:spcPts val="1700"/>
              </a:lnSpc>
              <a:buNone/>
            </a:pPr>
            <a:r>
              <a:rPr lang="en-US" sz="1250" dirty="0">
                <a:solidFill>
                  <a:srgbClr val="17282B"/>
                </a:solidFill>
                <a:latin typeface="Arial" pitchFamily="34" charset="0"/>
                <a:ea typeface="Arial" pitchFamily="34" charset="-122"/>
                <a:cs typeface="Arial" pitchFamily="34" charset="-120"/>
              </a:rPr>
              <a:t>Rau sạch trồng theo mùa, không thuốc trừ sâu, an toàn cho cả gia đình. Đặt ngay hôm nay để được giao hàng miễn phí trong nội thành! 🌱</a:t>
            </a:r>
            <a:endParaRPr lang="en-US" sz="1250" dirty="0"/>
          </a:p>
          <a:p>
            <a:pPr indent="0" marL="0">
              <a:lnSpc>
                <a:spcPts val="1700"/>
              </a:lnSpc>
              <a:buNone/>
            </a:pPr>
            <a:r>
              <a:rPr lang="en-US" sz="1250" dirty="0">
                <a:solidFill>
                  <a:srgbClr val="17282B"/>
                </a:solidFill>
                <a:latin typeface="Arial" pitchFamily="34" charset="0"/>
                <a:ea typeface="Arial" pitchFamily="34" charset="-122"/>
                <a:cs typeface="Arial" pitchFamily="34" charset="-120"/>
              </a:rPr>
              <a:t>📞 Inbox hoặc gọi ngay để đặt hàng nhé!</a:t>
            </a:r>
            <a:endParaRPr lang="en-US" sz="125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347472"/>
            <a:ext cx="457200" cy="457200"/>
          </a:xfrm>
          <a:prstGeom prst="ellipse">
            <a:avLst/>
          </a:prstGeom>
          <a:solidFill>
            <a:srgbClr val="127C82"/>
          </a:solidFill>
          <a:ln/>
        </p:spPr>
      </p:sp>
      <p:pic>
        <p:nvPicPr>
          <p:cNvPr id="3" name="Image 0" descr="/home/claude/aichuyendoiso2/assets/icons/message_FFFFFF.png">    </p:cNvPr>
          <p:cNvPicPr>
            <a:picLocks noChangeAspect="1"/>
          </p:cNvPicPr>
          <p:nvPr/>
        </p:nvPicPr>
        <p:blipFill>
          <a:blip r:embed="rId2"/>
          <a:stretch>
            <a:fillRect/>
          </a:stretch>
        </p:blipFill>
        <p:spPr>
          <a:xfrm>
            <a:off x="580644" y="470916"/>
            <a:ext cx="210312" cy="210312"/>
          </a:xfrm>
          <a:prstGeom prst="rect">
            <a:avLst/>
          </a:prstGeom>
        </p:spPr>
      </p:pic>
      <p:sp>
        <p:nvSpPr>
          <p:cNvPr id="4" name="Text 1"/>
          <p:cNvSpPr txBox="1"/>
          <p:nvPr/>
        </p:nvSpPr>
        <p:spPr>
          <a:xfrm>
            <a:off x="1051560" y="301752"/>
            <a:ext cx="10607040" cy="566928"/>
          </a:xfrm>
          <a:prstGeom prst="rect">
            <a:avLst/>
          </a:prstGeom>
          <a:noFill/>
          <a:ln/>
        </p:spPr>
        <p:txBody>
          <a:bodyPr wrap="square" lIns="0" tIns="0" rIns="0" bIns="0" rtlCol="0" anchor="ctr"/>
          <a:lstStyle/>
          <a:p>
            <a:pPr indent="0" marL="0">
              <a:buNone/>
            </a:pPr>
            <a:r>
              <a:rPr lang="en-US" sz="2600" b="1" dirty="0">
                <a:solidFill>
                  <a:srgbClr val="0B5257"/>
                </a:solidFill>
                <a:latin typeface="Arial" pitchFamily="34" charset="0"/>
                <a:ea typeface="Arial" pitchFamily="34" charset="-122"/>
                <a:cs typeface="Arial" pitchFamily="34" charset="-120"/>
              </a:rPr>
              <a:t>So Sánh: Prompt (Câu Lệnh) Chưa Tốt Và Prompt Tốt</a:t>
            </a:r>
            <a:endParaRPr lang="en-US" sz="2600" dirty="0"/>
          </a:p>
        </p:txBody>
      </p:sp>
      <p:sp>
        <p:nvSpPr>
          <p:cNvPr id="5" name="Text 2"/>
          <p:cNvSpPr txBox="1"/>
          <p:nvPr/>
        </p:nvSpPr>
        <p:spPr>
          <a:xfrm>
            <a:off x="457200" y="6492240"/>
            <a:ext cx="7315200" cy="274320"/>
          </a:xfrm>
          <a:prstGeom prst="rect">
            <a:avLst/>
          </a:prstGeom>
          <a:noFill/>
          <a:ln/>
        </p:spPr>
        <p:txBody>
          <a:bodyPr wrap="square" lIns="0" tIns="0" rIns="0" bIns="0" rtlCol="0" anchor="ctr"/>
          <a:lstStyle/>
          <a:p>
            <a:pPr algn="l" indent="0" marL="0">
              <a:buNone/>
            </a:pPr>
            <a:r>
              <a:rPr lang="en-US" sz="1000" dirty="0">
                <a:solidFill>
                  <a:srgbClr val="5C7378"/>
                </a:solidFill>
                <a:latin typeface="Arial" pitchFamily="34" charset="0"/>
                <a:ea typeface="Arial" pitchFamily="34" charset="-122"/>
                <a:cs typeface="Arial" pitchFamily="34" charset="-120"/>
              </a:rPr>
              <a:t>Phần 3 · Công cụ AI &amp; Prompt (Câu lệnh)</a:t>
            </a:r>
            <a:endParaRPr lang="en-US" sz="1000" dirty="0"/>
          </a:p>
        </p:txBody>
      </p:sp>
      <p:sp>
        <p:nvSpPr>
          <p:cNvPr id="6" name="Text 3"/>
          <p:cNvSpPr txBox="1"/>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C7378"/>
                </a:solidFill>
                <a:latin typeface="Arial" pitchFamily="34" charset="0"/>
                <a:ea typeface="Arial" pitchFamily="34" charset="-122"/>
                <a:cs typeface="Arial" pitchFamily="34" charset="-120"/>
              </a:rPr>
              <a:t>19</a:t>
            </a:r>
            <a:endParaRPr lang="en-US" sz="1000" dirty="0"/>
          </a:p>
        </p:txBody>
      </p:sp>
      <p:sp>
        <p:nvSpPr>
          <p:cNvPr id="7" name="Shape 4"/>
          <p:cNvSpPr/>
          <p:nvPr/>
        </p:nvSpPr>
        <p:spPr>
          <a:xfrm>
            <a:off x="731520" y="1234440"/>
            <a:ext cx="5166360" cy="548640"/>
          </a:xfrm>
          <a:prstGeom prst="roundRect">
            <a:avLst>
              <a:gd name="adj" fmla="val 13333"/>
            </a:avLst>
          </a:prstGeom>
          <a:solidFill>
            <a:srgbClr val="B0413E"/>
          </a:solidFill>
          <a:ln/>
        </p:spPr>
      </p:sp>
      <p:sp>
        <p:nvSpPr>
          <p:cNvPr id="8" name="Text 5"/>
          <p:cNvSpPr txBox="1"/>
          <p:nvPr/>
        </p:nvSpPr>
        <p:spPr>
          <a:xfrm>
            <a:off x="731520" y="1234440"/>
            <a:ext cx="516636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PROMPT CHƯA TỐT</a:t>
            </a:r>
            <a:endParaRPr lang="en-US" sz="1600" dirty="0"/>
          </a:p>
        </p:txBody>
      </p:sp>
      <p:sp>
        <p:nvSpPr>
          <p:cNvPr id="9" name="Shape 6"/>
          <p:cNvSpPr/>
          <p:nvPr/>
        </p:nvSpPr>
        <p:spPr>
          <a:xfrm>
            <a:off x="731520" y="1874520"/>
            <a:ext cx="5166360" cy="4297680"/>
          </a:xfrm>
          <a:prstGeom prst="roundRect">
            <a:avLst>
              <a:gd name="adj" fmla="val 1702"/>
            </a:avLst>
          </a:prstGeom>
          <a:solidFill>
            <a:srgbClr val="EEF5F5"/>
          </a:solidFill>
          <a:ln w="12700">
            <a:solidFill>
              <a:srgbClr val="D6E6E6"/>
            </a:solidFill>
            <a:prstDash val="solid"/>
          </a:ln>
        </p:spPr>
      </p:sp>
      <p:sp>
        <p:nvSpPr>
          <p:cNvPr id="10" name="Text 7"/>
          <p:cNvSpPr txBox="1"/>
          <p:nvPr/>
        </p:nvSpPr>
        <p:spPr>
          <a:xfrm>
            <a:off x="1005840" y="2103120"/>
            <a:ext cx="4617720" cy="3840480"/>
          </a:xfrm>
          <a:prstGeom prst="rect">
            <a:avLst/>
          </a:prstGeom>
          <a:noFill/>
          <a:ln/>
        </p:spPr>
        <p:txBody>
          <a:bodyPr wrap="square" lIns="0" tIns="0" rIns="0" bIns="0" rtlCol="0" anchor="t"/>
          <a:lstStyle/>
          <a:p>
            <a:pPr indent="0" marL="0">
              <a:lnSpc>
                <a:spcPts val="2000"/>
              </a:lnSpc>
              <a:buNone/>
            </a:pPr>
            <a:r>
              <a:rPr lang="en-US" sz="1450" dirty="0">
                <a:solidFill>
                  <a:srgbClr val="17282B"/>
                </a:solidFill>
                <a:latin typeface="Arial" pitchFamily="34" charset="0"/>
                <a:ea typeface="Arial" pitchFamily="34" charset="-122"/>
                <a:cs typeface="Arial" pitchFamily="34" charset="-120"/>
              </a:rPr>
              <a:t>"Viết bài quảng cáo"</a:t>
            </a:r>
            <a:endParaRPr lang="en-US" sz="1450" dirty="0"/>
          </a:p>
          <a:p>
            <a:pPr indent="0" marL="0">
              <a:lnSpc>
                <a:spcPts val="2000"/>
              </a:lnSpc>
              <a:buNone/>
            </a:pPr>
            <a:endParaRPr lang="en-US" sz="1450" dirty="0"/>
          </a:p>
          <a:p>
            <a:pPr indent="0" marL="0">
              <a:lnSpc>
                <a:spcPts val="2000"/>
              </a:lnSpc>
              <a:buNone/>
            </a:pPr>
            <a:r>
              <a:rPr lang="en-US" sz="1450" dirty="0">
                <a:solidFill>
                  <a:srgbClr val="17282B"/>
                </a:solidFill>
                <a:latin typeface="Arial" pitchFamily="34" charset="0"/>
                <a:ea typeface="Arial" pitchFamily="34" charset="-122"/>
                <a:cs typeface="Arial" pitchFamily="34" charset="-120"/>
              </a:rPr>
              <a:t>AI không biết:</a:t>
            </a:r>
            <a:endParaRPr lang="en-US" sz="1450" dirty="0"/>
          </a:p>
          <a:p>
            <a:pPr indent="0" marL="0">
              <a:lnSpc>
                <a:spcPts val="2000"/>
              </a:lnSpc>
              <a:buNone/>
            </a:pPr>
            <a:r>
              <a:rPr lang="en-US" sz="1450" dirty="0">
                <a:solidFill>
                  <a:srgbClr val="17282B"/>
                </a:solidFill>
                <a:latin typeface="Arial" pitchFamily="34" charset="0"/>
                <a:ea typeface="Arial" pitchFamily="34" charset="-122"/>
                <a:cs typeface="Arial" pitchFamily="34" charset="-120"/>
              </a:rPr>
              <a:t>• Quảng cáo cái gì?</a:t>
            </a:r>
            <a:endParaRPr lang="en-US" sz="1450" dirty="0"/>
          </a:p>
          <a:p>
            <a:pPr indent="0" marL="0">
              <a:lnSpc>
                <a:spcPts val="2000"/>
              </a:lnSpc>
              <a:buNone/>
            </a:pPr>
            <a:r>
              <a:rPr lang="en-US" sz="1450" dirty="0">
                <a:solidFill>
                  <a:srgbClr val="17282B"/>
                </a:solidFill>
                <a:latin typeface="Arial" pitchFamily="34" charset="0"/>
                <a:ea typeface="Arial" pitchFamily="34" charset="-122"/>
                <a:cs typeface="Arial" pitchFamily="34" charset="-120"/>
              </a:rPr>
              <a:t>• Bán cho ai?</a:t>
            </a:r>
            <a:endParaRPr lang="en-US" sz="1450" dirty="0"/>
          </a:p>
          <a:p>
            <a:pPr indent="0" marL="0">
              <a:lnSpc>
                <a:spcPts val="2000"/>
              </a:lnSpc>
              <a:buNone/>
            </a:pPr>
            <a:r>
              <a:rPr lang="en-US" sz="1450" dirty="0">
                <a:solidFill>
                  <a:srgbClr val="17282B"/>
                </a:solidFill>
                <a:latin typeface="Arial" pitchFamily="34" charset="0"/>
                <a:ea typeface="Arial" pitchFamily="34" charset="-122"/>
                <a:cs typeface="Arial" pitchFamily="34" charset="-120"/>
              </a:rPr>
              <a:t>• Giọng văn thế nào?</a:t>
            </a:r>
            <a:endParaRPr lang="en-US" sz="1450" dirty="0"/>
          </a:p>
          <a:p>
            <a:pPr indent="0" marL="0">
              <a:lnSpc>
                <a:spcPts val="2000"/>
              </a:lnSpc>
              <a:buNone/>
            </a:pPr>
            <a:endParaRPr lang="en-US" sz="1450" dirty="0"/>
          </a:p>
          <a:p>
            <a:pPr indent="0" marL="0">
              <a:lnSpc>
                <a:spcPts val="2000"/>
              </a:lnSpc>
              <a:buNone/>
            </a:pPr>
            <a:r>
              <a:rPr lang="en-US" sz="1450" dirty="0">
                <a:solidFill>
                  <a:srgbClr val="17282B"/>
                </a:solidFill>
                <a:latin typeface="Arial" pitchFamily="34" charset="0"/>
                <a:ea typeface="Arial" pitchFamily="34" charset="-122"/>
                <a:cs typeface="Arial" pitchFamily="34" charset="-120"/>
              </a:rPr>
              <a:t>→ Kết quả chung chung, phải sửa lại nhiều lần.</a:t>
            </a:r>
            <a:endParaRPr lang="en-US" sz="1450" dirty="0"/>
          </a:p>
        </p:txBody>
      </p:sp>
      <p:sp>
        <p:nvSpPr>
          <p:cNvPr id="11" name="Shape 8"/>
          <p:cNvSpPr/>
          <p:nvPr/>
        </p:nvSpPr>
        <p:spPr>
          <a:xfrm>
            <a:off x="6263640" y="1234440"/>
            <a:ext cx="5166360" cy="548640"/>
          </a:xfrm>
          <a:prstGeom prst="roundRect">
            <a:avLst>
              <a:gd name="adj" fmla="val 13333"/>
            </a:avLst>
          </a:prstGeom>
          <a:solidFill>
            <a:srgbClr val="1E7D52"/>
          </a:solidFill>
          <a:ln/>
        </p:spPr>
      </p:sp>
      <p:sp>
        <p:nvSpPr>
          <p:cNvPr id="12" name="Text 9"/>
          <p:cNvSpPr txBox="1"/>
          <p:nvPr/>
        </p:nvSpPr>
        <p:spPr>
          <a:xfrm>
            <a:off x="6263640" y="1234440"/>
            <a:ext cx="516636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PROMPT TỐT</a:t>
            </a:r>
            <a:endParaRPr lang="en-US" sz="1600" dirty="0"/>
          </a:p>
        </p:txBody>
      </p:sp>
      <p:sp>
        <p:nvSpPr>
          <p:cNvPr id="13" name="Shape 10"/>
          <p:cNvSpPr/>
          <p:nvPr/>
        </p:nvSpPr>
        <p:spPr>
          <a:xfrm>
            <a:off x="6263640" y="1874520"/>
            <a:ext cx="5166360" cy="4297680"/>
          </a:xfrm>
          <a:prstGeom prst="roundRect">
            <a:avLst>
              <a:gd name="adj" fmla="val 1702"/>
            </a:avLst>
          </a:prstGeom>
          <a:solidFill>
            <a:srgbClr val="EEF5F5"/>
          </a:solidFill>
          <a:ln w="12700">
            <a:solidFill>
              <a:srgbClr val="D6E6E6"/>
            </a:solidFill>
            <a:prstDash val="solid"/>
          </a:ln>
        </p:spPr>
      </p:sp>
      <p:sp>
        <p:nvSpPr>
          <p:cNvPr id="14" name="Text 11"/>
          <p:cNvSpPr txBox="1"/>
          <p:nvPr/>
        </p:nvSpPr>
        <p:spPr>
          <a:xfrm>
            <a:off x="6537960" y="2103120"/>
            <a:ext cx="4617720" cy="3840480"/>
          </a:xfrm>
          <a:prstGeom prst="rect">
            <a:avLst/>
          </a:prstGeom>
          <a:noFill/>
          <a:ln/>
        </p:spPr>
        <p:txBody>
          <a:bodyPr wrap="square" lIns="0" tIns="0" rIns="0" bIns="0" rtlCol="0" anchor="t"/>
          <a:lstStyle/>
          <a:p>
            <a:pPr indent="0" marL="0">
              <a:lnSpc>
                <a:spcPts val="2000"/>
              </a:lnSpc>
              <a:buNone/>
            </a:pPr>
            <a:r>
              <a:rPr lang="en-US" sz="1450" dirty="0">
                <a:solidFill>
                  <a:srgbClr val="17282B"/>
                </a:solidFill>
                <a:latin typeface="Arial" pitchFamily="34" charset="0"/>
                <a:ea typeface="Arial" pitchFamily="34" charset="-122"/>
                <a:cs typeface="Arial" pitchFamily="34" charset="-120"/>
              </a:rPr>
              <a:t>"Viết bài quảng cáo bán giày thể thao cho học sinh, giọng vui vẻ, có emoji, dài 3-4 câu."</a:t>
            </a:r>
            <a:endParaRPr lang="en-US" sz="1450" dirty="0"/>
          </a:p>
          <a:p>
            <a:pPr indent="0" marL="0">
              <a:lnSpc>
                <a:spcPts val="2000"/>
              </a:lnSpc>
              <a:buNone/>
            </a:pPr>
            <a:endParaRPr lang="en-US" sz="1450" dirty="0"/>
          </a:p>
          <a:p>
            <a:pPr indent="0" marL="0">
              <a:lnSpc>
                <a:spcPts val="2000"/>
              </a:lnSpc>
              <a:buNone/>
            </a:pPr>
            <a:r>
              <a:rPr lang="en-US" sz="1450" dirty="0">
                <a:solidFill>
                  <a:srgbClr val="17282B"/>
                </a:solidFill>
                <a:latin typeface="Arial" pitchFamily="34" charset="0"/>
                <a:ea typeface="Arial" pitchFamily="34" charset="-122"/>
                <a:cs typeface="Arial" pitchFamily="34" charset="-120"/>
              </a:rPr>
              <a:t>Đã nói rõ:</a:t>
            </a:r>
            <a:endParaRPr lang="en-US" sz="1450" dirty="0"/>
          </a:p>
          <a:p>
            <a:pPr indent="0" marL="0">
              <a:lnSpc>
                <a:spcPts val="2000"/>
              </a:lnSpc>
              <a:buNone/>
            </a:pPr>
            <a:r>
              <a:rPr lang="en-US" sz="1450" dirty="0">
                <a:solidFill>
                  <a:srgbClr val="17282B"/>
                </a:solidFill>
                <a:latin typeface="Arial" pitchFamily="34" charset="0"/>
                <a:ea typeface="Arial" pitchFamily="34" charset="-122"/>
                <a:cs typeface="Arial" pitchFamily="34" charset="-120"/>
              </a:rPr>
              <a:t>• Bán cái gì (giày thể thao)</a:t>
            </a:r>
            <a:endParaRPr lang="en-US" sz="1450" dirty="0"/>
          </a:p>
          <a:p>
            <a:pPr indent="0" marL="0">
              <a:lnSpc>
                <a:spcPts val="2000"/>
              </a:lnSpc>
              <a:buNone/>
            </a:pPr>
            <a:r>
              <a:rPr lang="en-US" sz="1450" dirty="0">
                <a:solidFill>
                  <a:srgbClr val="17282B"/>
                </a:solidFill>
                <a:latin typeface="Arial" pitchFamily="34" charset="0"/>
                <a:ea typeface="Arial" pitchFamily="34" charset="-122"/>
                <a:cs typeface="Arial" pitchFamily="34" charset="-120"/>
              </a:rPr>
              <a:t>• Bán cho ai (học sinh)</a:t>
            </a:r>
            <a:endParaRPr lang="en-US" sz="1450" dirty="0"/>
          </a:p>
          <a:p>
            <a:pPr indent="0" marL="0">
              <a:lnSpc>
                <a:spcPts val="2000"/>
              </a:lnSpc>
              <a:buNone/>
            </a:pPr>
            <a:r>
              <a:rPr lang="en-US" sz="1450" dirty="0">
                <a:solidFill>
                  <a:srgbClr val="17282B"/>
                </a:solidFill>
                <a:latin typeface="Arial" pitchFamily="34" charset="0"/>
                <a:ea typeface="Arial" pitchFamily="34" charset="-122"/>
                <a:cs typeface="Arial" pitchFamily="34" charset="-120"/>
              </a:rPr>
              <a:t>• Yêu cầu (vui vẻ, có emoji, ngắn)</a:t>
            </a:r>
            <a:endParaRPr lang="en-US" sz="1450" dirty="0"/>
          </a:p>
          <a:p>
            <a:pPr indent="0" marL="0">
              <a:lnSpc>
                <a:spcPts val="2000"/>
              </a:lnSpc>
              <a:buNone/>
            </a:pPr>
            <a:endParaRPr lang="en-US" sz="1450" dirty="0"/>
          </a:p>
          <a:p>
            <a:pPr indent="0" marL="0">
              <a:lnSpc>
                <a:spcPts val="2000"/>
              </a:lnSpc>
              <a:buNone/>
            </a:pPr>
            <a:r>
              <a:rPr lang="en-US" sz="1450" dirty="0">
                <a:solidFill>
                  <a:srgbClr val="17282B"/>
                </a:solidFill>
                <a:latin typeface="Arial" pitchFamily="34" charset="0"/>
                <a:ea typeface="Arial" pitchFamily="34" charset="-122"/>
                <a:cs typeface="Arial" pitchFamily="34" charset="-120"/>
              </a:rPr>
              <a:t>→ Kết quả sát nhu cầu ngay từ lần đầu.</a:t>
            </a:r>
            <a:endParaRPr lang="en-US" sz="145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347472"/>
            <a:ext cx="457200" cy="457200"/>
          </a:xfrm>
          <a:prstGeom prst="ellipse">
            <a:avLst/>
          </a:prstGeom>
          <a:solidFill>
            <a:srgbClr val="127C82"/>
          </a:solidFill>
          <a:ln/>
        </p:spPr>
      </p:sp>
      <p:pic>
        <p:nvPicPr>
          <p:cNvPr id="3" name="Image 0" descr="/home/claude/aichuyendoiso2/assets/icons/comments_FFFFFF.png">    </p:cNvPr>
          <p:cNvPicPr>
            <a:picLocks noChangeAspect="1"/>
          </p:cNvPicPr>
          <p:nvPr/>
        </p:nvPicPr>
        <p:blipFill>
          <a:blip r:embed="rId2"/>
          <a:stretch>
            <a:fillRect/>
          </a:stretch>
        </p:blipFill>
        <p:spPr>
          <a:xfrm>
            <a:off x="580644" y="470916"/>
            <a:ext cx="210312" cy="210312"/>
          </a:xfrm>
          <a:prstGeom prst="rect">
            <a:avLst/>
          </a:prstGeom>
        </p:spPr>
      </p:pic>
      <p:sp>
        <p:nvSpPr>
          <p:cNvPr id="4" name="Text 1"/>
          <p:cNvSpPr txBox="1"/>
          <p:nvPr/>
        </p:nvSpPr>
        <p:spPr>
          <a:xfrm>
            <a:off x="1051560" y="301752"/>
            <a:ext cx="10607040" cy="566928"/>
          </a:xfrm>
          <a:prstGeom prst="rect">
            <a:avLst/>
          </a:prstGeom>
          <a:noFill/>
          <a:ln/>
        </p:spPr>
        <p:txBody>
          <a:bodyPr wrap="square" lIns="0" tIns="0" rIns="0" bIns="0" rtlCol="0" anchor="ctr"/>
          <a:lstStyle/>
          <a:p>
            <a:pPr indent="0" marL="0">
              <a:buNone/>
            </a:pPr>
            <a:r>
              <a:rPr lang="en-US" sz="2600" b="1" dirty="0">
                <a:solidFill>
                  <a:srgbClr val="0B5257"/>
                </a:solidFill>
                <a:latin typeface="Arial" pitchFamily="34" charset="0"/>
                <a:ea typeface="Arial" pitchFamily="34" charset="-122"/>
                <a:cs typeface="Arial" pitchFamily="34" charset="-120"/>
              </a:rPr>
              <a:t>Thực Hành: Viết Prompt (Câu Lệnh) Đầu Tiên</a:t>
            </a:r>
            <a:endParaRPr lang="en-US" sz="2600" dirty="0"/>
          </a:p>
        </p:txBody>
      </p:sp>
      <p:sp>
        <p:nvSpPr>
          <p:cNvPr id="5" name="Text 2"/>
          <p:cNvSpPr txBox="1"/>
          <p:nvPr/>
        </p:nvSpPr>
        <p:spPr>
          <a:xfrm>
            <a:off x="457200" y="6492240"/>
            <a:ext cx="7315200" cy="274320"/>
          </a:xfrm>
          <a:prstGeom prst="rect">
            <a:avLst/>
          </a:prstGeom>
          <a:noFill/>
          <a:ln/>
        </p:spPr>
        <p:txBody>
          <a:bodyPr wrap="square" lIns="0" tIns="0" rIns="0" bIns="0" rtlCol="0" anchor="ctr"/>
          <a:lstStyle/>
          <a:p>
            <a:pPr algn="l" indent="0" marL="0">
              <a:buNone/>
            </a:pPr>
            <a:r>
              <a:rPr lang="en-US" sz="1000" dirty="0">
                <a:solidFill>
                  <a:srgbClr val="5C7378"/>
                </a:solidFill>
                <a:latin typeface="Arial" pitchFamily="34" charset="0"/>
                <a:ea typeface="Arial" pitchFamily="34" charset="-122"/>
                <a:cs typeface="Arial" pitchFamily="34" charset="-120"/>
              </a:rPr>
              <a:t>Phần 3 · Công cụ AI &amp; Prompt (Câu lệnh)</a:t>
            </a:r>
            <a:endParaRPr lang="en-US" sz="1000" dirty="0"/>
          </a:p>
        </p:txBody>
      </p:sp>
      <p:sp>
        <p:nvSpPr>
          <p:cNvPr id="6" name="Text 3"/>
          <p:cNvSpPr txBox="1"/>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C7378"/>
                </a:solidFill>
                <a:latin typeface="Arial" pitchFamily="34" charset="0"/>
                <a:ea typeface="Arial" pitchFamily="34" charset="-122"/>
                <a:cs typeface="Arial" pitchFamily="34" charset="-120"/>
              </a:rPr>
              <a:t>20</a:t>
            </a:r>
            <a:endParaRPr lang="en-US" sz="1000" dirty="0"/>
          </a:p>
        </p:txBody>
      </p:sp>
      <p:sp>
        <p:nvSpPr>
          <p:cNvPr id="7" name="Shape 4"/>
          <p:cNvSpPr/>
          <p:nvPr/>
        </p:nvSpPr>
        <p:spPr>
          <a:xfrm>
            <a:off x="731520" y="1188720"/>
            <a:ext cx="2148840" cy="502920"/>
          </a:xfrm>
          <a:prstGeom prst="roundRect">
            <a:avLst>
              <a:gd name="adj" fmla="val 50909"/>
            </a:avLst>
          </a:prstGeom>
          <a:solidFill>
            <a:srgbClr val="F2A93B"/>
          </a:solidFill>
          <a:ln/>
        </p:spPr>
      </p:sp>
      <p:pic>
        <p:nvPicPr>
          <p:cNvPr id="8" name="Image 1" descr="/home/claude/aichuyendoiso2/assets/icons/mobile_0B3B45.png">    </p:cNvPr>
          <p:cNvPicPr>
            <a:picLocks noChangeAspect="1"/>
          </p:cNvPicPr>
          <p:nvPr/>
        </p:nvPicPr>
        <p:blipFill>
          <a:blip r:embed="rId3"/>
          <a:stretch>
            <a:fillRect/>
          </a:stretch>
        </p:blipFill>
        <p:spPr>
          <a:xfrm>
            <a:off x="896112" y="1298448"/>
            <a:ext cx="292608" cy="292608"/>
          </a:xfrm>
          <a:prstGeom prst="rect">
            <a:avLst/>
          </a:prstGeom>
        </p:spPr>
      </p:pic>
      <p:sp>
        <p:nvSpPr>
          <p:cNvPr id="9" name="Text 5"/>
          <p:cNvSpPr txBox="1"/>
          <p:nvPr/>
        </p:nvSpPr>
        <p:spPr>
          <a:xfrm>
            <a:off x="1234440" y="1188720"/>
            <a:ext cx="1600200" cy="502920"/>
          </a:xfrm>
          <a:prstGeom prst="rect">
            <a:avLst/>
          </a:prstGeom>
          <a:noFill/>
          <a:ln/>
        </p:spPr>
        <p:txBody>
          <a:bodyPr wrap="square" lIns="0" tIns="0" rIns="0" bIns="0" rtlCol="0" anchor="ctr"/>
          <a:lstStyle/>
          <a:p>
            <a:pPr algn="ctr" indent="0" marL="0">
              <a:buNone/>
            </a:pPr>
            <a:r>
              <a:rPr lang="en-US" sz="1300" b="1" dirty="0">
                <a:solidFill>
                  <a:srgbClr val="0B3B45"/>
                </a:solidFill>
                <a:latin typeface="Arial" pitchFamily="34" charset="0"/>
                <a:ea typeface="Arial" pitchFamily="34" charset="-122"/>
                <a:cs typeface="Arial" pitchFamily="34" charset="-120"/>
              </a:rPr>
              <a:t>THỰC HÀNH</a:t>
            </a:r>
            <a:endParaRPr lang="en-US" sz="1300" dirty="0"/>
          </a:p>
        </p:txBody>
      </p:sp>
      <p:sp>
        <p:nvSpPr>
          <p:cNvPr id="10" name="Shape 6"/>
          <p:cNvSpPr/>
          <p:nvPr/>
        </p:nvSpPr>
        <p:spPr>
          <a:xfrm>
            <a:off x="731520" y="1965960"/>
            <a:ext cx="10698480" cy="685800"/>
          </a:xfrm>
          <a:prstGeom prst="roundRect">
            <a:avLst>
              <a:gd name="adj" fmla="val 10667"/>
            </a:avLst>
          </a:prstGeom>
          <a:solidFill>
            <a:srgbClr val="EEF5F5"/>
          </a:solidFill>
          <a:ln w="12700">
            <a:solidFill>
              <a:srgbClr val="D6E6E6"/>
            </a:solidFill>
            <a:prstDash val="solid"/>
          </a:ln>
        </p:spPr>
      </p:sp>
      <p:sp>
        <p:nvSpPr>
          <p:cNvPr id="11" name="Text 7"/>
          <p:cNvSpPr txBox="1"/>
          <p:nvPr/>
        </p:nvSpPr>
        <p:spPr>
          <a:xfrm>
            <a:off x="960120" y="2039112"/>
            <a:ext cx="10241280" cy="539496"/>
          </a:xfrm>
          <a:prstGeom prst="rect">
            <a:avLst/>
          </a:prstGeom>
          <a:noFill/>
          <a:ln/>
        </p:spPr>
        <p:txBody>
          <a:bodyPr wrap="square" lIns="0" tIns="0" rIns="0" bIns="0" rtlCol="0" anchor="ctr"/>
          <a:lstStyle/>
          <a:p>
            <a:pPr marL="342900" indent="-342900">
              <a:lnSpc>
                <a:spcPts val="1800"/>
              </a:lnSpc>
              <a:buSzPct val="100000"/>
              <a:buChar char="●"/>
            </a:pPr>
            <a:r>
              <a:rPr lang="en-US" sz="1450" dirty="0">
                <a:solidFill>
                  <a:srgbClr val="17282B"/>
                </a:solidFill>
                <a:latin typeface="Arial" pitchFamily="34" charset="0"/>
                <a:ea typeface="Arial" pitchFamily="34" charset="-122"/>
                <a:cs typeface="Arial" pitchFamily="34" charset="-120"/>
              </a:rPr>
              <a:t>Bước 1: Mở ứng dụng ChatGPT hoặc Gemini (bản miễn phí, quét mã QR ở slide trước) trên điện thoại.</a:t>
            </a:r>
            <a:endParaRPr lang="en-US" sz="1450" dirty="0"/>
          </a:p>
        </p:txBody>
      </p:sp>
      <p:sp>
        <p:nvSpPr>
          <p:cNvPr id="12" name="Shape 8"/>
          <p:cNvSpPr/>
          <p:nvPr/>
        </p:nvSpPr>
        <p:spPr>
          <a:xfrm>
            <a:off x="731520" y="2880360"/>
            <a:ext cx="10698480" cy="685800"/>
          </a:xfrm>
          <a:prstGeom prst="roundRect">
            <a:avLst>
              <a:gd name="adj" fmla="val 10667"/>
            </a:avLst>
          </a:prstGeom>
          <a:solidFill>
            <a:srgbClr val="EEF5F5"/>
          </a:solidFill>
          <a:ln w="12700">
            <a:solidFill>
              <a:srgbClr val="D6E6E6"/>
            </a:solidFill>
            <a:prstDash val="solid"/>
          </a:ln>
        </p:spPr>
      </p:sp>
      <p:sp>
        <p:nvSpPr>
          <p:cNvPr id="13" name="Text 9"/>
          <p:cNvSpPr txBox="1"/>
          <p:nvPr/>
        </p:nvSpPr>
        <p:spPr>
          <a:xfrm>
            <a:off x="960120" y="2953512"/>
            <a:ext cx="10241280" cy="539496"/>
          </a:xfrm>
          <a:prstGeom prst="rect">
            <a:avLst/>
          </a:prstGeom>
          <a:noFill/>
          <a:ln/>
        </p:spPr>
        <p:txBody>
          <a:bodyPr wrap="square" lIns="0" tIns="0" rIns="0" bIns="0" rtlCol="0" anchor="ctr"/>
          <a:lstStyle/>
          <a:p>
            <a:pPr marL="342900" indent="-342900">
              <a:lnSpc>
                <a:spcPts val="1800"/>
              </a:lnSpc>
              <a:buSzPct val="100000"/>
              <a:buChar char="●"/>
            </a:pPr>
            <a:r>
              <a:rPr lang="en-US" sz="1450" dirty="0">
                <a:solidFill>
                  <a:srgbClr val="17282B"/>
                </a:solidFill>
                <a:latin typeface="Arial" pitchFamily="34" charset="0"/>
                <a:ea typeface="Arial" pitchFamily="34" charset="-122"/>
                <a:cs typeface="Arial" pitchFamily="34" charset="-120"/>
              </a:rPr>
              <a:t>Bước 2: Viết 1 prompt theo công thức vừa học — chọn 1 chủ đề gần gũi với em.</a:t>
            </a:r>
            <a:endParaRPr lang="en-US" sz="1450" dirty="0"/>
          </a:p>
        </p:txBody>
      </p:sp>
      <p:sp>
        <p:nvSpPr>
          <p:cNvPr id="14" name="Shape 10"/>
          <p:cNvSpPr/>
          <p:nvPr/>
        </p:nvSpPr>
        <p:spPr>
          <a:xfrm>
            <a:off x="731520" y="3794760"/>
            <a:ext cx="10698480" cy="685800"/>
          </a:xfrm>
          <a:prstGeom prst="roundRect">
            <a:avLst>
              <a:gd name="adj" fmla="val 10667"/>
            </a:avLst>
          </a:prstGeom>
          <a:solidFill>
            <a:srgbClr val="EEF5F5"/>
          </a:solidFill>
          <a:ln w="12700">
            <a:solidFill>
              <a:srgbClr val="D6E6E6"/>
            </a:solidFill>
            <a:prstDash val="solid"/>
          </a:ln>
        </p:spPr>
      </p:sp>
      <p:sp>
        <p:nvSpPr>
          <p:cNvPr id="15" name="Text 11"/>
          <p:cNvSpPr txBox="1"/>
          <p:nvPr/>
        </p:nvSpPr>
        <p:spPr>
          <a:xfrm>
            <a:off x="960120" y="3867912"/>
            <a:ext cx="10241280" cy="539496"/>
          </a:xfrm>
          <a:prstGeom prst="rect">
            <a:avLst/>
          </a:prstGeom>
          <a:noFill/>
          <a:ln/>
        </p:spPr>
        <p:txBody>
          <a:bodyPr wrap="square" lIns="0" tIns="0" rIns="0" bIns="0" rtlCol="0" anchor="ctr"/>
          <a:lstStyle/>
          <a:p>
            <a:pPr marL="342900" indent="-342900">
              <a:lnSpc>
                <a:spcPts val="1800"/>
              </a:lnSpc>
              <a:buSzPct val="100000"/>
              <a:buChar char="●"/>
            </a:pPr>
            <a:r>
              <a:rPr lang="en-US" sz="1450" dirty="0">
                <a:solidFill>
                  <a:srgbClr val="17282B"/>
                </a:solidFill>
                <a:latin typeface="Arial" pitchFamily="34" charset="0"/>
                <a:ea typeface="Arial" pitchFamily="34" charset="-122"/>
                <a:cs typeface="Arial" pitchFamily="34" charset="-120"/>
              </a:rPr>
              <a:t>Bước 3: Đọc kết quả AI trả lời, so sánh với bạn ngồi cạnh.</a:t>
            </a:r>
            <a:endParaRPr lang="en-US" sz="1450" dirty="0"/>
          </a:p>
        </p:txBody>
      </p:sp>
      <p:sp>
        <p:nvSpPr>
          <p:cNvPr id="16" name="Text 12"/>
          <p:cNvSpPr txBox="1"/>
          <p:nvPr/>
        </p:nvSpPr>
        <p:spPr>
          <a:xfrm>
            <a:off x="731520" y="4800600"/>
            <a:ext cx="10698480" cy="457200"/>
          </a:xfrm>
          <a:prstGeom prst="rect">
            <a:avLst/>
          </a:prstGeom>
          <a:noFill/>
          <a:ln/>
        </p:spPr>
        <p:txBody>
          <a:bodyPr wrap="square" lIns="0" tIns="0" rIns="0" bIns="0" rtlCol="0" anchor="ctr"/>
          <a:lstStyle/>
          <a:p>
            <a:pPr indent="0" marL="0">
              <a:buNone/>
            </a:pPr>
            <a:r>
              <a:rPr lang="en-US" sz="1300" i="1" dirty="0">
                <a:solidFill>
                  <a:srgbClr val="5C7378"/>
                </a:solidFill>
                <a:latin typeface="Arial" pitchFamily="34" charset="0"/>
                <a:ea typeface="Arial" pitchFamily="34" charset="-122"/>
                <a:cs typeface="Arial" pitchFamily="34" charset="-120"/>
              </a:rPr>
              <a:t>Gợi ý chủ đề: "Viết lời chúc mừng khai giảng" · "Giải thích một khái niệm khó hiểu trong bài học" · "Gợi ý món quà sinh nhật cho bạn thân"</a:t>
            </a:r>
            <a:endParaRPr lang="en-US" sz="130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778240" y="-2011680"/>
            <a:ext cx="5486400" cy="5486400"/>
          </a:xfrm>
          <a:prstGeom prst="ellipse">
            <a:avLst/>
          </a:prstGeom>
          <a:solidFill>
            <a:srgbClr val="0F4B54"/>
          </a:solidFill>
          <a:ln/>
        </p:spPr>
      </p:sp>
      <p:sp>
        <p:nvSpPr>
          <p:cNvPr id="3" name="Text 1"/>
          <p:cNvSpPr txBox="1"/>
          <p:nvPr/>
        </p:nvSpPr>
        <p:spPr>
          <a:xfrm>
            <a:off x="640080" y="1051560"/>
            <a:ext cx="3840480" cy="2377440"/>
          </a:xfrm>
          <a:prstGeom prst="rect">
            <a:avLst/>
          </a:prstGeom>
          <a:noFill/>
          <a:ln/>
        </p:spPr>
        <p:txBody>
          <a:bodyPr wrap="square" lIns="0" tIns="0" rIns="0" bIns="0" rtlCol="0" anchor="ctr"/>
          <a:lstStyle/>
          <a:p>
            <a:pPr indent="0" marL="0">
              <a:buNone/>
            </a:pPr>
            <a:r>
              <a:rPr lang="en-US" sz="13000" b="1" dirty="0">
                <a:solidFill>
                  <a:srgbClr val="155A61"/>
                </a:solidFill>
                <a:latin typeface="Arial" pitchFamily="34" charset="0"/>
                <a:ea typeface="Arial" pitchFamily="34" charset="-122"/>
                <a:cs typeface="Arial" pitchFamily="34" charset="-120"/>
              </a:rPr>
              <a:t>04</a:t>
            </a:r>
            <a:endParaRPr lang="en-US" sz="13000" dirty="0"/>
          </a:p>
        </p:txBody>
      </p:sp>
      <p:sp>
        <p:nvSpPr>
          <p:cNvPr id="4" name="Shape 2"/>
          <p:cNvSpPr/>
          <p:nvPr/>
        </p:nvSpPr>
        <p:spPr>
          <a:xfrm>
            <a:off x="9738360" y="502920"/>
            <a:ext cx="1371600" cy="1371600"/>
          </a:xfrm>
          <a:prstGeom prst="ellipse">
            <a:avLst/>
          </a:prstGeom>
          <a:solidFill>
            <a:srgbClr val="F2A93B"/>
          </a:solidFill>
          <a:ln/>
        </p:spPr>
      </p:sp>
      <p:pic>
        <p:nvPicPr>
          <p:cNvPr id="5" name="Image 0" descr="/home/claude/aichuyendoiso2/assets/icons/briefcase_0B3B45.png">    </p:cNvPr>
          <p:cNvPicPr>
            <a:picLocks noChangeAspect="1"/>
          </p:cNvPicPr>
          <p:nvPr/>
        </p:nvPicPr>
        <p:blipFill>
          <a:blip r:embed="rId2"/>
          <a:stretch>
            <a:fillRect/>
          </a:stretch>
        </p:blipFill>
        <p:spPr>
          <a:xfrm>
            <a:off x="10108692" y="873252"/>
            <a:ext cx="630936" cy="630936"/>
          </a:xfrm>
          <a:prstGeom prst="rect">
            <a:avLst/>
          </a:prstGeom>
        </p:spPr>
      </p:pic>
      <p:sp>
        <p:nvSpPr>
          <p:cNvPr id="6" name="Text 3"/>
          <p:cNvSpPr txBox="1"/>
          <p:nvPr/>
        </p:nvSpPr>
        <p:spPr>
          <a:xfrm>
            <a:off x="777240" y="3246120"/>
            <a:ext cx="10241280" cy="1463040"/>
          </a:xfrm>
          <a:prstGeom prst="rect">
            <a:avLst/>
          </a:prstGeom>
          <a:noFill/>
          <a:ln/>
        </p:spPr>
        <p:txBody>
          <a:bodyPr wrap="square" lIns="0" tIns="0" rIns="0" bIns="0" rtlCol="0" anchor="ctr"/>
          <a:lstStyle/>
          <a:p>
            <a:pPr indent="0" marL="0">
              <a:lnSpc>
                <a:spcPts val="4000"/>
              </a:lnSpc>
              <a:buNone/>
            </a:pPr>
            <a:r>
              <a:rPr lang="en-US" sz="3600" b="1" dirty="0">
                <a:solidFill>
                  <a:srgbClr val="FFFFFF"/>
                </a:solidFill>
                <a:latin typeface="Arial" pitchFamily="34" charset="0"/>
                <a:ea typeface="Arial" pitchFamily="34" charset="-122"/>
                <a:cs typeface="Arial" pitchFamily="34" charset="-120"/>
              </a:rPr>
              <a:t>AI ÁP DỤNG CHO</a:t>
            </a:r>
            <a:endParaRPr lang="en-US" sz="3600" dirty="0"/>
          </a:p>
          <a:p>
            <a:pPr indent="0" marL="0">
              <a:lnSpc>
                <a:spcPts val="4000"/>
              </a:lnSpc>
              <a:buNone/>
            </a:pPr>
            <a:r>
              <a:rPr lang="en-US" sz="3600" b="1" dirty="0">
                <a:solidFill>
                  <a:srgbClr val="FFFFFF"/>
                </a:solidFill>
                <a:latin typeface="Arial" pitchFamily="34" charset="0"/>
                <a:ea typeface="Arial" pitchFamily="34" charset="-122"/>
                <a:cs typeface="Arial" pitchFamily="34" charset="-120"/>
              </a:rPr>
              <a:t>TỪNG NGÀNH NGHỀ CỦA TRƯỜNG</a:t>
            </a:r>
            <a:endParaRPr lang="en-US" sz="3600" dirty="0"/>
          </a:p>
        </p:txBody>
      </p:sp>
      <p:sp>
        <p:nvSpPr>
          <p:cNvPr id="7" name="Text 4"/>
          <p:cNvSpPr txBox="1"/>
          <p:nvPr/>
        </p:nvSpPr>
        <p:spPr>
          <a:xfrm>
            <a:off x="822960" y="4526280"/>
            <a:ext cx="9875520" cy="548640"/>
          </a:xfrm>
          <a:prstGeom prst="rect">
            <a:avLst/>
          </a:prstGeom>
          <a:noFill/>
          <a:ln/>
        </p:spPr>
        <p:txBody>
          <a:bodyPr wrap="square" lIns="0" tIns="0" rIns="0" bIns="0" rtlCol="0" anchor="ctr"/>
          <a:lstStyle/>
          <a:p>
            <a:pPr indent="0" marL="0">
              <a:buNone/>
            </a:pPr>
            <a:r>
              <a:rPr lang="en-US" sz="1600" b="1" dirty="0">
                <a:solidFill>
                  <a:srgbClr val="F2A93B"/>
                </a:solidFill>
                <a:latin typeface="Arial" pitchFamily="34" charset="0"/>
                <a:ea typeface="Arial" pitchFamily="34" charset="-122"/>
                <a:cs typeface="Arial" pitchFamily="34" charset="-120"/>
              </a:rPr>
              <a:t>Ứng dụng thực tế theo từng ngành nghề đào tạo của Trường</a:t>
            </a:r>
            <a:endParaRPr lang="en-US" sz="1600" dirty="0"/>
          </a:p>
        </p:txBody>
      </p:sp>
      <p:sp>
        <p:nvSpPr>
          <p:cNvPr id="8" name="Text 5"/>
          <p:cNvSpPr txBox="1"/>
          <p:nvPr/>
        </p:nvSpPr>
        <p:spPr>
          <a:xfrm>
            <a:off x="457200" y="6492240"/>
            <a:ext cx="7315200" cy="274320"/>
          </a:xfrm>
          <a:prstGeom prst="rect">
            <a:avLst/>
          </a:prstGeom>
          <a:noFill/>
          <a:ln/>
        </p:spPr>
        <p:txBody>
          <a:bodyPr wrap="square" lIns="0" tIns="0" rIns="0" bIns="0" rtlCol="0" anchor="ctr"/>
          <a:lstStyle/>
          <a:p>
            <a:pPr algn="l" indent="0" marL="0">
              <a:buNone/>
            </a:pPr>
            <a:r>
              <a:rPr lang="en-US" sz="1000" dirty="0">
                <a:solidFill>
                  <a:srgbClr val="9FC2C6"/>
                </a:solidFill>
                <a:latin typeface="Arial" pitchFamily="34" charset="0"/>
                <a:ea typeface="Arial" pitchFamily="34" charset="-122"/>
                <a:cs typeface="Arial" pitchFamily="34" charset="-120"/>
              </a:rPr>
              <a:t>Chuyên đề: AI và chuyển đổi số</a:t>
            </a:r>
            <a:endParaRPr lang="en-US" sz="1000" dirty="0"/>
          </a:p>
        </p:txBody>
      </p:sp>
      <p:sp>
        <p:nvSpPr>
          <p:cNvPr id="9" name="Text 6"/>
          <p:cNvSpPr txBox="1"/>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9FC2C6"/>
                </a:solidFill>
                <a:latin typeface="Arial" pitchFamily="34" charset="0"/>
                <a:ea typeface="Arial" pitchFamily="34" charset="-122"/>
                <a:cs typeface="Arial" pitchFamily="34" charset="-120"/>
              </a:rPr>
              <a:t>21</a:t>
            </a:r>
            <a:endParaRPr lang="en-US" sz="100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347472"/>
            <a:ext cx="457200" cy="457200"/>
          </a:xfrm>
          <a:prstGeom prst="ellipse">
            <a:avLst/>
          </a:prstGeom>
          <a:solidFill>
            <a:srgbClr val="127C82"/>
          </a:solidFill>
          <a:ln/>
        </p:spPr>
      </p:sp>
      <p:pic>
        <p:nvPicPr>
          <p:cNvPr id="3" name="Image 0" descr="/home/claude/aichuyendoiso2/assets/icons/wrench_FFFFFF.png">    </p:cNvPr>
          <p:cNvPicPr>
            <a:picLocks noChangeAspect="1"/>
          </p:cNvPicPr>
          <p:nvPr/>
        </p:nvPicPr>
        <p:blipFill>
          <a:blip r:embed="rId2"/>
          <a:stretch>
            <a:fillRect/>
          </a:stretch>
        </p:blipFill>
        <p:spPr>
          <a:xfrm>
            <a:off x="580644" y="470916"/>
            <a:ext cx="210312" cy="210312"/>
          </a:xfrm>
          <a:prstGeom prst="rect">
            <a:avLst/>
          </a:prstGeom>
        </p:spPr>
      </p:pic>
      <p:sp>
        <p:nvSpPr>
          <p:cNvPr id="4" name="Text 1"/>
          <p:cNvSpPr txBox="1"/>
          <p:nvPr/>
        </p:nvSpPr>
        <p:spPr>
          <a:xfrm>
            <a:off x="1051560" y="301752"/>
            <a:ext cx="10607040" cy="566928"/>
          </a:xfrm>
          <a:prstGeom prst="rect">
            <a:avLst/>
          </a:prstGeom>
          <a:noFill/>
          <a:ln/>
        </p:spPr>
        <p:txBody>
          <a:bodyPr wrap="square" lIns="0" tIns="0" rIns="0" bIns="0" rtlCol="0" anchor="ctr"/>
          <a:lstStyle/>
          <a:p>
            <a:pPr indent="0" marL="0">
              <a:buNone/>
            </a:pPr>
            <a:r>
              <a:rPr lang="en-US" sz="2600" b="1" dirty="0">
                <a:solidFill>
                  <a:srgbClr val="0B5257"/>
                </a:solidFill>
                <a:latin typeface="Arial" pitchFamily="34" charset="0"/>
                <a:ea typeface="Arial" pitchFamily="34" charset="-122"/>
                <a:cs typeface="Arial" pitchFamily="34" charset="-120"/>
              </a:rPr>
              <a:t>Khối Kỹ thuật – Công nghệ</a:t>
            </a:r>
            <a:endParaRPr lang="en-US" sz="2600" dirty="0"/>
          </a:p>
        </p:txBody>
      </p:sp>
      <p:sp>
        <p:nvSpPr>
          <p:cNvPr id="5" name="Text 2"/>
          <p:cNvSpPr txBox="1"/>
          <p:nvPr/>
        </p:nvSpPr>
        <p:spPr>
          <a:xfrm>
            <a:off x="457200" y="6492240"/>
            <a:ext cx="7315200" cy="274320"/>
          </a:xfrm>
          <a:prstGeom prst="rect">
            <a:avLst/>
          </a:prstGeom>
          <a:noFill/>
          <a:ln/>
        </p:spPr>
        <p:txBody>
          <a:bodyPr wrap="square" lIns="0" tIns="0" rIns="0" bIns="0" rtlCol="0" anchor="ctr"/>
          <a:lstStyle/>
          <a:p>
            <a:pPr algn="l" indent="0" marL="0">
              <a:buNone/>
            </a:pPr>
            <a:r>
              <a:rPr lang="en-US" sz="1000" dirty="0">
                <a:solidFill>
                  <a:srgbClr val="5C7378"/>
                </a:solidFill>
                <a:latin typeface="Arial" pitchFamily="34" charset="0"/>
                <a:ea typeface="Arial" pitchFamily="34" charset="-122"/>
                <a:cs typeface="Arial" pitchFamily="34" charset="-120"/>
              </a:rPr>
              <a:t>Phần 4 · AI cho từng ngành nghề</a:t>
            </a:r>
            <a:endParaRPr lang="en-US" sz="1000" dirty="0"/>
          </a:p>
        </p:txBody>
      </p:sp>
      <p:sp>
        <p:nvSpPr>
          <p:cNvPr id="6" name="Text 3"/>
          <p:cNvSpPr txBox="1"/>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C7378"/>
                </a:solidFill>
                <a:latin typeface="Arial" pitchFamily="34" charset="0"/>
                <a:ea typeface="Arial" pitchFamily="34" charset="-122"/>
                <a:cs typeface="Arial" pitchFamily="34" charset="-120"/>
              </a:rPr>
              <a:t>22</a:t>
            </a:r>
            <a:endParaRPr lang="en-US" sz="1000" dirty="0"/>
          </a:p>
        </p:txBody>
      </p:sp>
      <p:sp>
        <p:nvSpPr>
          <p:cNvPr id="7" name="Shape 4"/>
          <p:cNvSpPr/>
          <p:nvPr/>
        </p:nvSpPr>
        <p:spPr>
          <a:xfrm>
            <a:off x="10323576" y="374904"/>
            <a:ext cx="566928" cy="566928"/>
          </a:xfrm>
          <a:prstGeom prst="ellipse">
            <a:avLst/>
          </a:prstGeom>
          <a:solidFill>
            <a:srgbClr val="127C82"/>
          </a:solidFill>
          <a:ln/>
        </p:spPr>
      </p:sp>
      <p:pic>
        <p:nvPicPr>
          <p:cNvPr id="8" name="Image 1" descr="/home/claude/aichuyendoiso2/assets/icons/wrench_FFFFFF.png">    </p:cNvPr>
          <p:cNvPicPr>
            <a:picLocks noChangeAspect="1"/>
          </p:cNvPicPr>
          <p:nvPr/>
        </p:nvPicPr>
        <p:blipFill>
          <a:blip r:embed="rId3"/>
          <a:stretch>
            <a:fillRect/>
          </a:stretch>
        </p:blipFill>
        <p:spPr>
          <a:xfrm>
            <a:off x="10476647" y="527975"/>
            <a:ext cx="260787" cy="260787"/>
          </a:xfrm>
          <a:prstGeom prst="rect">
            <a:avLst/>
          </a:prstGeom>
        </p:spPr>
      </p:pic>
      <p:sp>
        <p:nvSpPr>
          <p:cNvPr id="9" name="Shape 5"/>
          <p:cNvSpPr/>
          <p:nvPr/>
        </p:nvSpPr>
        <p:spPr>
          <a:xfrm>
            <a:off x="11064240" y="173736"/>
            <a:ext cx="457200" cy="457200"/>
          </a:xfrm>
          <a:prstGeom prst="ellipse">
            <a:avLst/>
          </a:prstGeom>
          <a:solidFill>
            <a:srgbClr val="F2A93B"/>
          </a:solidFill>
          <a:ln/>
        </p:spPr>
      </p:sp>
      <p:pic>
        <p:nvPicPr>
          <p:cNvPr id="10" name="Image 2" descr="/home/claude/aichuyendoiso2/assets/icons/car_FFFFFF.png">    </p:cNvPr>
          <p:cNvPicPr>
            <a:picLocks noChangeAspect="1"/>
          </p:cNvPicPr>
          <p:nvPr/>
        </p:nvPicPr>
        <p:blipFill>
          <a:blip r:embed="rId4"/>
          <a:stretch>
            <a:fillRect/>
          </a:stretch>
        </p:blipFill>
        <p:spPr>
          <a:xfrm>
            <a:off x="11187684" y="297180"/>
            <a:ext cx="210312" cy="210312"/>
          </a:xfrm>
          <a:prstGeom prst="rect">
            <a:avLst/>
          </a:prstGeom>
        </p:spPr>
      </p:pic>
      <p:sp>
        <p:nvSpPr>
          <p:cNvPr id="11" name="Shape 6"/>
          <p:cNvSpPr/>
          <p:nvPr/>
        </p:nvSpPr>
        <p:spPr>
          <a:xfrm>
            <a:off x="11192256" y="667512"/>
            <a:ext cx="384048" cy="384048"/>
          </a:xfrm>
          <a:prstGeom prst="ellipse">
            <a:avLst/>
          </a:prstGeom>
          <a:solidFill>
            <a:srgbClr val="0B3B45"/>
          </a:solidFill>
          <a:ln/>
        </p:spPr>
      </p:sp>
      <p:pic>
        <p:nvPicPr>
          <p:cNvPr id="12" name="Image 3" descr="/home/claude/aichuyendoiso2/assets/icons/laptopcode_FFFFFF.png">    </p:cNvPr>
          <p:cNvPicPr>
            <a:picLocks noChangeAspect="1"/>
          </p:cNvPicPr>
          <p:nvPr/>
        </p:nvPicPr>
        <p:blipFill>
          <a:blip r:embed="rId5"/>
          <a:stretch>
            <a:fillRect/>
          </a:stretch>
        </p:blipFill>
        <p:spPr>
          <a:xfrm>
            <a:off x="11295949" y="771205"/>
            <a:ext cx="176662" cy="176662"/>
          </a:xfrm>
          <a:prstGeom prst="rect">
            <a:avLst/>
          </a:prstGeom>
        </p:spPr>
      </p:pic>
      <p:sp>
        <p:nvSpPr>
          <p:cNvPr id="13" name="Text 7"/>
          <p:cNvSpPr txBox="1"/>
          <p:nvPr/>
        </p:nvSpPr>
        <p:spPr>
          <a:xfrm>
            <a:off x="731520" y="1234440"/>
            <a:ext cx="10698480" cy="457200"/>
          </a:xfrm>
          <a:prstGeom prst="rect">
            <a:avLst/>
          </a:prstGeom>
          <a:noFill/>
          <a:ln/>
        </p:spPr>
        <p:txBody>
          <a:bodyPr wrap="square" lIns="0" tIns="0" rIns="0" bIns="0" rtlCol="0" anchor="ctr"/>
          <a:lstStyle/>
          <a:p>
            <a:pPr indent="0" marL="0">
              <a:buNone/>
            </a:pPr>
            <a:r>
              <a:rPr lang="en-US" sz="1450" i="1" dirty="0">
                <a:solidFill>
                  <a:srgbClr val="0B5257"/>
                </a:solidFill>
                <a:latin typeface="Arial" pitchFamily="34" charset="0"/>
                <a:ea typeface="Arial" pitchFamily="34" charset="-122"/>
                <a:cs typeface="Arial" pitchFamily="34" charset="-120"/>
              </a:rPr>
              <a:t>Ngành: Điện · Ô tô · Hàn · Xây dựng · Công nghệ thông tin · Tin học</a:t>
            </a:r>
            <a:endParaRPr lang="en-US" sz="1450" dirty="0"/>
          </a:p>
        </p:txBody>
      </p:sp>
      <p:sp>
        <p:nvSpPr>
          <p:cNvPr id="14" name="Shape 8"/>
          <p:cNvSpPr/>
          <p:nvPr/>
        </p:nvSpPr>
        <p:spPr>
          <a:xfrm>
            <a:off x="731520" y="1783080"/>
            <a:ext cx="5189220" cy="2080260"/>
          </a:xfrm>
          <a:prstGeom prst="roundRect">
            <a:avLst>
              <a:gd name="adj" fmla="val 3516"/>
            </a:avLst>
          </a:prstGeom>
          <a:solidFill>
            <a:srgbClr val="EEF5F5"/>
          </a:solidFill>
          <a:ln w="12700">
            <a:solidFill>
              <a:srgbClr val="D6E6E6"/>
            </a:solidFill>
            <a:prstDash val="solid"/>
          </a:ln>
        </p:spPr>
      </p:sp>
      <p:sp>
        <p:nvSpPr>
          <p:cNvPr id="15" name="Shape 9"/>
          <p:cNvSpPr/>
          <p:nvPr/>
        </p:nvSpPr>
        <p:spPr>
          <a:xfrm>
            <a:off x="987552" y="2020824"/>
            <a:ext cx="457200" cy="457200"/>
          </a:xfrm>
          <a:prstGeom prst="ellipse">
            <a:avLst/>
          </a:prstGeom>
          <a:solidFill>
            <a:srgbClr val="F2A93B"/>
          </a:solidFill>
          <a:ln/>
        </p:spPr>
      </p:sp>
      <p:pic>
        <p:nvPicPr>
          <p:cNvPr id="16" name="Image 4" descr="/home/claude/aichuyendoiso2/assets/icons/wrench_0B3B45.png">    </p:cNvPr>
          <p:cNvPicPr>
            <a:picLocks noChangeAspect="1"/>
          </p:cNvPicPr>
          <p:nvPr/>
        </p:nvPicPr>
        <p:blipFill>
          <a:blip r:embed="rId6"/>
          <a:stretch>
            <a:fillRect/>
          </a:stretch>
        </p:blipFill>
        <p:spPr>
          <a:xfrm>
            <a:off x="1110996" y="2144268"/>
            <a:ext cx="210312" cy="210312"/>
          </a:xfrm>
          <a:prstGeom prst="rect">
            <a:avLst/>
          </a:prstGeom>
        </p:spPr>
      </p:pic>
      <p:sp>
        <p:nvSpPr>
          <p:cNvPr id="17" name="Text 10"/>
          <p:cNvSpPr txBox="1"/>
          <p:nvPr/>
        </p:nvSpPr>
        <p:spPr>
          <a:xfrm>
            <a:off x="1600200" y="1965960"/>
            <a:ext cx="4137660" cy="548640"/>
          </a:xfrm>
          <a:prstGeom prst="rect">
            <a:avLst/>
          </a:prstGeom>
          <a:noFill/>
          <a:ln/>
        </p:spPr>
        <p:txBody>
          <a:bodyPr wrap="square" lIns="0" tIns="0" rIns="0" bIns="0" rtlCol="0" anchor="ctr"/>
          <a:lstStyle/>
          <a:p>
            <a:pPr indent="0" marL="0">
              <a:lnSpc>
                <a:spcPts val="1700"/>
              </a:lnSpc>
              <a:buNone/>
            </a:pPr>
            <a:r>
              <a:rPr lang="en-US" sz="1550" b="1" dirty="0">
                <a:solidFill>
                  <a:srgbClr val="17282B"/>
                </a:solidFill>
                <a:latin typeface="Arial" pitchFamily="34" charset="0"/>
                <a:ea typeface="Arial" pitchFamily="34" charset="-122"/>
                <a:cs typeface="Arial" pitchFamily="34" charset="-120"/>
              </a:rPr>
              <a:t>Tra lỗi máy, linh kiện</a:t>
            </a:r>
            <a:endParaRPr lang="en-US" sz="1550" dirty="0"/>
          </a:p>
        </p:txBody>
      </p:sp>
      <p:sp>
        <p:nvSpPr>
          <p:cNvPr id="18" name="Text 11"/>
          <p:cNvSpPr txBox="1"/>
          <p:nvPr/>
        </p:nvSpPr>
        <p:spPr>
          <a:xfrm>
            <a:off x="987552" y="2651760"/>
            <a:ext cx="4677156" cy="1028700"/>
          </a:xfrm>
          <a:prstGeom prst="rect">
            <a:avLst/>
          </a:prstGeom>
          <a:noFill/>
          <a:ln/>
        </p:spPr>
        <p:txBody>
          <a:bodyPr wrap="square" lIns="0" tIns="0" rIns="0" bIns="0" rtlCol="0" anchor="t"/>
          <a:lstStyle/>
          <a:p>
            <a:pPr indent="0" marL="0">
              <a:lnSpc>
                <a:spcPts val="1600"/>
              </a:lnSpc>
              <a:buNone/>
            </a:pPr>
            <a:r>
              <a:rPr lang="en-US" sz="1300" dirty="0">
                <a:solidFill>
                  <a:srgbClr val="5C7378"/>
                </a:solidFill>
                <a:latin typeface="Arial" pitchFamily="34" charset="0"/>
                <a:ea typeface="Arial" pitchFamily="34" charset="-122"/>
                <a:cs typeface="Arial" pitchFamily="34" charset="-120"/>
              </a:rPr>
              <a:t>Chụp ảnh lỗi máy/linh kiện, hỏi AI gợi ý nguyên nhân và cách sửa.</a:t>
            </a:r>
            <a:endParaRPr lang="en-US" sz="1300" dirty="0"/>
          </a:p>
        </p:txBody>
      </p:sp>
      <p:sp>
        <p:nvSpPr>
          <p:cNvPr id="19" name="Shape 12"/>
          <p:cNvSpPr/>
          <p:nvPr/>
        </p:nvSpPr>
        <p:spPr>
          <a:xfrm>
            <a:off x="6240780" y="1783080"/>
            <a:ext cx="5189220" cy="2080260"/>
          </a:xfrm>
          <a:prstGeom prst="roundRect">
            <a:avLst>
              <a:gd name="adj" fmla="val 3516"/>
            </a:avLst>
          </a:prstGeom>
          <a:solidFill>
            <a:srgbClr val="EEF5F5"/>
          </a:solidFill>
          <a:ln w="12700">
            <a:solidFill>
              <a:srgbClr val="D6E6E6"/>
            </a:solidFill>
            <a:prstDash val="solid"/>
          </a:ln>
        </p:spPr>
      </p:sp>
      <p:sp>
        <p:nvSpPr>
          <p:cNvPr id="20" name="Shape 13"/>
          <p:cNvSpPr/>
          <p:nvPr/>
        </p:nvSpPr>
        <p:spPr>
          <a:xfrm>
            <a:off x="6496812" y="2020824"/>
            <a:ext cx="457200" cy="457200"/>
          </a:xfrm>
          <a:prstGeom prst="ellipse">
            <a:avLst/>
          </a:prstGeom>
          <a:solidFill>
            <a:srgbClr val="F2A93B"/>
          </a:solidFill>
          <a:ln/>
        </p:spPr>
      </p:sp>
      <p:pic>
        <p:nvPicPr>
          <p:cNvPr id="21" name="Image 5" descr="/home/claude/aichuyendoiso2/assets/icons/calculator_0B3B45.png">    </p:cNvPr>
          <p:cNvPicPr>
            <a:picLocks noChangeAspect="1"/>
          </p:cNvPicPr>
          <p:nvPr/>
        </p:nvPicPr>
        <p:blipFill>
          <a:blip r:embed="rId7"/>
          <a:stretch>
            <a:fillRect/>
          </a:stretch>
        </p:blipFill>
        <p:spPr>
          <a:xfrm>
            <a:off x="6620256" y="2144268"/>
            <a:ext cx="210312" cy="210312"/>
          </a:xfrm>
          <a:prstGeom prst="rect">
            <a:avLst/>
          </a:prstGeom>
        </p:spPr>
      </p:pic>
      <p:sp>
        <p:nvSpPr>
          <p:cNvPr id="22" name="Text 14"/>
          <p:cNvSpPr txBox="1"/>
          <p:nvPr/>
        </p:nvSpPr>
        <p:spPr>
          <a:xfrm>
            <a:off x="7109460" y="1965960"/>
            <a:ext cx="4137660" cy="548640"/>
          </a:xfrm>
          <a:prstGeom prst="rect">
            <a:avLst/>
          </a:prstGeom>
          <a:noFill/>
          <a:ln/>
        </p:spPr>
        <p:txBody>
          <a:bodyPr wrap="square" lIns="0" tIns="0" rIns="0" bIns="0" rtlCol="0" anchor="ctr"/>
          <a:lstStyle/>
          <a:p>
            <a:pPr indent="0" marL="0">
              <a:lnSpc>
                <a:spcPts val="1700"/>
              </a:lnSpc>
              <a:buNone/>
            </a:pPr>
            <a:r>
              <a:rPr lang="en-US" sz="1550" b="1" dirty="0">
                <a:solidFill>
                  <a:srgbClr val="17282B"/>
                </a:solidFill>
                <a:latin typeface="Arial" pitchFamily="34" charset="0"/>
                <a:ea typeface="Arial" pitchFamily="34" charset="-122"/>
                <a:cs typeface="Arial" pitchFamily="34" charset="-120"/>
              </a:rPr>
              <a:t>Tính toán kỹ thuật nhanh</a:t>
            </a:r>
            <a:endParaRPr lang="en-US" sz="1550" dirty="0"/>
          </a:p>
        </p:txBody>
      </p:sp>
      <p:sp>
        <p:nvSpPr>
          <p:cNvPr id="23" name="Text 15"/>
          <p:cNvSpPr txBox="1"/>
          <p:nvPr/>
        </p:nvSpPr>
        <p:spPr>
          <a:xfrm>
            <a:off x="6496812" y="2651760"/>
            <a:ext cx="4677156" cy="1028700"/>
          </a:xfrm>
          <a:prstGeom prst="rect">
            <a:avLst/>
          </a:prstGeom>
          <a:noFill/>
          <a:ln/>
        </p:spPr>
        <p:txBody>
          <a:bodyPr wrap="square" lIns="0" tIns="0" rIns="0" bIns="0" rtlCol="0" anchor="t"/>
          <a:lstStyle/>
          <a:p>
            <a:pPr indent="0" marL="0">
              <a:lnSpc>
                <a:spcPts val="1600"/>
              </a:lnSpc>
              <a:buNone/>
            </a:pPr>
            <a:r>
              <a:rPr lang="en-US" sz="1300" dirty="0">
                <a:solidFill>
                  <a:srgbClr val="5C7378"/>
                </a:solidFill>
                <a:latin typeface="Arial" pitchFamily="34" charset="0"/>
                <a:ea typeface="Arial" pitchFamily="34" charset="-122"/>
                <a:cs typeface="Arial" pitchFamily="34" charset="-120"/>
              </a:rPr>
              <a:t>Tra thông số, công thức tính điện, vật liệu xây dựng.</a:t>
            </a:r>
            <a:endParaRPr lang="en-US" sz="1300" dirty="0"/>
          </a:p>
        </p:txBody>
      </p:sp>
      <p:sp>
        <p:nvSpPr>
          <p:cNvPr id="24" name="Shape 16"/>
          <p:cNvSpPr/>
          <p:nvPr/>
        </p:nvSpPr>
        <p:spPr>
          <a:xfrm>
            <a:off x="731520" y="4183380"/>
            <a:ext cx="5189220" cy="2080260"/>
          </a:xfrm>
          <a:prstGeom prst="roundRect">
            <a:avLst>
              <a:gd name="adj" fmla="val 3516"/>
            </a:avLst>
          </a:prstGeom>
          <a:solidFill>
            <a:srgbClr val="EEF5F5"/>
          </a:solidFill>
          <a:ln w="12700">
            <a:solidFill>
              <a:srgbClr val="D6E6E6"/>
            </a:solidFill>
            <a:prstDash val="solid"/>
          </a:ln>
        </p:spPr>
      </p:sp>
      <p:sp>
        <p:nvSpPr>
          <p:cNvPr id="25" name="Shape 17"/>
          <p:cNvSpPr/>
          <p:nvPr/>
        </p:nvSpPr>
        <p:spPr>
          <a:xfrm>
            <a:off x="987552" y="4421124"/>
            <a:ext cx="457200" cy="457200"/>
          </a:xfrm>
          <a:prstGeom prst="ellipse">
            <a:avLst/>
          </a:prstGeom>
          <a:solidFill>
            <a:srgbClr val="F2A93B"/>
          </a:solidFill>
          <a:ln/>
        </p:spPr>
      </p:sp>
      <p:pic>
        <p:nvPicPr>
          <p:cNvPr id="26" name="Image 6" descr="/home/claude/aichuyendoiso2/assets/icons/language_0B3B45.png">    </p:cNvPr>
          <p:cNvPicPr>
            <a:picLocks noChangeAspect="1"/>
          </p:cNvPicPr>
          <p:nvPr/>
        </p:nvPicPr>
        <p:blipFill>
          <a:blip r:embed="rId8"/>
          <a:stretch>
            <a:fillRect/>
          </a:stretch>
        </p:blipFill>
        <p:spPr>
          <a:xfrm>
            <a:off x="1110996" y="4544568"/>
            <a:ext cx="210312" cy="210312"/>
          </a:xfrm>
          <a:prstGeom prst="rect">
            <a:avLst/>
          </a:prstGeom>
        </p:spPr>
      </p:pic>
      <p:sp>
        <p:nvSpPr>
          <p:cNvPr id="27" name="Text 18"/>
          <p:cNvSpPr txBox="1"/>
          <p:nvPr/>
        </p:nvSpPr>
        <p:spPr>
          <a:xfrm>
            <a:off x="1600200" y="4366260"/>
            <a:ext cx="4137660" cy="548640"/>
          </a:xfrm>
          <a:prstGeom prst="rect">
            <a:avLst/>
          </a:prstGeom>
          <a:noFill/>
          <a:ln/>
        </p:spPr>
        <p:txBody>
          <a:bodyPr wrap="square" lIns="0" tIns="0" rIns="0" bIns="0" rtlCol="0" anchor="ctr"/>
          <a:lstStyle/>
          <a:p>
            <a:pPr indent="0" marL="0">
              <a:lnSpc>
                <a:spcPts val="1700"/>
              </a:lnSpc>
              <a:buNone/>
            </a:pPr>
            <a:r>
              <a:rPr lang="en-US" sz="1550" b="1" dirty="0">
                <a:solidFill>
                  <a:srgbClr val="17282B"/>
                </a:solidFill>
                <a:latin typeface="Arial" pitchFamily="34" charset="0"/>
                <a:ea typeface="Arial" pitchFamily="34" charset="-122"/>
                <a:cs typeface="Arial" pitchFamily="34" charset="-120"/>
              </a:rPr>
              <a:t>Dịch tài liệu kỹ thuật</a:t>
            </a:r>
            <a:endParaRPr lang="en-US" sz="1550" dirty="0"/>
          </a:p>
        </p:txBody>
      </p:sp>
      <p:sp>
        <p:nvSpPr>
          <p:cNvPr id="28" name="Text 19"/>
          <p:cNvSpPr txBox="1"/>
          <p:nvPr/>
        </p:nvSpPr>
        <p:spPr>
          <a:xfrm>
            <a:off x="987552" y="5052060"/>
            <a:ext cx="4677156" cy="1028700"/>
          </a:xfrm>
          <a:prstGeom prst="rect">
            <a:avLst/>
          </a:prstGeom>
          <a:noFill/>
          <a:ln/>
        </p:spPr>
        <p:txBody>
          <a:bodyPr wrap="square" lIns="0" tIns="0" rIns="0" bIns="0" rtlCol="0" anchor="t"/>
          <a:lstStyle/>
          <a:p>
            <a:pPr indent="0" marL="0">
              <a:lnSpc>
                <a:spcPts val="1600"/>
              </a:lnSpc>
              <a:buNone/>
            </a:pPr>
            <a:r>
              <a:rPr lang="en-US" sz="1300" dirty="0">
                <a:solidFill>
                  <a:srgbClr val="5C7378"/>
                </a:solidFill>
                <a:latin typeface="Arial" pitchFamily="34" charset="0"/>
                <a:ea typeface="Arial" pitchFamily="34" charset="-122"/>
                <a:cs typeface="Arial" pitchFamily="34" charset="-120"/>
              </a:rPr>
              <a:t>Dịch catalogue, hướng dẫn sử dụng máy từ tiếng Anh.</a:t>
            </a:r>
            <a:endParaRPr lang="en-US" sz="1300" dirty="0"/>
          </a:p>
        </p:txBody>
      </p:sp>
      <p:sp>
        <p:nvSpPr>
          <p:cNvPr id="29" name="Shape 20"/>
          <p:cNvSpPr/>
          <p:nvPr/>
        </p:nvSpPr>
        <p:spPr>
          <a:xfrm>
            <a:off x="6240780" y="4183380"/>
            <a:ext cx="5189220" cy="2080260"/>
          </a:xfrm>
          <a:prstGeom prst="roundRect">
            <a:avLst>
              <a:gd name="adj" fmla="val 3516"/>
            </a:avLst>
          </a:prstGeom>
          <a:solidFill>
            <a:srgbClr val="EEF5F5"/>
          </a:solidFill>
          <a:ln w="12700">
            <a:solidFill>
              <a:srgbClr val="D6E6E6"/>
            </a:solidFill>
            <a:prstDash val="solid"/>
          </a:ln>
        </p:spPr>
      </p:sp>
      <p:sp>
        <p:nvSpPr>
          <p:cNvPr id="30" name="Shape 21"/>
          <p:cNvSpPr/>
          <p:nvPr/>
        </p:nvSpPr>
        <p:spPr>
          <a:xfrm>
            <a:off x="6496812" y="4421124"/>
            <a:ext cx="457200" cy="457200"/>
          </a:xfrm>
          <a:prstGeom prst="ellipse">
            <a:avLst/>
          </a:prstGeom>
          <a:solidFill>
            <a:srgbClr val="F2A93B"/>
          </a:solidFill>
          <a:ln/>
        </p:spPr>
      </p:sp>
      <p:pic>
        <p:nvPicPr>
          <p:cNvPr id="31" name="Image 7" descr="/home/claude/aichuyendoiso2/assets/icons/laptopcode_0B3B45.png">    </p:cNvPr>
          <p:cNvPicPr>
            <a:picLocks noChangeAspect="1"/>
          </p:cNvPicPr>
          <p:nvPr/>
        </p:nvPicPr>
        <p:blipFill>
          <a:blip r:embed="rId9"/>
          <a:stretch>
            <a:fillRect/>
          </a:stretch>
        </p:blipFill>
        <p:spPr>
          <a:xfrm>
            <a:off x="6620256" y="4544568"/>
            <a:ext cx="210312" cy="210312"/>
          </a:xfrm>
          <a:prstGeom prst="rect">
            <a:avLst/>
          </a:prstGeom>
        </p:spPr>
      </p:pic>
      <p:sp>
        <p:nvSpPr>
          <p:cNvPr id="32" name="Text 22"/>
          <p:cNvSpPr txBox="1"/>
          <p:nvPr/>
        </p:nvSpPr>
        <p:spPr>
          <a:xfrm>
            <a:off x="7109460" y="4366260"/>
            <a:ext cx="4137660" cy="548640"/>
          </a:xfrm>
          <a:prstGeom prst="rect">
            <a:avLst/>
          </a:prstGeom>
          <a:noFill/>
          <a:ln/>
        </p:spPr>
        <p:txBody>
          <a:bodyPr wrap="square" lIns="0" tIns="0" rIns="0" bIns="0" rtlCol="0" anchor="ctr"/>
          <a:lstStyle/>
          <a:p>
            <a:pPr indent="0" marL="0">
              <a:lnSpc>
                <a:spcPts val="1700"/>
              </a:lnSpc>
              <a:buNone/>
            </a:pPr>
            <a:r>
              <a:rPr lang="en-US" sz="1550" b="1" dirty="0">
                <a:solidFill>
                  <a:srgbClr val="17282B"/>
                </a:solidFill>
                <a:latin typeface="Arial" pitchFamily="34" charset="0"/>
                <a:ea typeface="Arial" pitchFamily="34" charset="-122"/>
                <a:cs typeface="Arial" pitchFamily="34" charset="-120"/>
              </a:rPr>
              <a:t>Hỗ trợ CNTT, Tin học</a:t>
            </a:r>
            <a:endParaRPr lang="en-US" sz="1550" dirty="0"/>
          </a:p>
        </p:txBody>
      </p:sp>
      <p:sp>
        <p:nvSpPr>
          <p:cNvPr id="33" name="Text 23"/>
          <p:cNvSpPr txBox="1"/>
          <p:nvPr/>
        </p:nvSpPr>
        <p:spPr>
          <a:xfrm>
            <a:off x="6496812" y="5052060"/>
            <a:ext cx="4677156" cy="1028700"/>
          </a:xfrm>
          <a:prstGeom prst="rect">
            <a:avLst/>
          </a:prstGeom>
          <a:noFill/>
          <a:ln/>
        </p:spPr>
        <p:txBody>
          <a:bodyPr wrap="square" lIns="0" tIns="0" rIns="0" bIns="0" rtlCol="0" anchor="t"/>
          <a:lstStyle/>
          <a:p>
            <a:pPr indent="0" marL="0">
              <a:lnSpc>
                <a:spcPts val="1600"/>
              </a:lnSpc>
              <a:buNone/>
            </a:pPr>
            <a:r>
              <a:rPr lang="en-US" sz="1300" dirty="0">
                <a:solidFill>
                  <a:srgbClr val="5C7378"/>
                </a:solidFill>
                <a:latin typeface="Arial" pitchFamily="34" charset="0"/>
                <a:ea typeface="Arial" pitchFamily="34" charset="-122"/>
                <a:cs typeface="Arial" pitchFamily="34" charset="-120"/>
              </a:rPr>
              <a:t>Nhờ AI viết/sửa code, làm slide, xử lý văn bản – Excel nhanh hơn.</a:t>
            </a:r>
            <a:endParaRPr lang="en-US" sz="1300" dirty="0"/>
          </a:p>
        </p:txBody>
      </p:sp>
    </p:spTree>
  </p:cSld>
  <p:clrMapOvr>
    <a:masterClrMapping/>
  </p:clrMapOvr>
  <p:transition spd="med">
    <p:push dir="l"/>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347472"/>
            <a:ext cx="457200" cy="457200"/>
          </a:xfrm>
          <a:prstGeom prst="ellipse">
            <a:avLst/>
          </a:prstGeom>
          <a:solidFill>
            <a:srgbClr val="127C82"/>
          </a:solidFill>
          <a:ln/>
        </p:spPr>
      </p:sp>
      <p:pic>
        <p:nvPicPr>
          <p:cNvPr id="3" name="Image 0" descr="/home/claude/aichuyendoiso2/assets/icons/wrench_FFFFFF.png">    </p:cNvPr>
          <p:cNvPicPr>
            <a:picLocks noChangeAspect="1"/>
          </p:cNvPicPr>
          <p:nvPr/>
        </p:nvPicPr>
        <p:blipFill>
          <a:blip r:embed="rId2"/>
          <a:stretch>
            <a:fillRect/>
          </a:stretch>
        </p:blipFill>
        <p:spPr>
          <a:xfrm>
            <a:off x="580644" y="470916"/>
            <a:ext cx="210312" cy="210312"/>
          </a:xfrm>
          <a:prstGeom prst="rect">
            <a:avLst/>
          </a:prstGeom>
        </p:spPr>
      </p:pic>
      <p:sp>
        <p:nvSpPr>
          <p:cNvPr id="4" name="Text 1"/>
          <p:cNvSpPr txBox="1"/>
          <p:nvPr/>
        </p:nvSpPr>
        <p:spPr>
          <a:xfrm>
            <a:off x="1051560" y="301752"/>
            <a:ext cx="10607040" cy="566928"/>
          </a:xfrm>
          <a:prstGeom prst="rect">
            <a:avLst/>
          </a:prstGeom>
          <a:noFill/>
          <a:ln/>
        </p:spPr>
        <p:txBody>
          <a:bodyPr wrap="square" lIns="0" tIns="0" rIns="0" bIns="0" rtlCol="0" anchor="ctr"/>
          <a:lstStyle/>
          <a:p>
            <a:pPr indent="0" marL="0">
              <a:buNone/>
            </a:pPr>
            <a:r>
              <a:rPr lang="en-US" sz="2600" b="1" dirty="0">
                <a:solidFill>
                  <a:srgbClr val="0B5257"/>
                </a:solidFill>
                <a:latin typeface="Arial" pitchFamily="34" charset="0"/>
                <a:ea typeface="Arial" pitchFamily="34" charset="-122"/>
                <a:cs typeface="Arial" pitchFamily="34" charset="-120"/>
              </a:rPr>
              <a:t>Tình Huống Thực Tế: Công Nghệ Ô Tô</a:t>
            </a:r>
            <a:endParaRPr lang="en-US" sz="2600" dirty="0"/>
          </a:p>
        </p:txBody>
      </p:sp>
      <p:sp>
        <p:nvSpPr>
          <p:cNvPr id="5" name="Text 2"/>
          <p:cNvSpPr txBox="1"/>
          <p:nvPr/>
        </p:nvSpPr>
        <p:spPr>
          <a:xfrm>
            <a:off x="457200" y="6492240"/>
            <a:ext cx="7315200" cy="274320"/>
          </a:xfrm>
          <a:prstGeom prst="rect">
            <a:avLst/>
          </a:prstGeom>
          <a:noFill/>
          <a:ln/>
        </p:spPr>
        <p:txBody>
          <a:bodyPr wrap="square" lIns="0" tIns="0" rIns="0" bIns="0" rtlCol="0" anchor="ctr"/>
          <a:lstStyle/>
          <a:p>
            <a:pPr algn="l" indent="0" marL="0">
              <a:buNone/>
            </a:pPr>
            <a:r>
              <a:rPr lang="en-US" sz="1000" dirty="0">
                <a:solidFill>
                  <a:srgbClr val="5C7378"/>
                </a:solidFill>
                <a:latin typeface="Arial" pitchFamily="34" charset="0"/>
                <a:ea typeface="Arial" pitchFamily="34" charset="-122"/>
                <a:cs typeface="Arial" pitchFamily="34" charset="-120"/>
              </a:rPr>
              <a:t>Phần 4 · AI cho từng ngành nghề</a:t>
            </a:r>
            <a:endParaRPr lang="en-US" sz="1000" dirty="0"/>
          </a:p>
        </p:txBody>
      </p:sp>
      <p:sp>
        <p:nvSpPr>
          <p:cNvPr id="6" name="Text 3"/>
          <p:cNvSpPr txBox="1"/>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C7378"/>
                </a:solidFill>
                <a:latin typeface="Arial" pitchFamily="34" charset="0"/>
                <a:ea typeface="Arial" pitchFamily="34" charset="-122"/>
                <a:cs typeface="Arial" pitchFamily="34" charset="-120"/>
              </a:rPr>
              <a:t>23</a:t>
            </a:r>
            <a:endParaRPr lang="en-US" sz="1000" dirty="0"/>
          </a:p>
        </p:txBody>
      </p:sp>
      <p:sp>
        <p:nvSpPr>
          <p:cNvPr id="7" name="Text 4"/>
          <p:cNvSpPr txBox="1"/>
          <p:nvPr/>
        </p:nvSpPr>
        <p:spPr>
          <a:xfrm>
            <a:off x="731520" y="1207008"/>
            <a:ext cx="10698480" cy="292608"/>
          </a:xfrm>
          <a:prstGeom prst="rect">
            <a:avLst/>
          </a:prstGeom>
          <a:noFill/>
          <a:ln/>
        </p:spPr>
        <p:txBody>
          <a:bodyPr wrap="square" lIns="0" tIns="0" rIns="0" bIns="0" rtlCol="0" anchor="ctr"/>
          <a:lstStyle/>
          <a:p>
            <a:pPr indent="0" marL="0">
              <a:buNone/>
            </a:pPr>
            <a:r>
              <a:rPr lang="en-US" sz="1250" b="1" spc="100" kern="0" dirty="0">
                <a:solidFill>
                  <a:srgbClr val="0B5257"/>
                </a:solidFill>
                <a:latin typeface="Arial" pitchFamily="34" charset="0"/>
                <a:ea typeface="Arial" pitchFamily="34" charset="-122"/>
                <a:cs typeface="Arial" pitchFamily="34" charset="-120"/>
              </a:rPr>
              <a:t>TÌNH HUỐNG THỰC TẾ</a:t>
            </a:r>
            <a:endParaRPr lang="en-US" sz="1250" dirty="0"/>
          </a:p>
        </p:txBody>
      </p:sp>
      <p:sp>
        <p:nvSpPr>
          <p:cNvPr id="8" name="Text 5"/>
          <p:cNvSpPr txBox="1"/>
          <p:nvPr/>
        </p:nvSpPr>
        <p:spPr>
          <a:xfrm>
            <a:off x="731520" y="1481328"/>
            <a:ext cx="10698480" cy="566928"/>
          </a:xfrm>
          <a:prstGeom prst="rect">
            <a:avLst/>
          </a:prstGeom>
          <a:noFill/>
          <a:ln/>
        </p:spPr>
        <p:txBody>
          <a:bodyPr wrap="square" lIns="0" tIns="0" rIns="0" bIns="0" rtlCol="0" anchor="ctr"/>
          <a:lstStyle/>
          <a:p>
            <a:pPr indent="0" marL="0">
              <a:lnSpc>
                <a:spcPts val="1800"/>
              </a:lnSpc>
              <a:buNone/>
            </a:pPr>
            <a:r>
              <a:rPr lang="en-US" sz="1400" i="1" dirty="0">
                <a:solidFill>
                  <a:srgbClr val="17282B"/>
                </a:solidFill>
                <a:latin typeface="Arial" pitchFamily="34" charset="0"/>
                <a:ea typeface="Arial" pitchFamily="34" charset="-122"/>
                <a:cs typeface="Arial" pitchFamily="34" charset="-120"/>
              </a:rPr>
              <a:t>Xe máy khách mang đến nổ máy nhưng có tiếng kêu lạ ở khu vực ống pô xả. Em chưa chắc chắn nguyên nhân do đâu để bắt đầu kiểm tra.</a:t>
            </a:r>
            <a:endParaRPr lang="en-US" sz="1400" dirty="0"/>
          </a:p>
        </p:txBody>
      </p:sp>
      <p:sp>
        <p:nvSpPr>
          <p:cNvPr id="9" name="Shape 6"/>
          <p:cNvSpPr/>
          <p:nvPr/>
        </p:nvSpPr>
        <p:spPr>
          <a:xfrm>
            <a:off x="731520" y="2103120"/>
            <a:ext cx="10698480" cy="1143000"/>
          </a:xfrm>
          <a:prstGeom prst="roundRect">
            <a:avLst>
              <a:gd name="adj" fmla="val 7200"/>
            </a:avLst>
          </a:prstGeom>
          <a:solidFill>
            <a:srgbClr val="0B3B45"/>
          </a:solidFill>
          <a:ln/>
        </p:spPr>
      </p:sp>
      <p:sp>
        <p:nvSpPr>
          <p:cNvPr id="10" name="Shape 7"/>
          <p:cNvSpPr/>
          <p:nvPr/>
        </p:nvSpPr>
        <p:spPr>
          <a:xfrm>
            <a:off x="932688" y="2240280"/>
            <a:ext cx="384048" cy="384048"/>
          </a:xfrm>
          <a:prstGeom prst="ellipse">
            <a:avLst/>
          </a:prstGeom>
          <a:solidFill>
            <a:srgbClr val="F2A93B"/>
          </a:solidFill>
          <a:ln/>
        </p:spPr>
      </p:sp>
      <p:pic>
        <p:nvPicPr>
          <p:cNvPr id="11" name="Image 1" descr="/home/claude/aichuyendoiso2/assets/icons/message_0B3B45.png">    </p:cNvPr>
          <p:cNvPicPr>
            <a:picLocks noChangeAspect="1"/>
          </p:cNvPicPr>
          <p:nvPr/>
        </p:nvPicPr>
        <p:blipFill>
          <a:blip r:embed="rId3"/>
          <a:stretch>
            <a:fillRect/>
          </a:stretch>
        </p:blipFill>
        <p:spPr>
          <a:xfrm>
            <a:off x="1036381" y="2343973"/>
            <a:ext cx="176662" cy="176662"/>
          </a:xfrm>
          <a:prstGeom prst="rect">
            <a:avLst/>
          </a:prstGeom>
        </p:spPr>
      </p:pic>
      <p:sp>
        <p:nvSpPr>
          <p:cNvPr id="12" name="Text 8"/>
          <p:cNvSpPr txBox="1"/>
          <p:nvPr/>
        </p:nvSpPr>
        <p:spPr>
          <a:xfrm>
            <a:off x="1417320" y="2240280"/>
            <a:ext cx="4937760" cy="292608"/>
          </a:xfrm>
          <a:prstGeom prst="rect">
            <a:avLst/>
          </a:prstGeom>
          <a:noFill/>
          <a:ln/>
        </p:spPr>
        <p:txBody>
          <a:bodyPr wrap="square" lIns="0" tIns="0" rIns="0" bIns="0" rtlCol="0" anchor="ctr"/>
          <a:lstStyle/>
          <a:p>
            <a:pPr indent="0" marL="0">
              <a:buNone/>
            </a:pPr>
            <a:r>
              <a:rPr lang="en-US" sz="1150" b="1" spc="100" kern="0" dirty="0">
                <a:solidFill>
                  <a:srgbClr val="F2A93B"/>
                </a:solidFill>
                <a:latin typeface="Arial" pitchFamily="34" charset="0"/>
                <a:ea typeface="Arial" pitchFamily="34" charset="-122"/>
                <a:cs typeface="Arial" pitchFamily="34" charset="-120"/>
              </a:rPr>
              <a:t>PROMPT (CÂU LỆNH) MẪU</a:t>
            </a:r>
            <a:endParaRPr lang="en-US" sz="1150" dirty="0"/>
          </a:p>
        </p:txBody>
      </p:sp>
      <p:sp>
        <p:nvSpPr>
          <p:cNvPr id="13" name="Text 9"/>
          <p:cNvSpPr txBox="1"/>
          <p:nvPr/>
        </p:nvSpPr>
        <p:spPr>
          <a:xfrm>
            <a:off x="960120" y="2578608"/>
            <a:ext cx="10241280" cy="621792"/>
          </a:xfrm>
          <a:prstGeom prst="rect">
            <a:avLst/>
          </a:prstGeom>
          <a:noFill/>
          <a:ln/>
        </p:spPr>
        <p:txBody>
          <a:bodyPr wrap="square" lIns="0" tIns="0" rIns="0" bIns="0" rtlCol="0" anchor="t"/>
          <a:lstStyle/>
          <a:p>
            <a:pPr indent="0" marL="0">
              <a:lnSpc>
                <a:spcPts val="1600"/>
              </a:lnSpc>
              <a:buNone/>
            </a:pPr>
            <a:r>
              <a:rPr lang="en-US" sz="1300" i="1" dirty="0">
                <a:solidFill>
                  <a:srgbClr val="FFFFFF"/>
                </a:solidFill>
                <a:latin typeface="Arial" pitchFamily="34" charset="0"/>
                <a:ea typeface="Arial" pitchFamily="34" charset="-122"/>
                <a:cs typeface="Arial" pitchFamily="34" charset="-120"/>
              </a:rPr>
              <a:t>"Hãy liệt kê giúp tôi 3 nguyên nhân phổ biến nhất khiến xe máy nổ máy có tiếng kêu lạ ở ống pô xả, để tôi kiểm tra từng nguyên nhân, với mỗi nguyên nhân nêu cách nhận biết đơn giản."</a:t>
            </a:r>
            <a:endParaRPr lang="en-US" sz="1300" dirty="0"/>
          </a:p>
        </p:txBody>
      </p:sp>
      <p:sp>
        <p:nvSpPr>
          <p:cNvPr id="14" name="Text 10"/>
          <p:cNvSpPr txBox="1"/>
          <p:nvPr/>
        </p:nvSpPr>
        <p:spPr>
          <a:xfrm>
            <a:off x="731520" y="3429000"/>
            <a:ext cx="10698480" cy="292608"/>
          </a:xfrm>
          <a:prstGeom prst="rect">
            <a:avLst/>
          </a:prstGeom>
          <a:noFill/>
          <a:ln/>
        </p:spPr>
        <p:txBody>
          <a:bodyPr wrap="square" lIns="0" tIns="0" rIns="0" bIns="0" rtlCol="0" anchor="ctr"/>
          <a:lstStyle/>
          <a:p>
            <a:pPr indent="0" marL="0">
              <a:buNone/>
            </a:pPr>
            <a:r>
              <a:rPr lang="en-US" sz="1250" b="1" spc="100" kern="0" dirty="0">
                <a:solidFill>
                  <a:srgbClr val="0B5257"/>
                </a:solidFill>
                <a:latin typeface="Arial" pitchFamily="34" charset="0"/>
                <a:ea typeface="Arial" pitchFamily="34" charset="-122"/>
                <a:cs typeface="Arial" pitchFamily="34" charset="-120"/>
              </a:rPr>
              <a:t>AI TRẢ LỜI (VÍ DỤ MINH HỌA)</a:t>
            </a:r>
            <a:endParaRPr lang="en-US" sz="1250" dirty="0"/>
          </a:p>
        </p:txBody>
      </p:sp>
      <p:sp>
        <p:nvSpPr>
          <p:cNvPr id="15" name="Shape 11"/>
          <p:cNvSpPr/>
          <p:nvPr/>
        </p:nvSpPr>
        <p:spPr>
          <a:xfrm>
            <a:off x="731520" y="3730752"/>
            <a:ext cx="10698480" cy="1417320"/>
          </a:xfrm>
          <a:prstGeom prst="roundRect">
            <a:avLst>
              <a:gd name="adj" fmla="val 6452"/>
            </a:avLst>
          </a:prstGeom>
          <a:solidFill>
            <a:srgbClr val="EEF5F5"/>
          </a:solidFill>
          <a:ln w="12700">
            <a:solidFill>
              <a:srgbClr val="D6E6E6"/>
            </a:solidFill>
            <a:prstDash val="solid"/>
          </a:ln>
        </p:spPr>
      </p:sp>
      <p:sp>
        <p:nvSpPr>
          <p:cNvPr id="16" name="Shape 12"/>
          <p:cNvSpPr/>
          <p:nvPr/>
        </p:nvSpPr>
        <p:spPr>
          <a:xfrm>
            <a:off x="932688" y="3895344"/>
            <a:ext cx="365760" cy="365760"/>
          </a:xfrm>
          <a:prstGeom prst="ellipse">
            <a:avLst/>
          </a:prstGeom>
          <a:solidFill>
            <a:srgbClr val="127C82"/>
          </a:solidFill>
          <a:ln/>
        </p:spPr>
      </p:sp>
      <p:pic>
        <p:nvPicPr>
          <p:cNvPr id="17" name="Image 2" descr="/home/claude/aichuyendoiso2/assets/icons/robot_FFFFFF.png">    </p:cNvPr>
          <p:cNvPicPr>
            <a:picLocks noChangeAspect="1"/>
          </p:cNvPicPr>
          <p:nvPr/>
        </p:nvPicPr>
        <p:blipFill>
          <a:blip r:embed="rId4"/>
          <a:stretch>
            <a:fillRect/>
          </a:stretch>
        </p:blipFill>
        <p:spPr>
          <a:xfrm>
            <a:off x="1031443" y="3994099"/>
            <a:ext cx="168250" cy="168250"/>
          </a:xfrm>
          <a:prstGeom prst="rect">
            <a:avLst/>
          </a:prstGeom>
        </p:spPr>
      </p:pic>
      <p:sp>
        <p:nvSpPr>
          <p:cNvPr id="18" name="Text 13"/>
          <p:cNvSpPr txBox="1"/>
          <p:nvPr/>
        </p:nvSpPr>
        <p:spPr>
          <a:xfrm>
            <a:off x="1481328" y="3877056"/>
            <a:ext cx="9738360" cy="1124712"/>
          </a:xfrm>
          <a:prstGeom prst="rect">
            <a:avLst/>
          </a:prstGeom>
          <a:noFill/>
          <a:ln/>
        </p:spPr>
        <p:txBody>
          <a:bodyPr wrap="square" lIns="0" tIns="0" rIns="0" bIns="0" rtlCol="0" anchor="t"/>
          <a:lstStyle/>
          <a:p>
            <a:pPr indent="0" marL="0">
              <a:lnSpc>
                <a:spcPts val="1700"/>
              </a:lnSpc>
              <a:buNone/>
            </a:pPr>
            <a:r>
              <a:rPr lang="en-US" sz="1250" dirty="0">
                <a:solidFill>
                  <a:srgbClr val="17282B"/>
                </a:solidFill>
                <a:latin typeface="Arial" pitchFamily="34" charset="0"/>
                <a:ea typeface="Arial" pitchFamily="34" charset="-122"/>
                <a:cs typeface="Arial" pitchFamily="34" charset="-120"/>
              </a:rPr>
              <a:t>Có 3 nguyên nhân phổ biến bạn nên kiểm tra theo thứ tự:</a:t>
            </a:r>
            <a:endParaRPr lang="en-US" sz="1250" dirty="0"/>
          </a:p>
          <a:p>
            <a:pPr indent="0" marL="0">
              <a:lnSpc>
                <a:spcPts val="1700"/>
              </a:lnSpc>
              <a:buNone/>
            </a:pPr>
            <a:r>
              <a:rPr lang="en-US" sz="1250" dirty="0">
                <a:solidFill>
                  <a:srgbClr val="17282B"/>
                </a:solidFill>
                <a:latin typeface="Arial" pitchFamily="34" charset="0"/>
                <a:ea typeface="Arial" pitchFamily="34" charset="-122"/>
                <a:cs typeface="Arial" pitchFamily="34" charset="-120"/>
              </a:rPr>
              <a:t>1) Bugi bám muội than, đánh lửa không đều — máy giật cục, tốn xăng hơn bình thường.</a:t>
            </a:r>
            <a:endParaRPr lang="en-US" sz="1250" dirty="0"/>
          </a:p>
          <a:p>
            <a:pPr indent="0" marL="0">
              <a:lnSpc>
                <a:spcPts val="1700"/>
              </a:lnSpc>
              <a:buNone/>
            </a:pPr>
            <a:r>
              <a:rPr lang="en-US" sz="1250" dirty="0">
                <a:solidFill>
                  <a:srgbClr val="17282B"/>
                </a:solidFill>
                <a:latin typeface="Arial" pitchFamily="34" charset="0"/>
                <a:ea typeface="Arial" pitchFamily="34" charset="-122"/>
                <a:cs typeface="Arial" pitchFamily="34" charset="-120"/>
              </a:rPr>
              <a:t>2) Ống pô bị thủng hoặc mối hàn rò khí — tiếng kêu "phạch phạch" tăng theo ga.</a:t>
            </a:r>
            <a:endParaRPr lang="en-US" sz="1250" dirty="0"/>
          </a:p>
          <a:p>
            <a:pPr indent="0" marL="0">
              <a:lnSpc>
                <a:spcPts val="1700"/>
              </a:lnSpc>
              <a:buNone/>
            </a:pPr>
            <a:r>
              <a:rPr lang="en-US" sz="1250" dirty="0">
                <a:solidFill>
                  <a:srgbClr val="17282B"/>
                </a:solidFill>
                <a:latin typeface="Arial" pitchFamily="34" charset="0"/>
                <a:ea typeface="Arial" pitchFamily="34" charset="-122"/>
                <a:cs typeface="Arial" pitchFamily="34" charset="-120"/>
              </a:rPr>
              <a:t>3) Dị vật/muội than tích tụ trong lòng pô — tiếng kêu đục, máy yếu khi tăng tốc.</a:t>
            </a:r>
            <a:endParaRPr lang="en-US" sz="1250" dirty="0"/>
          </a:p>
        </p:txBody>
      </p:sp>
      <p:sp>
        <p:nvSpPr>
          <p:cNvPr id="19" name="Shape 14"/>
          <p:cNvSpPr/>
          <p:nvPr/>
        </p:nvSpPr>
        <p:spPr>
          <a:xfrm>
            <a:off x="731520" y="5285232"/>
            <a:ext cx="10698480" cy="978408"/>
          </a:xfrm>
          <a:prstGeom prst="roundRect">
            <a:avLst>
              <a:gd name="adj" fmla="val 7477"/>
            </a:avLst>
          </a:prstGeom>
          <a:solidFill>
            <a:srgbClr val="FBEFE3"/>
          </a:solidFill>
          <a:ln w="12700">
            <a:solidFill>
              <a:srgbClr val="F0CFA0"/>
            </a:solidFill>
            <a:prstDash val="solid"/>
          </a:ln>
        </p:spPr>
      </p:sp>
      <p:sp>
        <p:nvSpPr>
          <p:cNvPr id="20" name="Shape 15"/>
          <p:cNvSpPr/>
          <p:nvPr/>
        </p:nvSpPr>
        <p:spPr>
          <a:xfrm>
            <a:off x="914400" y="5573268"/>
            <a:ext cx="402336" cy="402336"/>
          </a:xfrm>
          <a:prstGeom prst="ellipse">
            <a:avLst/>
          </a:prstGeom>
          <a:solidFill>
            <a:srgbClr val="F2A93B"/>
          </a:solidFill>
          <a:ln/>
        </p:spPr>
      </p:sp>
      <p:pic>
        <p:nvPicPr>
          <p:cNvPr id="21" name="Image 3" descr="/home/claude/aichuyendoiso2/assets/icons/triangleexclamation_0B3B45.png">    </p:cNvPr>
          <p:cNvPicPr>
            <a:picLocks noChangeAspect="1"/>
          </p:cNvPicPr>
          <p:nvPr/>
        </p:nvPicPr>
        <p:blipFill>
          <a:blip r:embed="rId5"/>
          <a:stretch>
            <a:fillRect/>
          </a:stretch>
        </p:blipFill>
        <p:spPr>
          <a:xfrm>
            <a:off x="1023031" y="5681899"/>
            <a:ext cx="185075" cy="185075"/>
          </a:xfrm>
          <a:prstGeom prst="rect">
            <a:avLst/>
          </a:prstGeom>
        </p:spPr>
      </p:pic>
      <p:sp>
        <p:nvSpPr>
          <p:cNvPr id="22" name="Text 16"/>
          <p:cNvSpPr txBox="1"/>
          <p:nvPr/>
        </p:nvSpPr>
        <p:spPr>
          <a:xfrm>
            <a:off x="1508760" y="5285232"/>
            <a:ext cx="9738360" cy="978408"/>
          </a:xfrm>
          <a:prstGeom prst="rect">
            <a:avLst/>
          </a:prstGeom>
          <a:noFill/>
          <a:ln/>
        </p:spPr>
        <p:txBody>
          <a:bodyPr wrap="square" lIns="0" tIns="0" rIns="0" bIns="0" rtlCol="0" anchor="ctr"/>
          <a:lstStyle/>
          <a:p>
            <a:pPr indent="0" marL="0">
              <a:lnSpc>
                <a:spcPts val="1500"/>
              </a:lnSpc>
              <a:buNone/>
            </a:pPr>
            <a:r>
              <a:rPr lang="en-US" sz="1250" i="1" dirty="0">
                <a:solidFill>
                  <a:srgbClr val="7A4A12"/>
                </a:solidFill>
                <a:latin typeface="Arial" pitchFamily="34" charset="0"/>
                <a:ea typeface="Arial" pitchFamily="34" charset="-122"/>
                <a:cs typeface="Arial" pitchFamily="34" charset="-120"/>
              </a:rPr>
              <a:t>AI chỉ gợi ý HƯỚNG kiểm tra ban đầu để tiết kiệm thời gian dò lỗi — vẫn phải tháo máy, đo đạc thực tế để xác định đúng nguyên nhân trước khi sửa.</a:t>
            </a:r>
            <a:endParaRPr lang="en-US" sz="1250" dirty="0"/>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347472"/>
            <a:ext cx="457200" cy="457200"/>
          </a:xfrm>
          <a:prstGeom prst="ellipse">
            <a:avLst/>
          </a:prstGeom>
          <a:solidFill>
            <a:srgbClr val="127C82"/>
          </a:solidFill>
          <a:ln/>
        </p:spPr>
      </p:sp>
      <p:pic>
        <p:nvPicPr>
          <p:cNvPr id="3" name="Image 0" descr="/home/claude/aichuyendoiso2/assets/icons/seedling_FFFFFF.png">    </p:cNvPr>
          <p:cNvPicPr>
            <a:picLocks noChangeAspect="1"/>
          </p:cNvPicPr>
          <p:nvPr/>
        </p:nvPicPr>
        <p:blipFill>
          <a:blip r:embed="rId2"/>
          <a:stretch>
            <a:fillRect/>
          </a:stretch>
        </p:blipFill>
        <p:spPr>
          <a:xfrm>
            <a:off x="580644" y="470916"/>
            <a:ext cx="210312" cy="210312"/>
          </a:xfrm>
          <a:prstGeom prst="rect">
            <a:avLst/>
          </a:prstGeom>
        </p:spPr>
      </p:pic>
      <p:sp>
        <p:nvSpPr>
          <p:cNvPr id="4" name="Text 1"/>
          <p:cNvSpPr txBox="1"/>
          <p:nvPr/>
        </p:nvSpPr>
        <p:spPr>
          <a:xfrm>
            <a:off x="1051560" y="301752"/>
            <a:ext cx="10607040" cy="566928"/>
          </a:xfrm>
          <a:prstGeom prst="rect">
            <a:avLst/>
          </a:prstGeom>
          <a:noFill/>
          <a:ln/>
        </p:spPr>
        <p:txBody>
          <a:bodyPr wrap="square" lIns="0" tIns="0" rIns="0" bIns="0" rtlCol="0" anchor="ctr"/>
          <a:lstStyle/>
          <a:p>
            <a:pPr indent="0" marL="0">
              <a:buNone/>
            </a:pPr>
            <a:r>
              <a:rPr lang="en-US" sz="2600" b="1" dirty="0">
                <a:solidFill>
                  <a:srgbClr val="0B5257"/>
                </a:solidFill>
                <a:latin typeface="Arial" pitchFamily="34" charset="0"/>
                <a:ea typeface="Arial" pitchFamily="34" charset="-122"/>
                <a:cs typeface="Arial" pitchFamily="34" charset="-120"/>
              </a:rPr>
              <a:t>Khối Nông – Lâm – Chăn nuôi thú y</a:t>
            </a:r>
            <a:endParaRPr lang="en-US" sz="2600" dirty="0"/>
          </a:p>
        </p:txBody>
      </p:sp>
      <p:sp>
        <p:nvSpPr>
          <p:cNvPr id="5" name="Text 2"/>
          <p:cNvSpPr txBox="1"/>
          <p:nvPr/>
        </p:nvSpPr>
        <p:spPr>
          <a:xfrm>
            <a:off x="457200" y="6492240"/>
            <a:ext cx="7315200" cy="274320"/>
          </a:xfrm>
          <a:prstGeom prst="rect">
            <a:avLst/>
          </a:prstGeom>
          <a:noFill/>
          <a:ln/>
        </p:spPr>
        <p:txBody>
          <a:bodyPr wrap="square" lIns="0" tIns="0" rIns="0" bIns="0" rtlCol="0" anchor="ctr"/>
          <a:lstStyle/>
          <a:p>
            <a:pPr algn="l" indent="0" marL="0">
              <a:buNone/>
            </a:pPr>
            <a:r>
              <a:rPr lang="en-US" sz="1000" dirty="0">
                <a:solidFill>
                  <a:srgbClr val="5C7378"/>
                </a:solidFill>
                <a:latin typeface="Arial" pitchFamily="34" charset="0"/>
                <a:ea typeface="Arial" pitchFamily="34" charset="-122"/>
                <a:cs typeface="Arial" pitchFamily="34" charset="-120"/>
              </a:rPr>
              <a:t>Phần 4 · AI cho từng ngành nghề</a:t>
            </a:r>
            <a:endParaRPr lang="en-US" sz="1000" dirty="0"/>
          </a:p>
        </p:txBody>
      </p:sp>
      <p:sp>
        <p:nvSpPr>
          <p:cNvPr id="6" name="Text 3"/>
          <p:cNvSpPr txBox="1"/>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C7378"/>
                </a:solidFill>
                <a:latin typeface="Arial" pitchFamily="34" charset="0"/>
                <a:ea typeface="Arial" pitchFamily="34" charset="-122"/>
                <a:cs typeface="Arial" pitchFamily="34" charset="-120"/>
              </a:rPr>
              <a:t>24</a:t>
            </a:r>
            <a:endParaRPr lang="en-US" sz="1000" dirty="0"/>
          </a:p>
        </p:txBody>
      </p:sp>
      <p:sp>
        <p:nvSpPr>
          <p:cNvPr id="7" name="Shape 4"/>
          <p:cNvSpPr/>
          <p:nvPr/>
        </p:nvSpPr>
        <p:spPr>
          <a:xfrm>
            <a:off x="10323576" y="374904"/>
            <a:ext cx="566928" cy="566928"/>
          </a:xfrm>
          <a:prstGeom prst="ellipse">
            <a:avLst/>
          </a:prstGeom>
          <a:solidFill>
            <a:srgbClr val="127C82"/>
          </a:solidFill>
          <a:ln/>
        </p:spPr>
      </p:sp>
      <p:pic>
        <p:nvPicPr>
          <p:cNvPr id="8" name="Image 1" descr="/home/claude/aichuyendoiso2/assets/icons/tractor_FFFFFF.png">    </p:cNvPr>
          <p:cNvPicPr>
            <a:picLocks noChangeAspect="1"/>
          </p:cNvPicPr>
          <p:nvPr/>
        </p:nvPicPr>
        <p:blipFill>
          <a:blip r:embed="rId3"/>
          <a:stretch>
            <a:fillRect/>
          </a:stretch>
        </p:blipFill>
        <p:spPr>
          <a:xfrm>
            <a:off x="10476647" y="527975"/>
            <a:ext cx="260787" cy="260787"/>
          </a:xfrm>
          <a:prstGeom prst="rect">
            <a:avLst/>
          </a:prstGeom>
        </p:spPr>
      </p:pic>
      <p:sp>
        <p:nvSpPr>
          <p:cNvPr id="9" name="Shape 5"/>
          <p:cNvSpPr/>
          <p:nvPr/>
        </p:nvSpPr>
        <p:spPr>
          <a:xfrm>
            <a:off x="11064240" y="173736"/>
            <a:ext cx="457200" cy="457200"/>
          </a:xfrm>
          <a:prstGeom prst="ellipse">
            <a:avLst/>
          </a:prstGeom>
          <a:solidFill>
            <a:srgbClr val="F2A93B"/>
          </a:solidFill>
          <a:ln/>
        </p:spPr>
      </p:sp>
      <p:pic>
        <p:nvPicPr>
          <p:cNvPr id="10" name="Image 2" descr="/home/claude/aichuyendoiso2/assets/icons/leaf_FFFFFF.png">    </p:cNvPr>
          <p:cNvPicPr>
            <a:picLocks noChangeAspect="1"/>
          </p:cNvPicPr>
          <p:nvPr/>
        </p:nvPicPr>
        <p:blipFill>
          <a:blip r:embed="rId4"/>
          <a:stretch>
            <a:fillRect/>
          </a:stretch>
        </p:blipFill>
        <p:spPr>
          <a:xfrm>
            <a:off x="11187684" y="297180"/>
            <a:ext cx="210312" cy="210312"/>
          </a:xfrm>
          <a:prstGeom prst="rect">
            <a:avLst/>
          </a:prstGeom>
        </p:spPr>
      </p:pic>
      <p:sp>
        <p:nvSpPr>
          <p:cNvPr id="11" name="Shape 6"/>
          <p:cNvSpPr/>
          <p:nvPr/>
        </p:nvSpPr>
        <p:spPr>
          <a:xfrm>
            <a:off x="11192256" y="667512"/>
            <a:ext cx="384048" cy="384048"/>
          </a:xfrm>
          <a:prstGeom prst="ellipse">
            <a:avLst/>
          </a:prstGeom>
          <a:solidFill>
            <a:srgbClr val="0B3B45"/>
          </a:solidFill>
          <a:ln/>
        </p:spPr>
      </p:sp>
      <p:pic>
        <p:nvPicPr>
          <p:cNvPr id="12" name="Image 3" descr="/home/claude/aichuyendoiso2/assets/icons/cow_FFFFFF.png">    </p:cNvPr>
          <p:cNvPicPr>
            <a:picLocks noChangeAspect="1"/>
          </p:cNvPicPr>
          <p:nvPr/>
        </p:nvPicPr>
        <p:blipFill>
          <a:blip r:embed="rId5"/>
          <a:stretch>
            <a:fillRect/>
          </a:stretch>
        </p:blipFill>
        <p:spPr>
          <a:xfrm>
            <a:off x="11295949" y="771205"/>
            <a:ext cx="176662" cy="176662"/>
          </a:xfrm>
          <a:prstGeom prst="rect">
            <a:avLst/>
          </a:prstGeom>
        </p:spPr>
      </p:pic>
      <p:sp>
        <p:nvSpPr>
          <p:cNvPr id="13" name="Text 7"/>
          <p:cNvSpPr txBox="1"/>
          <p:nvPr/>
        </p:nvSpPr>
        <p:spPr>
          <a:xfrm>
            <a:off x="731520" y="1234440"/>
            <a:ext cx="10698480" cy="457200"/>
          </a:xfrm>
          <a:prstGeom prst="rect">
            <a:avLst/>
          </a:prstGeom>
          <a:noFill/>
          <a:ln/>
        </p:spPr>
        <p:txBody>
          <a:bodyPr wrap="square" lIns="0" tIns="0" rIns="0" bIns="0" rtlCol="0" anchor="ctr"/>
          <a:lstStyle/>
          <a:p>
            <a:pPr indent="0" marL="0">
              <a:buNone/>
            </a:pPr>
            <a:r>
              <a:rPr lang="en-US" sz="1450" i="1" dirty="0">
                <a:solidFill>
                  <a:srgbClr val="0B5257"/>
                </a:solidFill>
                <a:latin typeface="Arial" pitchFamily="34" charset="0"/>
                <a:ea typeface="Arial" pitchFamily="34" charset="-122"/>
                <a:cs typeface="Arial" pitchFamily="34" charset="-120"/>
              </a:rPr>
              <a:t>Ngành: Lâm sinh · Lâm nghiệp · Trồng trọt · Chăn nuôi – Thú y</a:t>
            </a:r>
            <a:endParaRPr lang="en-US" sz="1450" dirty="0"/>
          </a:p>
        </p:txBody>
      </p:sp>
      <p:sp>
        <p:nvSpPr>
          <p:cNvPr id="14" name="Shape 8"/>
          <p:cNvSpPr/>
          <p:nvPr/>
        </p:nvSpPr>
        <p:spPr>
          <a:xfrm>
            <a:off x="731520" y="1783080"/>
            <a:ext cx="5189220" cy="2080260"/>
          </a:xfrm>
          <a:prstGeom prst="roundRect">
            <a:avLst>
              <a:gd name="adj" fmla="val 3516"/>
            </a:avLst>
          </a:prstGeom>
          <a:solidFill>
            <a:srgbClr val="EEF5F5"/>
          </a:solidFill>
          <a:ln w="12700">
            <a:solidFill>
              <a:srgbClr val="D6E6E6"/>
            </a:solidFill>
            <a:prstDash val="solid"/>
          </a:ln>
        </p:spPr>
      </p:sp>
      <p:sp>
        <p:nvSpPr>
          <p:cNvPr id="15" name="Shape 9"/>
          <p:cNvSpPr/>
          <p:nvPr/>
        </p:nvSpPr>
        <p:spPr>
          <a:xfrm>
            <a:off x="987552" y="2020824"/>
            <a:ext cx="457200" cy="457200"/>
          </a:xfrm>
          <a:prstGeom prst="ellipse">
            <a:avLst/>
          </a:prstGeom>
          <a:solidFill>
            <a:srgbClr val="F2A93B"/>
          </a:solidFill>
          <a:ln/>
        </p:spPr>
      </p:sp>
      <p:pic>
        <p:nvPicPr>
          <p:cNvPr id="16" name="Image 4" descr="/home/claude/aichuyendoiso2/assets/icons/seedling_0B3B45.png">    </p:cNvPr>
          <p:cNvPicPr>
            <a:picLocks noChangeAspect="1"/>
          </p:cNvPicPr>
          <p:nvPr/>
        </p:nvPicPr>
        <p:blipFill>
          <a:blip r:embed="rId6"/>
          <a:stretch>
            <a:fillRect/>
          </a:stretch>
        </p:blipFill>
        <p:spPr>
          <a:xfrm>
            <a:off x="1110996" y="2144268"/>
            <a:ext cx="210312" cy="210312"/>
          </a:xfrm>
          <a:prstGeom prst="rect">
            <a:avLst/>
          </a:prstGeom>
        </p:spPr>
      </p:pic>
      <p:sp>
        <p:nvSpPr>
          <p:cNvPr id="17" name="Text 10"/>
          <p:cNvSpPr txBox="1"/>
          <p:nvPr/>
        </p:nvSpPr>
        <p:spPr>
          <a:xfrm>
            <a:off x="1600200" y="1965960"/>
            <a:ext cx="4137660" cy="548640"/>
          </a:xfrm>
          <a:prstGeom prst="rect">
            <a:avLst/>
          </a:prstGeom>
          <a:noFill/>
          <a:ln/>
        </p:spPr>
        <p:txBody>
          <a:bodyPr wrap="square" lIns="0" tIns="0" rIns="0" bIns="0" rtlCol="0" anchor="ctr"/>
          <a:lstStyle/>
          <a:p>
            <a:pPr indent="0" marL="0">
              <a:lnSpc>
                <a:spcPts val="1700"/>
              </a:lnSpc>
              <a:buNone/>
            </a:pPr>
            <a:r>
              <a:rPr lang="en-US" sz="1550" b="1" dirty="0">
                <a:solidFill>
                  <a:srgbClr val="17282B"/>
                </a:solidFill>
                <a:latin typeface="Arial" pitchFamily="34" charset="0"/>
                <a:ea typeface="Arial" pitchFamily="34" charset="-122"/>
                <a:cs typeface="Arial" pitchFamily="34" charset="-120"/>
              </a:rPr>
              <a:t>Nhận diện sâu bệnh qua ảnh</a:t>
            </a:r>
            <a:endParaRPr lang="en-US" sz="1550" dirty="0"/>
          </a:p>
        </p:txBody>
      </p:sp>
      <p:sp>
        <p:nvSpPr>
          <p:cNvPr id="18" name="Text 11"/>
          <p:cNvSpPr txBox="1"/>
          <p:nvPr/>
        </p:nvSpPr>
        <p:spPr>
          <a:xfrm>
            <a:off x="987552" y="2651760"/>
            <a:ext cx="4677156" cy="1028700"/>
          </a:xfrm>
          <a:prstGeom prst="rect">
            <a:avLst/>
          </a:prstGeom>
          <a:noFill/>
          <a:ln/>
        </p:spPr>
        <p:txBody>
          <a:bodyPr wrap="square" lIns="0" tIns="0" rIns="0" bIns="0" rtlCol="0" anchor="t"/>
          <a:lstStyle/>
          <a:p>
            <a:pPr indent="0" marL="0">
              <a:lnSpc>
                <a:spcPts val="1600"/>
              </a:lnSpc>
              <a:buNone/>
            </a:pPr>
            <a:r>
              <a:rPr lang="en-US" sz="1300" dirty="0">
                <a:solidFill>
                  <a:srgbClr val="5C7378"/>
                </a:solidFill>
                <a:latin typeface="Arial" pitchFamily="34" charset="0"/>
                <a:ea typeface="Arial" pitchFamily="34" charset="-122"/>
                <a:cs typeface="Arial" pitchFamily="34" charset="-120"/>
              </a:rPr>
              <a:t>Chụp ảnh lá cây, con vật có dấu hiệu bệnh, hỏi AI gợi ý nguyên nhân.</a:t>
            </a:r>
            <a:endParaRPr lang="en-US" sz="1300" dirty="0"/>
          </a:p>
        </p:txBody>
      </p:sp>
      <p:sp>
        <p:nvSpPr>
          <p:cNvPr id="19" name="Shape 12"/>
          <p:cNvSpPr/>
          <p:nvPr/>
        </p:nvSpPr>
        <p:spPr>
          <a:xfrm>
            <a:off x="6240780" y="1783080"/>
            <a:ext cx="5189220" cy="2080260"/>
          </a:xfrm>
          <a:prstGeom prst="roundRect">
            <a:avLst>
              <a:gd name="adj" fmla="val 3516"/>
            </a:avLst>
          </a:prstGeom>
          <a:solidFill>
            <a:srgbClr val="EEF5F5"/>
          </a:solidFill>
          <a:ln w="12700">
            <a:solidFill>
              <a:srgbClr val="D6E6E6"/>
            </a:solidFill>
            <a:prstDash val="solid"/>
          </a:ln>
        </p:spPr>
      </p:sp>
      <p:sp>
        <p:nvSpPr>
          <p:cNvPr id="20" name="Shape 13"/>
          <p:cNvSpPr/>
          <p:nvPr/>
        </p:nvSpPr>
        <p:spPr>
          <a:xfrm>
            <a:off x="6496812" y="2020824"/>
            <a:ext cx="457200" cy="457200"/>
          </a:xfrm>
          <a:prstGeom prst="ellipse">
            <a:avLst/>
          </a:prstGeom>
          <a:solidFill>
            <a:srgbClr val="F2A93B"/>
          </a:solidFill>
          <a:ln/>
        </p:spPr>
      </p:sp>
      <p:pic>
        <p:nvPicPr>
          <p:cNvPr id="21" name="Image 5" descr="/home/claude/aichuyendoiso2/assets/icons/tractor_0B3B45.png">    </p:cNvPr>
          <p:cNvPicPr>
            <a:picLocks noChangeAspect="1"/>
          </p:cNvPicPr>
          <p:nvPr/>
        </p:nvPicPr>
        <p:blipFill>
          <a:blip r:embed="rId7"/>
          <a:stretch>
            <a:fillRect/>
          </a:stretch>
        </p:blipFill>
        <p:spPr>
          <a:xfrm>
            <a:off x="6620256" y="2144268"/>
            <a:ext cx="210312" cy="210312"/>
          </a:xfrm>
          <a:prstGeom prst="rect">
            <a:avLst/>
          </a:prstGeom>
        </p:spPr>
      </p:pic>
      <p:sp>
        <p:nvSpPr>
          <p:cNvPr id="22" name="Text 14"/>
          <p:cNvSpPr txBox="1"/>
          <p:nvPr/>
        </p:nvSpPr>
        <p:spPr>
          <a:xfrm>
            <a:off x="7109460" y="1965960"/>
            <a:ext cx="4137660" cy="548640"/>
          </a:xfrm>
          <a:prstGeom prst="rect">
            <a:avLst/>
          </a:prstGeom>
          <a:noFill/>
          <a:ln/>
        </p:spPr>
        <p:txBody>
          <a:bodyPr wrap="square" lIns="0" tIns="0" rIns="0" bIns="0" rtlCol="0" anchor="ctr"/>
          <a:lstStyle/>
          <a:p>
            <a:pPr indent="0" marL="0">
              <a:lnSpc>
                <a:spcPts val="1700"/>
              </a:lnSpc>
              <a:buNone/>
            </a:pPr>
            <a:r>
              <a:rPr lang="en-US" sz="1550" b="1" dirty="0">
                <a:solidFill>
                  <a:srgbClr val="17282B"/>
                </a:solidFill>
                <a:latin typeface="Arial" pitchFamily="34" charset="0"/>
                <a:ea typeface="Arial" pitchFamily="34" charset="-122"/>
                <a:cs typeface="Arial" pitchFamily="34" charset="-120"/>
              </a:rPr>
              <a:t>Tra kỹ thuật chăm sóc</a:t>
            </a:r>
            <a:endParaRPr lang="en-US" sz="1550" dirty="0"/>
          </a:p>
        </p:txBody>
      </p:sp>
      <p:sp>
        <p:nvSpPr>
          <p:cNvPr id="23" name="Text 15"/>
          <p:cNvSpPr txBox="1"/>
          <p:nvPr/>
        </p:nvSpPr>
        <p:spPr>
          <a:xfrm>
            <a:off x="6496812" y="2651760"/>
            <a:ext cx="4677156" cy="1028700"/>
          </a:xfrm>
          <a:prstGeom prst="rect">
            <a:avLst/>
          </a:prstGeom>
          <a:noFill/>
          <a:ln/>
        </p:spPr>
        <p:txBody>
          <a:bodyPr wrap="square" lIns="0" tIns="0" rIns="0" bIns="0" rtlCol="0" anchor="t"/>
          <a:lstStyle/>
          <a:p>
            <a:pPr indent="0" marL="0">
              <a:lnSpc>
                <a:spcPts val="1600"/>
              </a:lnSpc>
              <a:buNone/>
            </a:pPr>
            <a:r>
              <a:rPr lang="en-US" sz="1300" dirty="0">
                <a:solidFill>
                  <a:srgbClr val="5C7378"/>
                </a:solidFill>
                <a:latin typeface="Arial" pitchFamily="34" charset="0"/>
                <a:ea typeface="Arial" pitchFamily="34" charset="-122"/>
                <a:cs typeface="Arial" pitchFamily="34" charset="-120"/>
              </a:rPr>
              <a:t>Kỹ thuật trồng, chăm sóc theo mùa vụ, lịch tiêm phòng vật nuôi.</a:t>
            </a:r>
            <a:endParaRPr lang="en-US" sz="1300" dirty="0"/>
          </a:p>
        </p:txBody>
      </p:sp>
      <p:sp>
        <p:nvSpPr>
          <p:cNvPr id="24" name="Shape 16"/>
          <p:cNvSpPr/>
          <p:nvPr/>
        </p:nvSpPr>
        <p:spPr>
          <a:xfrm>
            <a:off x="731520" y="4183380"/>
            <a:ext cx="5189220" cy="2080260"/>
          </a:xfrm>
          <a:prstGeom prst="roundRect">
            <a:avLst>
              <a:gd name="adj" fmla="val 3516"/>
            </a:avLst>
          </a:prstGeom>
          <a:solidFill>
            <a:srgbClr val="EEF5F5"/>
          </a:solidFill>
          <a:ln w="12700">
            <a:solidFill>
              <a:srgbClr val="D6E6E6"/>
            </a:solidFill>
            <a:prstDash val="solid"/>
          </a:ln>
        </p:spPr>
      </p:sp>
      <p:sp>
        <p:nvSpPr>
          <p:cNvPr id="25" name="Shape 17"/>
          <p:cNvSpPr/>
          <p:nvPr/>
        </p:nvSpPr>
        <p:spPr>
          <a:xfrm>
            <a:off x="987552" y="4421124"/>
            <a:ext cx="457200" cy="457200"/>
          </a:xfrm>
          <a:prstGeom prst="ellipse">
            <a:avLst/>
          </a:prstGeom>
          <a:solidFill>
            <a:srgbClr val="F2A93B"/>
          </a:solidFill>
          <a:ln/>
        </p:spPr>
      </p:sp>
      <p:pic>
        <p:nvPicPr>
          <p:cNvPr id="26" name="Image 6" descr="/home/claude/aichuyendoiso2/assets/icons/calculator_0B3B45.png">    </p:cNvPr>
          <p:cNvPicPr>
            <a:picLocks noChangeAspect="1"/>
          </p:cNvPicPr>
          <p:nvPr/>
        </p:nvPicPr>
        <p:blipFill>
          <a:blip r:embed="rId8"/>
          <a:stretch>
            <a:fillRect/>
          </a:stretch>
        </p:blipFill>
        <p:spPr>
          <a:xfrm>
            <a:off x="1110996" y="4544568"/>
            <a:ext cx="210312" cy="210312"/>
          </a:xfrm>
          <a:prstGeom prst="rect">
            <a:avLst/>
          </a:prstGeom>
        </p:spPr>
      </p:pic>
      <p:sp>
        <p:nvSpPr>
          <p:cNvPr id="27" name="Text 18"/>
          <p:cNvSpPr txBox="1"/>
          <p:nvPr/>
        </p:nvSpPr>
        <p:spPr>
          <a:xfrm>
            <a:off x="1600200" y="4366260"/>
            <a:ext cx="4137660" cy="548640"/>
          </a:xfrm>
          <a:prstGeom prst="rect">
            <a:avLst/>
          </a:prstGeom>
          <a:noFill/>
          <a:ln/>
        </p:spPr>
        <p:txBody>
          <a:bodyPr wrap="square" lIns="0" tIns="0" rIns="0" bIns="0" rtlCol="0" anchor="ctr"/>
          <a:lstStyle/>
          <a:p>
            <a:pPr indent="0" marL="0">
              <a:lnSpc>
                <a:spcPts val="1700"/>
              </a:lnSpc>
              <a:buNone/>
            </a:pPr>
            <a:r>
              <a:rPr lang="en-US" sz="1550" b="1" dirty="0">
                <a:solidFill>
                  <a:srgbClr val="17282B"/>
                </a:solidFill>
                <a:latin typeface="Arial" pitchFamily="34" charset="0"/>
                <a:ea typeface="Arial" pitchFamily="34" charset="-122"/>
                <a:cs typeface="Arial" pitchFamily="34" charset="-120"/>
              </a:rPr>
              <a:t>Tính khẩu phần, chi phí</a:t>
            </a:r>
            <a:endParaRPr lang="en-US" sz="1550" dirty="0"/>
          </a:p>
        </p:txBody>
      </p:sp>
      <p:sp>
        <p:nvSpPr>
          <p:cNvPr id="28" name="Text 19"/>
          <p:cNvSpPr txBox="1"/>
          <p:nvPr/>
        </p:nvSpPr>
        <p:spPr>
          <a:xfrm>
            <a:off x="987552" y="5052060"/>
            <a:ext cx="4677156" cy="1028700"/>
          </a:xfrm>
          <a:prstGeom prst="rect">
            <a:avLst/>
          </a:prstGeom>
          <a:noFill/>
          <a:ln/>
        </p:spPr>
        <p:txBody>
          <a:bodyPr wrap="square" lIns="0" tIns="0" rIns="0" bIns="0" rtlCol="0" anchor="t"/>
          <a:lstStyle/>
          <a:p>
            <a:pPr indent="0" marL="0">
              <a:lnSpc>
                <a:spcPts val="1600"/>
              </a:lnSpc>
              <a:buNone/>
            </a:pPr>
            <a:r>
              <a:rPr lang="en-US" sz="1300" dirty="0">
                <a:solidFill>
                  <a:srgbClr val="5C7378"/>
                </a:solidFill>
                <a:latin typeface="Arial" pitchFamily="34" charset="0"/>
                <a:ea typeface="Arial" pitchFamily="34" charset="-122"/>
                <a:cs typeface="Arial" pitchFamily="34" charset="-120"/>
              </a:rPr>
              <a:t>Tính nhanh khẩu phần ăn, chi phí đầu tư nuôi trồng.</a:t>
            </a:r>
            <a:endParaRPr lang="en-US" sz="1300" dirty="0"/>
          </a:p>
        </p:txBody>
      </p:sp>
      <p:sp>
        <p:nvSpPr>
          <p:cNvPr id="29" name="Shape 20"/>
          <p:cNvSpPr/>
          <p:nvPr/>
        </p:nvSpPr>
        <p:spPr>
          <a:xfrm>
            <a:off x="6240780" y="4183380"/>
            <a:ext cx="5189220" cy="2080260"/>
          </a:xfrm>
          <a:prstGeom prst="roundRect">
            <a:avLst>
              <a:gd name="adj" fmla="val 3516"/>
            </a:avLst>
          </a:prstGeom>
          <a:solidFill>
            <a:srgbClr val="EEF5F5"/>
          </a:solidFill>
          <a:ln w="12700">
            <a:solidFill>
              <a:srgbClr val="D6E6E6"/>
            </a:solidFill>
            <a:prstDash val="solid"/>
          </a:ln>
        </p:spPr>
      </p:sp>
      <p:sp>
        <p:nvSpPr>
          <p:cNvPr id="30" name="Shape 21"/>
          <p:cNvSpPr/>
          <p:nvPr/>
        </p:nvSpPr>
        <p:spPr>
          <a:xfrm>
            <a:off x="6496812" y="4421124"/>
            <a:ext cx="457200" cy="457200"/>
          </a:xfrm>
          <a:prstGeom prst="ellipse">
            <a:avLst/>
          </a:prstGeom>
          <a:solidFill>
            <a:srgbClr val="F2A93B"/>
          </a:solidFill>
          <a:ln/>
        </p:spPr>
      </p:sp>
      <p:pic>
        <p:nvPicPr>
          <p:cNvPr id="31" name="Image 7" descr="/home/claude/aichuyendoiso2/assets/icons/chartline_0B3B45.png">    </p:cNvPr>
          <p:cNvPicPr>
            <a:picLocks noChangeAspect="1"/>
          </p:cNvPicPr>
          <p:nvPr/>
        </p:nvPicPr>
        <p:blipFill>
          <a:blip r:embed="rId9"/>
          <a:stretch>
            <a:fillRect/>
          </a:stretch>
        </p:blipFill>
        <p:spPr>
          <a:xfrm>
            <a:off x="6620256" y="4544568"/>
            <a:ext cx="210312" cy="210312"/>
          </a:xfrm>
          <a:prstGeom prst="rect">
            <a:avLst/>
          </a:prstGeom>
        </p:spPr>
      </p:pic>
      <p:sp>
        <p:nvSpPr>
          <p:cNvPr id="32" name="Text 22"/>
          <p:cNvSpPr txBox="1"/>
          <p:nvPr/>
        </p:nvSpPr>
        <p:spPr>
          <a:xfrm>
            <a:off x="7109460" y="4366260"/>
            <a:ext cx="4137660" cy="548640"/>
          </a:xfrm>
          <a:prstGeom prst="rect">
            <a:avLst/>
          </a:prstGeom>
          <a:noFill/>
          <a:ln/>
        </p:spPr>
        <p:txBody>
          <a:bodyPr wrap="square" lIns="0" tIns="0" rIns="0" bIns="0" rtlCol="0" anchor="ctr"/>
          <a:lstStyle/>
          <a:p>
            <a:pPr indent="0" marL="0">
              <a:lnSpc>
                <a:spcPts val="1700"/>
              </a:lnSpc>
              <a:buNone/>
            </a:pPr>
            <a:r>
              <a:rPr lang="en-US" sz="1550" b="1" dirty="0">
                <a:solidFill>
                  <a:srgbClr val="17282B"/>
                </a:solidFill>
                <a:latin typeface="Arial" pitchFamily="34" charset="0"/>
                <a:ea typeface="Arial" pitchFamily="34" charset="-122"/>
                <a:cs typeface="Arial" pitchFamily="34" charset="-120"/>
              </a:rPr>
              <a:t>Dự báo, tra cứu giá cả</a:t>
            </a:r>
            <a:endParaRPr lang="en-US" sz="1550" dirty="0"/>
          </a:p>
        </p:txBody>
      </p:sp>
      <p:sp>
        <p:nvSpPr>
          <p:cNvPr id="33" name="Text 23"/>
          <p:cNvSpPr txBox="1"/>
          <p:nvPr/>
        </p:nvSpPr>
        <p:spPr>
          <a:xfrm>
            <a:off x="6496812" y="5052060"/>
            <a:ext cx="4677156" cy="1028700"/>
          </a:xfrm>
          <a:prstGeom prst="rect">
            <a:avLst/>
          </a:prstGeom>
          <a:noFill/>
          <a:ln/>
        </p:spPr>
        <p:txBody>
          <a:bodyPr wrap="square" lIns="0" tIns="0" rIns="0" bIns="0" rtlCol="0" anchor="t"/>
          <a:lstStyle/>
          <a:p>
            <a:pPr indent="0" marL="0">
              <a:lnSpc>
                <a:spcPts val="1600"/>
              </a:lnSpc>
              <a:buNone/>
            </a:pPr>
            <a:r>
              <a:rPr lang="en-US" sz="1300" dirty="0">
                <a:solidFill>
                  <a:srgbClr val="5C7378"/>
                </a:solidFill>
                <a:latin typeface="Arial" pitchFamily="34" charset="0"/>
                <a:ea typeface="Arial" pitchFamily="34" charset="-122"/>
                <a:cs typeface="Arial" pitchFamily="34" charset="-120"/>
              </a:rPr>
              <a:t>Tra thông tin thời tiết, giá nông sản để lên kế hoạch.</a:t>
            </a:r>
            <a:endParaRPr lang="en-US" sz="130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347472"/>
            <a:ext cx="457200" cy="457200"/>
          </a:xfrm>
          <a:prstGeom prst="ellipse">
            <a:avLst/>
          </a:prstGeom>
          <a:solidFill>
            <a:srgbClr val="127C82"/>
          </a:solidFill>
          <a:ln/>
        </p:spPr>
      </p:sp>
      <p:pic>
        <p:nvPicPr>
          <p:cNvPr id="3" name="Image 0" descr="/home/claude/aichuyendoiso2/assets/icons/seedling_FFFFFF.png">    </p:cNvPr>
          <p:cNvPicPr>
            <a:picLocks noChangeAspect="1"/>
          </p:cNvPicPr>
          <p:nvPr/>
        </p:nvPicPr>
        <p:blipFill>
          <a:blip r:embed="rId2"/>
          <a:stretch>
            <a:fillRect/>
          </a:stretch>
        </p:blipFill>
        <p:spPr>
          <a:xfrm>
            <a:off x="580644" y="470916"/>
            <a:ext cx="210312" cy="210312"/>
          </a:xfrm>
          <a:prstGeom prst="rect">
            <a:avLst/>
          </a:prstGeom>
        </p:spPr>
      </p:pic>
      <p:sp>
        <p:nvSpPr>
          <p:cNvPr id="4" name="Text 1"/>
          <p:cNvSpPr txBox="1"/>
          <p:nvPr/>
        </p:nvSpPr>
        <p:spPr>
          <a:xfrm>
            <a:off x="1051560" y="301752"/>
            <a:ext cx="10607040" cy="566928"/>
          </a:xfrm>
          <a:prstGeom prst="rect">
            <a:avLst/>
          </a:prstGeom>
          <a:noFill/>
          <a:ln/>
        </p:spPr>
        <p:txBody>
          <a:bodyPr wrap="square" lIns="0" tIns="0" rIns="0" bIns="0" rtlCol="0" anchor="ctr"/>
          <a:lstStyle/>
          <a:p>
            <a:pPr indent="0" marL="0">
              <a:buNone/>
            </a:pPr>
            <a:r>
              <a:rPr lang="en-US" sz="2600" b="1" dirty="0">
                <a:solidFill>
                  <a:srgbClr val="0B5257"/>
                </a:solidFill>
                <a:latin typeface="Arial" pitchFamily="34" charset="0"/>
                <a:ea typeface="Arial" pitchFamily="34" charset="-122"/>
                <a:cs typeface="Arial" pitchFamily="34" charset="-120"/>
              </a:rPr>
              <a:t>Tình Huống Thực Tế: Trồng Trọt</a:t>
            </a:r>
            <a:endParaRPr lang="en-US" sz="2600" dirty="0"/>
          </a:p>
        </p:txBody>
      </p:sp>
      <p:sp>
        <p:nvSpPr>
          <p:cNvPr id="5" name="Text 2"/>
          <p:cNvSpPr txBox="1"/>
          <p:nvPr/>
        </p:nvSpPr>
        <p:spPr>
          <a:xfrm>
            <a:off x="457200" y="6492240"/>
            <a:ext cx="7315200" cy="274320"/>
          </a:xfrm>
          <a:prstGeom prst="rect">
            <a:avLst/>
          </a:prstGeom>
          <a:noFill/>
          <a:ln/>
        </p:spPr>
        <p:txBody>
          <a:bodyPr wrap="square" lIns="0" tIns="0" rIns="0" bIns="0" rtlCol="0" anchor="ctr"/>
          <a:lstStyle/>
          <a:p>
            <a:pPr algn="l" indent="0" marL="0">
              <a:buNone/>
            </a:pPr>
            <a:r>
              <a:rPr lang="en-US" sz="1000" dirty="0">
                <a:solidFill>
                  <a:srgbClr val="5C7378"/>
                </a:solidFill>
                <a:latin typeface="Arial" pitchFamily="34" charset="0"/>
                <a:ea typeface="Arial" pitchFamily="34" charset="-122"/>
                <a:cs typeface="Arial" pitchFamily="34" charset="-120"/>
              </a:rPr>
              <a:t>Phần 4 · AI cho từng ngành nghề</a:t>
            </a:r>
            <a:endParaRPr lang="en-US" sz="1000" dirty="0"/>
          </a:p>
        </p:txBody>
      </p:sp>
      <p:sp>
        <p:nvSpPr>
          <p:cNvPr id="6" name="Text 3"/>
          <p:cNvSpPr txBox="1"/>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C7378"/>
                </a:solidFill>
                <a:latin typeface="Arial" pitchFamily="34" charset="0"/>
                <a:ea typeface="Arial" pitchFamily="34" charset="-122"/>
                <a:cs typeface="Arial" pitchFamily="34" charset="-120"/>
              </a:rPr>
              <a:t>25</a:t>
            </a:r>
            <a:endParaRPr lang="en-US" sz="1000" dirty="0"/>
          </a:p>
        </p:txBody>
      </p:sp>
      <p:sp>
        <p:nvSpPr>
          <p:cNvPr id="7" name="Text 4"/>
          <p:cNvSpPr txBox="1"/>
          <p:nvPr/>
        </p:nvSpPr>
        <p:spPr>
          <a:xfrm>
            <a:off x="731520" y="1207008"/>
            <a:ext cx="10698480" cy="292608"/>
          </a:xfrm>
          <a:prstGeom prst="rect">
            <a:avLst/>
          </a:prstGeom>
          <a:noFill/>
          <a:ln/>
        </p:spPr>
        <p:txBody>
          <a:bodyPr wrap="square" lIns="0" tIns="0" rIns="0" bIns="0" rtlCol="0" anchor="ctr"/>
          <a:lstStyle/>
          <a:p>
            <a:pPr indent="0" marL="0">
              <a:buNone/>
            </a:pPr>
            <a:r>
              <a:rPr lang="en-US" sz="1250" b="1" spc="100" kern="0" dirty="0">
                <a:solidFill>
                  <a:srgbClr val="0B5257"/>
                </a:solidFill>
                <a:latin typeface="Arial" pitchFamily="34" charset="0"/>
                <a:ea typeface="Arial" pitchFamily="34" charset="-122"/>
                <a:cs typeface="Arial" pitchFamily="34" charset="-120"/>
              </a:rPr>
              <a:t>TÌNH HUỐNG THỰC TẾ</a:t>
            </a:r>
            <a:endParaRPr lang="en-US" sz="1250" dirty="0"/>
          </a:p>
        </p:txBody>
      </p:sp>
      <p:sp>
        <p:nvSpPr>
          <p:cNvPr id="8" name="Text 5"/>
          <p:cNvSpPr txBox="1"/>
          <p:nvPr/>
        </p:nvSpPr>
        <p:spPr>
          <a:xfrm>
            <a:off x="731520" y="1481328"/>
            <a:ext cx="10698480" cy="566928"/>
          </a:xfrm>
          <a:prstGeom prst="rect">
            <a:avLst/>
          </a:prstGeom>
          <a:noFill/>
          <a:ln/>
        </p:spPr>
        <p:txBody>
          <a:bodyPr wrap="square" lIns="0" tIns="0" rIns="0" bIns="0" rtlCol="0" anchor="ctr"/>
          <a:lstStyle/>
          <a:p>
            <a:pPr indent="0" marL="0">
              <a:lnSpc>
                <a:spcPts val="1800"/>
              </a:lnSpc>
              <a:buNone/>
            </a:pPr>
            <a:r>
              <a:rPr lang="en-US" sz="1400" i="1" dirty="0">
                <a:solidFill>
                  <a:srgbClr val="17282B"/>
                </a:solidFill>
                <a:latin typeface="Arial" pitchFamily="34" charset="0"/>
                <a:ea typeface="Arial" pitchFamily="34" charset="-122"/>
                <a:cs typeface="Arial" pitchFamily="34" charset="-120"/>
              </a:rPr>
              <a:t>Ruộng rau cải của gia đình xuất hiện lá vàng, có đốm nâu lan rộng sau vài ngày mưa liên tục.</a:t>
            </a:r>
            <a:endParaRPr lang="en-US" sz="1400" dirty="0"/>
          </a:p>
        </p:txBody>
      </p:sp>
      <p:sp>
        <p:nvSpPr>
          <p:cNvPr id="9" name="Shape 6"/>
          <p:cNvSpPr/>
          <p:nvPr/>
        </p:nvSpPr>
        <p:spPr>
          <a:xfrm>
            <a:off x="731520" y="2103120"/>
            <a:ext cx="10698480" cy="1143000"/>
          </a:xfrm>
          <a:prstGeom prst="roundRect">
            <a:avLst>
              <a:gd name="adj" fmla="val 7200"/>
            </a:avLst>
          </a:prstGeom>
          <a:solidFill>
            <a:srgbClr val="0B3B45"/>
          </a:solidFill>
          <a:ln/>
        </p:spPr>
      </p:sp>
      <p:sp>
        <p:nvSpPr>
          <p:cNvPr id="10" name="Shape 7"/>
          <p:cNvSpPr/>
          <p:nvPr/>
        </p:nvSpPr>
        <p:spPr>
          <a:xfrm>
            <a:off x="932688" y="2240280"/>
            <a:ext cx="384048" cy="384048"/>
          </a:xfrm>
          <a:prstGeom prst="ellipse">
            <a:avLst/>
          </a:prstGeom>
          <a:solidFill>
            <a:srgbClr val="F2A93B"/>
          </a:solidFill>
          <a:ln/>
        </p:spPr>
      </p:sp>
      <p:pic>
        <p:nvPicPr>
          <p:cNvPr id="11" name="Image 1" descr="/home/claude/aichuyendoiso2/assets/icons/message_0B3B45.png">    </p:cNvPr>
          <p:cNvPicPr>
            <a:picLocks noChangeAspect="1"/>
          </p:cNvPicPr>
          <p:nvPr/>
        </p:nvPicPr>
        <p:blipFill>
          <a:blip r:embed="rId3"/>
          <a:stretch>
            <a:fillRect/>
          </a:stretch>
        </p:blipFill>
        <p:spPr>
          <a:xfrm>
            <a:off x="1036381" y="2343973"/>
            <a:ext cx="176662" cy="176662"/>
          </a:xfrm>
          <a:prstGeom prst="rect">
            <a:avLst/>
          </a:prstGeom>
        </p:spPr>
      </p:pic>
      <p:sp>
        <p:nvSpPr>
          <p:cNvPr id="12" name="Text 8"/>
          <p:cNvSpPr txBox="1"/>
          <p:nvPr/>
        </p:nvSpPr>
        <p:spPr>
          <a:xfrm>
            <a:off x="1417320" y="2240280"/>
            <a:ext cx="4937760" cy="292608"/>
          </a:xfrm>
          <a:prstGeom prst="rect">
            <a:avLst/>
          </a:prstGeom>
          <a:noFill/>
          <a:ln/>
        </p:spPr>
        <p:txBody>
          <a:bodyPr wrap="square" lIns="0" tIns="0" rIns="0" bIns="0" rtlCol="0" anchor="ctr"/>
          <a:lstStyle/>
          <a:p>
            <a:pPr indent="0" marL="0">
              <a:buNone/>
            </a:pPr>
            <a:r>
              <a:rPr lang="en-US" sz="1150" b="1" spc="100" kern="0" dirty="0">
                <a:solidFill>
                  <a:srgbClr val="F2A93B"/>
                </a:solidFill>
                <a:latin typeface="Arial" pitchFamily="34" charset="0"/>
                <a:ea typeface="Arial" pitchFamily="34" charset="-122"/>
                <a:cs typeface="Arial" pitchFamily="34" charset="-120"/>
              </a:rPr>
              <a:t>PROMPT (CÂU LỆNH) MẪU</a:t>
            </a:r>
            <a:endParaRPr lang="en-US" sz="1150" dirty="0"/>
          </a:p>
        </p:txBody>
      </p:sp>
      <p:sp>
        <p:nvSpPr>
          <p:cNvPr id="13" name="Text 9"/>
          <p:cNvSpPr txBox="1"/>
          <p:nvPr/>
        </p:nvSpPr>
        <p:spPr>
          <a:xfrm>
            <a:off x="960120" y="2578608"/>
            <a:ext cx="10241280" cy="621792"/>
          </a:xfrm>
          <a:prstGeom prst="rect">
            <a:avLst/>
          </a:prstGeom>
          <a:noFill/>
          <a:ln/>
        </p:spPr>
        <p:txBody>
          <a:bodyPr wrap="square" lIns="0" tIns="0" rIns="0" bIns="0" rtlCol="0" anchor="t"/>
          <a:lstStyle/>
          <a:p>
            <a:pPr indent="0" marL="0">
              <a:lnSpc>
                <a:spcPts val="1600"/>
              </a:lnSpc>
              <a:buNone/>
            </a:pPr>
            <a:r>
              <a:rPr lang="en-US" sz="1300" i="1" dirty="0">
                <a:solidFill>
                  <a:srgbClr val="FFFFFF"/>
                </a:solidFill>
                <a:latin typeface="Arial" pitchFamily="34" charset="0"/>
                <a:ea typeface="Arial" pitchFamily="34" charset="-122"/>
                <a:cs typeface="Arial" pitchFamily="34" charset="-120"/>
              </a:rPr>
              <a:t>"Hãy gợi ý giúp tôi 3 nguyên nhân phổ biến khiến lá rau cải bị vàng và có đốm nâu sau mưa, để tôi xác định đúng bệnh, với mỗi nguyên nhân nêu dấu hiệu nhận biết."</a:t>
            </a:r>
            <a:endParaRPr lang="en-US" sz="1300" dirty="0"/>
          </a:p>
        </p:txBody>
      </p:sp>
      <p:sp>
        <p:nvSpPr>
          <p:cNvPr id="14" name="Text 10"/>
          <p:cNvSpPr txBox="1"/>
          <p:nvPr/>
        </p:nvSpPr>
        <p:spPr>
          <a:xfrm>
            <a:off x="731520" y="3429000"/>
            <a:ext cx="10698480" cy="292608"/>
          </a:xfrm>
          <a:prstGeom prst="rect">
            <a:avLst/>
          </a:prstGeom>
          <a:noFill/>
          <a:ln/>
        </p:spPr>
        <p:txBody>
          <a:bodyPr wrap="square" lIns="0" tIns="0" rIns="0" bIns="0" rtlCol="0" anchor="ctr"/>
          <a:lstStyle/>
          <a:p>
            <a:pPr indent="0" marL="0">
              <a:buNone/>
            </a:pPr>
            <a:r>
              <a:rPr lang="en-US" sz="1250" b="1" spc="100" kern="0" dirty="0">
                <a:solidFill>
                  <a:srgbClr val="0B5257"/>
                </a:solidFill>
                <a:latin typeface="Arial" pitchFamily="34" charset="0"/>
                <a:ea typeface="Arial" pitchFamily="34" charset="-122"/>
                <a:cs typeface="Arial" pitchFamily="34" charset="-120"/>
              </a:rPr>
              <a:t>AI TRẢ LỜI (VÍ DỤ MINH HỌA)</a:t>
            </a:r>
            <a:endParaRPr lang="en-US" sz="1250" dirty="0"/>
          </a:p>
        </p:txBody>
      </p:sp>
      <p:sp>
        <p:nvSpPr>
          <p:cNvPr id="15" name="Shape 11"/>
          <p:cNvSpPr/>
          <p:nvPr/>
        </p:nvSpPr>
        <p:spPr>
          <a:xfrm>
            <a:off x="731520" y="3730752"/>
            <a:ext cx="10698480" cy="1417320"/>
          </a:xfrm>
          <a:prstGeom prst="roundRect">
            <a:avLst>
              <a:gd name="adj" fmla="val 6452"/>
            </a:avLst>
          </a:prstGeom>
          <a:solidFill>
            <a:srgbClr val="EEF5F5"/>
          </a:solidFill>
          <a:ln w="12700">
            <a:solidFill>
              <a:srgbClr val="D6E6E6"/>
            </a:solidFill>
            <a:prstDash val="solid"/>
          </a:ln>
        </p:spPr>
      </p:sp>
      <p:sp>
        <p:nvSpPr>
          <p:cNvPr id="16" name="Shape 12"/>
          <p:cNvSpPr/>
          <p:nvPr/>
        </p:nvSpPr>
        <p:spPr>
          <a:xfrm>
            <a:off x="932688" y="3895344"/>
            <a:ext cx="365760" cy="365760"/>
          </a:xfrm>
          <a:prstGeom prst="ellipse">
            <a:avLst/>
          </a:prstGeom>
          <a:solidFill>
            <a:srgbClr val="127C82"/>
          </a:solidFill>
          <a:ln/>
        </p:spPr>
      </p:sp>
      <p:pic>
        <p:nvPicPr>
          <p:cNvPr id="17" name="Image 2" descr="/home/claude/aichuyendoiso2/assets/icons/robot_FFFFFF.png">    </p:cNvPr>
          <p:cNvPicPr>
            <a:picLocks noChangeAspect="1"/>
          </p:cNvPicPr>
          <p:nvPr/>
        </p:nvPicPr>
        <p:blipFill>
          <a:blip r:embed="rId4"/>
          <a:stretch>
            <a:fillRect/>
          </a:stretch>
        </p:blipFill>
        <p:spPr>
          <a:xfrm>
            <a:off x="1031443" y="3994099"/>
            <a:ext cx="168250" cy="168250"/>
          </a:xfrm>
          <a:prstGeom prst="rect">
            <a:avLst/>
          </a:prstGeom>
        </p:spPr>
      </p:pic>
      <p:sp>
        <p:nvSpPr>
          <p:cNvPr id="18" name="Text 13"/>
          <p:cNvSpPr txBox="1"/>
          <p:nvPr/>
        </p:nvSpPr>
        <p:spPr>
          <a:xfrm>
            <a:off x="1481328" y="3877056"/>
            <a:ext cx="9738360" cy="1124712"/>
          </a:xfrm>
          <a:prstGeom prst="rect">
            <a:avLst/>
          </a:prstGeom>
          <a:noFill/>
          <a:ln/>
        </p:spPr>
        <p:txBody>
          <a:bodyPr wrap="square" lIns="0" tIns="0" rIns="0" bIns="0" rtlCol="0" anchor="t"/>
          <a:lstStyle/>
          <a:p>
            <a:pPr indent="0" marL="0">
              <a:lnSpc>
                <a:spcPts val="1700"/>
              </a:lnSpc>
              <a:buNone/>
            </a:pPr>
            <a:r>
              <a:rPr lang="en-US" sz="1250" dirty="0">
                <a:solidFill>
                  <a:srgbClr val="17282B"/>
                </a:solidFill>
                <a:latin typeface="Arial" pitchFamily="34" charset="0"/>
                <a:ea typeface="Arial" pitchFamily="34" charset="-122"/>
                <a:cs typeface="Arial" pitchFamily="34" charset="-120"/>
              </a:rPr>
              <a:t>Có 3 nguyên nhân phổ biến bạn nên xem xét:</a:t>
            </a:r>
            <a:endParaRPr lang="en-US" sz="1250" dirty="0"/>
          </a:p>
          <a:p>
            <a:pPr indent="0" marL="0">
              <a:lnSpc>
                <a:spcPts val="1700"/>
              </a:lnSpc>
              <a:buNone/>
            </a:pPr>
            <a:r>
              <a:rPr lang="en-US" sz="1250" dirty="0">
                <a:solidFill>
                  <a:srgbClr val="17282B"/>
                </a:solidFill>
                <a:latin typeface="Arial" pitchFamily="34" charset="0"/>
                <a:ea typeface="Arial" pitchFamily="34" charset="-122"/>
                <a:cs typeface="Arial" pitchFamily="34" charset="-120"/>
              </a:rPr>
              <a:t>1) Bệnh đốm vòng do nấm — đốm nâu viền tròn đồng tâm, lan từ lá già lên lá non.</a:t>
            </a:r>
            <a:endParaRPr lang="en-US" sz="1250" dirty="0"/>
          </a:p>
          <a:p>
            <a:pPr indent="0" marL="0">
              <a:lnSpc>
                <a:spcPts val="1700"/>
              </a:lnSpc>
              <a:buNone/>
            </a:pPr>
            <a:r>
              <a:rPr lang="en-US" sz="1250" dirty="0">
                <a:solidFill>
                  <a:srgbClr val="17282B"/>
                </a:solidFill>
                <a:latin typeface="Arial" pitchFamily="34" charset="0"/>
                <a:ea typeface="Arial" pitchFamily="34" charset="-122"/>
                <a:cs typeface="Arial" pitchFamily="34" charset="-120"/>
              </a:rPr>
              <a:t>2) Ngập úng rễ do mưa nhiều — lá vàng đều cả cây, đất quanh gốc sũng nước.</a:t>
            </a:r>
            <a:endParaRPr lang="en-US" sz="1250" dirty="0"/>
          </a:p>
          <a:p>
            <a:pPr indent="0" marL="0">
              <a:lnSpc>
                <a:spcPts val="1700"/>
              </a:lnSpc>
              <a:buNone/>
            </a:pPr>
            <a:r>
              <a:rPr lang="en-US" sz="1250" dirty="0">
                <a:solidFill>
                  <a:srgbClr val="17282B"/>
                </a:solidFill>
                <a:latin typeface="Arial" pitchFamily="34" charset="0"/>
                <a:ea typeface="Arial" pitchFamily="34" charset="-122"/>
                <a:cs typeface="Arial" pitchFamily="34" charset="-120"/>
              </a:rPr>
              <a:t>3) Thiếu dinh dưỡng (đặc biệt đạm) — lá vàng từ gân lá, cây chậm phát triển.</a:t>
            </a:r>
            <a:endParaRPr lang="en-US" sz="1250" dirty="0"/>
          </a:p>
        </p:txBody>
      </p:sp>
      <p:sp>
        <p:nvSpPr>
          <p:cNvPr id="19" name="Shape 14"/>
          <p:cNvSpPr/>
          <p:nvPr/>
        </p:nvSpPr>
        <p:spPr>
          <a:xfrm>
            <a:off x="731520" y="5285232"/>
            <a:ext cx="10698480" cy="978408"/>
          </a:xfrm>
          <a:prstGeom prst="roundRect">
            <a:avLst>
              <a:gd name="adj" fmla="val 7477"/>
            </a:avLst>
          </a:prstGeom>
          <a:solidFill>
            <a:srgbClr val="FBEFE3"/>
          </a:solidFill>
          <a:ln w="12700">
            <a:solidFill>
              <a:srgbClr val="F0CFA0"/>
            </a:solidFill>
            <a:prstDash val="solid"/>
          </a:ln>
        </p:spPr>
      </p:sp>
      <p:sp>
        <p:nvSpPr>
          <p:cNvPr id="20" name="Shape 15"/>
          <p:cNvSpPr/>
          <p:nvPr/>
        </p:nvSpPr>
        <p:spPr>
          <a:xfrm>
            <a:off x="914400" y="5573268"/>
            <a:ext cx="402336" cy="402336"/>
          </a:xfrm>
          <a:prstGeom prst="ellipse">
            <a:avLst/>
          </a:prstGeom>
          <a:solidFill>
            <a:srgbClr val="F2A93B"/>
          </a:solidFill>
          <a:ln/>
        </p:spPr>
      </p:sp>
      <p:pic>
        <p:nvPicPr>
          <p:cNvPr id="21" name="Image 3" descr="/home/claude/aichuyendoiso2/assets/icons/triangleexclamation_0B3B45.png">    </p:cNvPr>
          <p:cNvPicPr>
            <a:picLocks noChangeAspect="1"/>
          </p:cNvPicPr>
          <p:nvPr/>
        </p:nvPicPr>
        <p:blipFill>
          <a:blip r:embed="rId5"/>
          <a:stretch>
            <a:fillRect/>
          </a:stretch>
        </p:blipFill>
        <p:spPr>
          <a:xfrm>
            <a:off x="1023031" y="5681899"/>
            <a:ext cx="185075" cy="185075"/>
          </a:xfrm>
          <a:prstGeom prst="rect">
            <a:avLst/>
          </a:prstGeom>
        </p:spPr>
      </p:pic>
      <p:sp>
        <p:nvSpPr>
          <p:cNvPr id="22" name="Text 16"/>
          <p:cNvSpPr txBox="1"/>
          <p:nvPr/>
        </p:nvSpPr>
        <p:spPr>
          <a:xfrm>
            <a:off x="1508760" y="5285232"/>
            <a:ext cx="9738360" cy="978408"/>
          </a:xfrm>
          <a:prstGeom prst="rect">
            <a:avLst/>
          </a:prstGeom>
          <a:noFill/>
          <a:ln/>
        </p:spPr>
        <p:txBody>
          <a:bodyPr wrap="square" lIns="0" tIns="0" rIns="0" bIns="0" rtlCol="0" anchor="ctr"/>
          <a:lstStyle/>
          <a:p>
            <a:pPr indent="0" marL="0">
              <a:lnSpc>
                <a:spcPts val="1500"/>
              </a:lnSpc>
              <a:buNone/>
            </a:pPr>
            <a:r>
              <a:rPr lang="en-US" sz="1250" i="1" dirty="0">
                <a:solidFill>
                  <a:srgbClr val="7A4A12"/>
                </a:solidFill>
                <a:latin typeface="Arial" pitchFamily="34" charset="0"/>
                <a:ea typeface="Arial" pitchFamily="34" charset="-122"/>
                <a:cs typeface="Arial" pitchFamily="34" charset="-120"/>
              </a:rPr>
              <a:t>AI chỉ gợi ý hướng xác định bệnh ban đầu — trường hợp lan rộng, nghi bệnh nặng vẫn phải hỏi cán bộ kỹ thuật nông nghiệp trước khi phun thuốc, không tự ý xử lý theo AI.</a:t>
            </a:r>
            <a:endParaRPr lang="en-US" sz="1250" dirty="0"/>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347472"/>
            <a:ext cx="457200" cy="457200"/>
          </a:xfrm>
          <a:prstGeom prst="ellipse">
            <a:avLst/>
          </a:prstGeom>
          <a:solidFill>
            <a:srgbClr val="127C82"/>
          </a:solidFill>
          <a:ln/>
        </p:spPr>
      </p:sp>
      <p:pic>
        <p:nvPicPr>
          <p:cNvPr id="3" name="Image 0" descr="/home/claude/aichuyendoiso2/assets/icons/cart_FFFFFF.png">    </p:cNvPr>
          <p:cNvPicPr>
            <a:picLocks noChangeAspect="1"/>
          </p:cNvPicPr>
          <p:nvPr/>
        </p:nvPicPr>
        <p:blipFill>
          <a:blip r:embed="rId2"/>
          <a:stretch>
            <a:fillRect/>
          </a:stretch>
        </p:blipFill>
        <p:spPr>
          <a:xfrm>
            <a:off x="580644" y="470916"/>
            <a:ext cx="210312" cy="210312"/>
          </a:xfrm>
          <a:prstGeom prst="rect">
            <a:avLst/>
          </a:prstGeom>
        </p:spPr>
      </p:pic>
      <p:sp>
        <p:nvSpPr>
          <p:cNvPr id="4" name="Text 1"/>
          <p:cNvSpPr txBox="1"/>
          <p:nvPr/>
        </p:nvSpPr>
        <p:spPr>
          <a:xfrm>
            <a:off x="1051560" y="301752"/>
            <a:ext cx="10607040" cy="566928"/>
          </a:xfrm>
          <a:prstGeom prst="rect">
            <a:avLst/>
          </a:prstGeom>
          <a:noFill/>
          <a:ln/>
        </p:spPr>
        <p:txBody>
          <a:bodyPr wrap="square" lIns="0" tIns="0" rIns="0" bIns="0" rtlCol="0" anchor="ctr"/>
          <a:lstStyle/>
          <a:p>
            <a:pPr indent="0" marL="0">
              <a:buNone/>
            </a:pPr>
            <a:r>
              <a:rPr lang="en-US" sz="2600" b="1" dirty="0">
                <a:solidFill>
                  <a:srgbClr val="0B5257"/>
                </a:solidFill>
                <a:latin typeface="Arial" pitchFamily="34" charset="0"/>
                <a:ea typeface="Arial" pitchFamily="34" charset="-122"/>
                <a:cs typeface="Arial" pitchFamily="34" charset="-120"/>
              </a:rPr>
              <a:t>Khối Dịch vụ – Kinh doanh – Làm đẹp</a:t>
            </a:r>
            <a:endParaRPr lang="en-US" sz="2600" dirty="0"/>
          </a:p>
        </p:txBody>
      </p:sp>
      <p:sp>
        <p:nvSpPr>
          <p:cNvPr id="5" name="Text 2"/>
          <p:cNvSpPr txBox="1"/>
          <p:nvPr/>
        </p:nvSpPr>
        <p:spPr>
          <a:xfrm>
            <a:off x="457200" y="6492240"/>
            <a:ext cx="7315200" cy="274320"/>
          </a:xfrm>
          <a:prstGeom prst="rect">
            <a:avLst/>
          </a:prstGeom>
          <a:noFill/>
          <a:ln/>
        </p:spPr>
        <p:txBody>
          <a:bodyPr wrap="square" lIns="0" tIns="0" rIns="0" bIns="0" rtlCol="0" anchor="ctr"/>
          <a:lstStyle/>
          <a:p>
            <a:pPr algn="l" indent="0" marL="0">
              <a:buNone/>
            </a:pPr>
            <a:r>
              <a:rPr lang="en-US" sz="1000" dirty="0">
                <a:solidFill>
                  <a:srgbClr val="5C7378"/>
                </a:solidFill>
                <a:latin typeface="Arial" pitchFamily="34" charset="0"/>
                <a:ea typeface="Arial" pitchFamily="34" charset="-122"/>
                <a:cs typeface="Arial" pitchFamily="34" charset="-120"/>
              </a:rPr>
              <a:t>Phần 4 · AI cho từng ngành nghề</a:t>
            </a:r>
            <a:endParaRPr lang="en-US" sz="1000" dirty="0"/>
          </a:p>
        </p:txBody>
      </p:sp>
      <p:sp>
        <p:nvSpPr>
          <p:cNvPr id="6" name="Text 3"/>
          <p:cNvSpPr txBox="1"/>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C7378"/>
                </a:solidFill>
                <a:latin typeface="Arial" pitchFamily="34" charset="0"/>
                <a:ea typeface="Arial" pitchFamily="34" charset="-122"/>
                <a:cs typeface="Arial" pitchFamily="34" charset="-120"/>
              </a:rPr>
              <a:t>26</a:t>
            </a:r>
            <a:endParaRPr lang="en-US" sz="1000" dirty="0"/>
          </a:p>
        </p:txBody>
      </p:sp>
      <p:sp>
        <p:nvSpPr>
          <p:cNvPr id="7" name="Shape 4"/>
          <p:cNvSpPr/>
          <p:nvPr/>
        </p:nvSpPr>
        <p:spPr>
          <a:xfrm>
            <a:off x="10323576" y="374904"/>
            <a:ext cx="566928" cy="566928"/>
          </a:xfrm>
          <a:prstGeom prst="ellipse">
            <a:avLst/>
          </a:prstGeom>
          <a:solidFill>
            <a:srgbClr val="127C82"/>
          </a:solidFill>
          <a:ln/>
        </p:spPr>
      </p:sp>
      <p:pic>
        <p:nvPicPr>
          <p:cNvPr id="8" name="Image 1" descr="/home/claude/aichuyendoiso2/assets/icons/store_FFFFFF.png">    </p:cNvPr>
          <p:cNvPicPr>
            <a:picLocks noChangeAspect="1"/>
          </p:cNvPicPr>
          <p:nvPr/>
        </p:nvPicPr>
        <p:blipFill>
          <a:blip r:embed="rId3"/>
          <a:stretch>
            <a:fillRect/>
          </a:stretch>
        </p:blipFill>
        <p:spPr>
          <a:xfrm>
            <a:off x="10476647" y="527975"/>
            <a:ext cx="260787" cy="260787"/>
          </a:xfrm>
          <a:prstGeom prst="rect">
            <a:avLst/>
          </a:prstGeom>
        </p:spPr>
      </p:pic>
      <p:sp>
        <p:nvSpPr>
          <p:cNvPr id="9" name="Shape 5"/>
          <p:cNvSpPr/>
          <p:nvPr/>
        </p:nvSpPr>
        <p:spPr>
          <a:xfrm>
            <a:off x="11064240" y="173736"/>
            <a:ext cx="457200" cy="457200"/>
          </a:xfrm>
          <a:prstGeom prst="ellipse">
            <a:avLst/>
          </a:prstGeom>
          <a:solidFill>
            <a:srgbClr val="F2A93B"/>
          </a:solidFill>
          <a:ln/>
        </p:spPr>
      </p:sp>
      <p:pic>
        <p:nvPicPr>
          <p:cNvPr id="10" name="Image 2" descr="/home/claude/aichuyendoiso2/assets/icons/utensils_FFFFFF.png">    </p:cNvPr>
          <p:cNvPicPr>
            <a:picLocks noChangeAspect="1"/>
          </p:cNvPicPr>
          <p:nvPr/>
        </p:nvPicPr>
        <p:blipFill>
          <a:blip r:embed="rId4"/>
          <a:stretch>
            <a:fillRect/>
          </a:stretch>
        </p:blipFill>
        <p:spPr>
          <a:xfrm>
            <a:off x="11187684" y="297180"/>
            <a:ext cx="210312" cy="210312"/>
          </a:xfrm>
          <a:prstGeom prst="rect">
            <a:avLst/>
          </a:prstGeom>
        </p:spPr>
      </p:pic>
      <p:sp>
        <p:nvSpPr>
          <p:cNvPr id="11" name="Shape 6"/>
          <p:cNvSpPr/>
          <p:nvPr/>
        </p:nvSpPr>
        <p:spPr>
          <a:xfrm>
            <a:off x="11192256" y="667512"/>
            <a:ext cx="384048" cy="384048"/>
          </a:xfrm>
          <a:prstGeom prst="ellipse">
            <a:avLst/>
          </a:prstGeom>
          <a:solidFill>
            <a:srgbClr val="0B3B45"/>
          </a:solidFill>
          <a:ln/>
        </p:spPr>
      </p:sp>
      <p:pic>
        <p:nvPicPr>
          <p:cNvPr id="12" name="Image 3" descr="/home/claude/aichuyendoiso2/assets/icons/spa_FFFFFF.png">    </p:cNvPr>
          <p:cNvPicPr>
            <a:picLocks noChangeAspect="1"/>
          </p:cNvPicPr>
          <p:nvPr/>
        </p:nvPicPr>
        <p:blipFill>
          <a:blip r:embed="rId5"/>
          <a:stretch>
            <a:fillRect/>
          </a:stretch>
        </p:blipFill>
        <p:spPr>
          <a:xfrm>
            <a:off x="11295949" y="771205"/>
            <a:ext cx="176662" cy="176662"/>
          </a:xfrm>
          <a:prstGeom prst="rect">
            <a:avLst/>
          </a:prstGeom>
        </p:spPr>
      </p:pic>
      <p:sp>
        <p:nvSpPr>
          <p:cNvPr id="13" name="Text 7"/>
          <p:cNvSpPr txBox="1"/>
          <p:nvPr/>
        </p:nvSpPr>
        <p:spPr>
          <a:xfrm>
            <a:off x="731520" y="1234440"/>
            <a:ext cx="10698480" cy="457200"/>
          </a:xfrm>
          <a:prstGeom prst="rect">
            <a:avLst/>
          </a:prstGeom>
          <a:noFill/>
          <a:ln/>
        </p:spPr>
        <p:txBody>
          <a:bodyPr wrap="square" lIns="0" tIns="0" rIns="0" bIns="0" rtlCol="0" anchor="ctr"/>
          <a:lstStyle/>
          <a:p>
            <a:pPr indent="0" marL="0">
              <a:buNone/>
            </a:pPr>
            <a:r>
              <a:rPr lang="en-US" sz="1450" i="1" dirty="0">
                <a:solidFill>
                  <a:srgbClr val="0B5257"/>
                </a:solidFill>
                <a:latin typeface="Arial" pitchFamily="34" charset="0"/>
                <a:ea typeface="Arial" pitchFamily="34" charset="-122"/>
                <a:cs typeface="Arial" pitchFamily="34" charset="-120"/>
              </a:rPr>
              <a:t>Ngành: Bán hàng · Nhà hàng – khách sạn · Du lịch · Chăm sóc sắc đẹp</a:t>
            </a:r>
            <a:endParaRPr lang="en-US" sz="1450" dirty="0"/>
          </a:p>
        </p:txBody>
      </p:sp>
      <p:sp>
        <p:nvSpPr>
          <p:cNvPr id="14" name="Shape 8"/>
          <p:cNvSpPr/>
          <p:nvPr/>
        </p:nvSpPr>
        <p:spPr>
          <a:xfrm>
            <a:off x="731520" y="1783080"/>
            <a:ext cx="5189220" cy="2080260"/>
          </a:xfrm>
          <a:prstGeom prst="roundRect">
            <a:avLst>
              <a:gd name="adj" fmla="val 3516"/>
            </a:avLst>
          </a:prstGeom>
          <a:solidFill>
            <a:srgbClr val="EEF5F5"/>
          </a:solidFill>
          <a:ln w="12700">
            <a:solidFill>
              <a:srgbClr val="D6E6E6"/>
            </a:solidFill>
            <a:prstDash val="solid"/>
          </a:ln>
        </p:spPr>
      </p:sp>
      <p:sp>
        <p:nvSpPr>
          <p:cNvPr id="15" name="Shape 9"/>
          <p:cNvSpPr/>
          <p:nvPr/>
        </p:nvSpPr>
        <p:spPr>
          <a:xfrm>
            <a:off x="987552" y="2020824"/>
            <a:ext cx="457200" cy="457200"/>
          </a:xfrm>
          <a:prstGeom prst="ellipse">
            <a:avLst/>
          </a:prstGeom>
          <a:solidFill>
            <a:srgbClr val="F2A93B"/>
          </a:solidFill>
          <a:ln/>
        </p:spPr>
      </p:sp>
      <p:pic>
        <p:nvPicPr>
          <p:cNvPr id="16" name="Image 4" descr="/home/claude/aichuyendoiso2/assets/icons/bullhorn_0B3B45.png">    </p:cNvPr>
          <p:cNvPicPr>
            <a:picLocks noChangeAspect="1"/>
          </p:cNvPicPr>
          <p:nvPr/>
        </p:nvPicPr>
        <p:blipFill>
          <a:blip r:embed="rId6"/>
          <a:stretch>
            <a:fillRect/>
          </a:stretch>
        </p:blipFill>
        <p:spPr>
          <a:xfrm>
            <a:off x="1110996" y="2144268"/>
            <a:ext cx="210312" cy="210312"/>
          </a:xfrm>
          <a:prstGeom prst="rect">
            <a:avLst/>
          </a:prstGeom>
        </p:spPr>
      </p:pic>
      <p:sp>
        <p:nvSpPr>
          <p:cNvPr id="17" name="Text 10"/>
          <p:cNvSpPr txBox="1"/>
          <p:nvPr/>
        </p:nvSpPr>
        <p:spPr>
          <a:xfrm>
            <a:off x="1600200" y="1965960"/>
            <a:ext cx="4137660" cy="548640"/>
          </a:xfrm>
          <a:prstGeom prst="rect">
            <a:avLst/>
          </a:prstGeom>
          <a:noFill/>
          <a:ln/>
        </p:spPr>
        <p:txBody>
          <a:bodyPr wrap="square" lIns="0" tIns="0" rIns="0" bIns="0" rtlCol="0" anchor="ctr"/>
          <a:lstStyle/>
          <a:p>
            <a:pPr indent="0" marL="0">
              <a:lnSpc>
                <a:spcPts val="1700"/>
              </a:lnSpc>
              <a:buNone/>
            </a:pPr>
            <a:r>
              <a:rPr lang="en-US" sz="1550" b="1" dirty="0">
                <a:solidFill>
                  <a:srgbClr val="17282B"/>
                </a:solidFill>
                <a:latin typeface="Arial" pitchFamily="34" charset="0"/>
                <a:ea typeface="Arial" pitchFamily="34" charset="-122"/>
                <a:cs typeface="Arial" pitchFamily="34" charset="-120"/>
              </a:rPr>
              <a:t>Viết quảng cáo bán hàng</a:t>
            </a:r>
            <a:endParaRPr lang="en-US" sz="1550" dirty="0"/>
          </a:p>
        </p:txBody>
      </p:sp>
      <p:sp>
        <p:nvSpPr>
          <p:cNvPr id="18" name="Text 11"/>
          <p:cNvSpPr txBox="1"/>
          <p:nvPr/>
        </p:nvSpPr>
        <p:spPr>
          <a:xfrm>
            <a:off x="987552" y="2651760"/>
            <a:ext cx="4677156" cy="1028700"/>
          </a:xfrm>
          <a:prstGeom prst="rect">
            <a:avLst/>
          </a:prstGeom>
          <a:noFill/>
          <a:ln/>
        </p:spPr>
        <p:txBody>
          <a:bodyPr wrap="square" lIns="0" tIns="0" rIns="0" bIns="0" rtlCol="0" anchor="t"/>
          <a:lstStyle/>
          <a:p>
            <a:pPr indent="0" marL="0">
              <a:lnSpc>
                <a:spcPts val="1600"/>
              </a:lnSpc>
              <a:buNone/>
            </a:pPr>
            <a:r>
              <a:rPr lang="en-US" sz="1300" dirty="0">
                <a:solidFill>
                  <a:srgbClr val="5C7378"/>
                </a:solidFill>
                <a:latin typeface="Arial" pitchFamily="34" charset="0"/>
                <a:ea typeface="Arial" pitchFamily="34" charset="-122"/>
                <a:cs typeface="Arial" pitchFamily="34" charset="-120"/>
              </a:rPr>
              <a:t>Viết caption, nội dung quảng cáo trên Facebook, TikTok.</a:t>
            </a:r>
            <a:endParaRPr lang="en-US" sz="1300" dirty="0"/>
          </a:p>
        </p:txBody>
      </p:sp>
      <p:sp>
        <p:nvSpPr>
          <p:cNvPr id="19" name="Shape 12"/>
          <p:cNvSpPr/>
          <p:nvPr/>
        </p:nvSpPr>
        <p:spPr>
          <a:xfrm>
            <a:off x="6240780" y="1783080"/>
            <a:ext cx="5189220" cy="2080260"/>
          </a:xfrm>
          <a:prstGeom prst="roundRect">
            <a:avLst>
              <a:gd name="adj" fmla="val 3516"/>
            </a:avLst>
          </a:prstGeom>
          <a:solidFill>
            <a:srgbClr val="EEF5F5"/>
          </a:solidFill>
          <a:ln w="12700">
            <a:solidFill>
              <a:srgbClr val="D6E6E6"/>
            </a:solidFill>
            <a:prstDash val="solid"/>
          </a:ln>
        </p:spPr>
      </p:sp>
      <p:sp>
        <p:nvSpPr>
          <p:cNvPr id="20" name="Shape 13"/>
          <p:cNvSpPr/>
          <p:nvPr/>
        </p:nvSpPr>
        <p:spPr>
          <a:xfrm>
            <a:off x="6496812" y="2020824"/>
            <a:ext cx="457200" cy="457200"/>
          </a:xfrm>
          <a:prstGeom prst="ellipse">
            <a:avLst/>
          </a:prstGeom>
          <a:solidFill>
            <a:srgbClr val="F2A93B"/>
          </a:solidFill>
          <a:ln/>
        </p:spPr>
      </p:sp>
      <p:pic>
        <p:nvPicPr>
          <p:cNvPr id="21" name="Image 5" descr="/home/claude/aichuyendoiso2/assets/icons/image_0B3B45.png">    </p:cNvPr>
          <p:cNvPicPr>
            <a:picLocks noChangeAspect="1"/>
          </p:cNvPicPr>
          <p:nvPr/>
        </p:nvPicPr>
        <p:blipFill>
          <a:blip r:embed="rId7"/>
          <a:stretch>
            <a:fillRect/>
          </a:stretch>
        </p:blipFill>
        <p:spPr>
          <a:xfrm>
            <a:off x="6620256" y="2144268"/>
            <a:ext cx="210312" cy="210312"/>
          </a:xfrm>
          <a:prstGeom prst="rect">
            <a:avLst/>
          </a:prstGeom>
        </p:spPr>
      </p:pic>
      <p:sp>
        <p:nvSpPr>
          <p:cNvPr id="22" name="Text 14"/>
          <p:cNvSpPr txBox="1"/>
          <p:nvPr/>
        </p:nvSpPr>
        <p:spPr>
          <a:xfrm>
            <a:off x="7109460" y="1965960"/>
            <a:ext cx="4137660" cy="548640"/>
          </a:xfrm>
          <a:prstGeom prst="rect">
            <a:avLst/>
          </a:prstGeom>
          <a:noFill/>
          <a:ln/>
        </p:spPr>
        <p:txBody>
          <a:bodyPr wrap="square" lIns="0" tIns="0" rIns="0" bIns="0" rtlCol="0" anchor="ctr"/>
          <a:lstStyle/>
          <a:p>
            <a:pPr indent="0" marL="0">
              <a:lnSpc>
                <a:spcPts val="1700"/>
              </a:lnSpc>
              <a:buNone/>
            </a:pPr>
            <a:r>
              <a:rPr lang="en-US" sz="1550" b="1" dirty="0">
                <a:solidFill>
                  <a:srgbClr val="17282B"/>
                </a:solidFill>
                <a:latin typeface="Arial" pitchFamily="34" charset="0"/>
                <a:ea typeface="Arial" pitchFamily="34" charset="-122"/>
                <a:cs typeface="Arial" pitchFamily="34" charset="-120"/>
              </a:rPr>
              <a:t>Tạo ảnh sản phẩm, thực đơn</a:t>
            </a:r>
            <a:endParaRPr lang="en-US" sz="1550" dirty="0"/>
          </a:p>
        </p:txBody>
      </p:sp>
      <p:sp>
        <p:nvSpPr>
          <p:cNvPr id="23" name="Text 15"/>
          <p:cNvSpPr txBox="1"/>
          <p:nvPr/>
        </p:nvSpPr>
        <p:spPr>
          <a:xfrm>
            <a:off x="6496812" y="2651760"/>
            <a:ext cx="4677156" cy="1028700"/>
          </a:xfrm>
          <a:prstGeom prst="rect">
            <a:avLst/>
          </a:prstGeom>
          <a:noFill/>
          <a:ln/>
        </p:spPr>
        <p:txBody>
          <a:bodyPr wrap="square" lIns="0" tIns="0" rIns="0" bIns="0" rtlCol="0" anchor="t"/>
          <a:lstStyle/>
          <a:p>
            <a:pPr indent="0" marL="0">
              <a:lnSpc>
                <a:spcPts val="1600"/>
              </a:lnSpc>
              <a:buNone/>
            </a:pPr>
            <a:r>
              <a:rPr lang="en-US" sz="1300" dirty="0">
                <a:solidFill>
                  <a:srgbClr val="5C7378"/>
                </a:solidFill>
                <a:latin typeface="Arial" pitchFamily="34" charset="0"/>
                <a:ea typeface="Arial" pitchFamily="34" charset="-122"/>
                <a:cs typeface="Arial" pitchFamily="34" charset="-120"/>
              </a:rPr>
              <a:t>Dùng ứng dụng chỉnh sửa ảnh có AI hỗ trợ để tạo ảnh, thực đơn đẹp, chuyên nghiệp hơn.</a:t>
            </a:r>
            <a:endParaRPr lang="en-US" sz="1300" dirty="0"/>
          </a:p>
        </p:txBody>
      </p:sp>
      <p:sp>
        <p:nvSpPr>
          <p:cNvPr id="24" name="Shape 16"/>
          <p:cNvSpPr/>
          <p:nvPr/>
        </p:nvSpPr>
        <p:spPr>
          <a:xfrm>
            <a:off x="731520" y="4183380"/>
            <a:ext cx="5189220" cy="2080260"/>
          </a:xfrm>
          <a:prstGeom prst="roundRect">
            <a:avLst>
              <a:gd name="adj" fmla="val 3516"/>
            </a:avLst>
          </a:prstGeom>
          <a:solidFill>
            <a:srgbClr val="EEF5F5"/>
          </a:solidFill>
          <a:ln w="12700">
            <a:solidFill>
              <a:srgbClr val="D6E6E6"/>
            </a:solidFill>
            <a:prstDash val="solid"/>
          </a:ln>
        </p:spPr>
      </p:sp>
      <p:sp>
        <p:nvSpPr>
          <p:cNvPr id="25" name="Shape 17"/>
          <p:cNvSpPr/>
          <p:nvPr/>
        </p:nvSpPr>
        <p:spPr>
          <a:xfrm>
            <a:off x="987552" y="4421124"/>
            <a:ext cx="457200" cy="457200"/>
          </a:xfrm>
          <a:prstGeom prst="ellipse">
            <a:avLst/>
          </a:prstGeom>
          <a:solidFill>
            <a:srgbClr val="F2A93B"/>
          </a:solidFill>
          <a:ln/>
        </p:spPr>
      </p:sp>
      <p:pic>
        <p:nvPicPr>
          <p:cNvPr id="26" name="Image 6" descr="/home/claude/aichuyendoiso2/assets/icons/language_0B3B45.png">    </p:cNvPr>
          <p:cNvPicPr>
            <a:picLocks noChangeAspect="1"/>
          </p:cNvPicPr>
          <p:nvPr/>
        </p:nvPicPr>
        <p:blipFill>
          <a:blip r:embed="rId8"/>
          <a:stretch>
            <a:fillRect/>
          </a:stretch>
        </p:blipFill>
        <p:spPr>
          <a:xfrm>
            <a:off x="1110996" y="4544568"/>
            <a:ext cx="210312" cy="210312"/>
          </a:xfrm>
          <a:prstGeom prst="rect">
            <a:avLst/>
          </a:prstGeom>
        </p:spPr>
      </p:pic>
      <p:sp>
        <p:nvSpPr>
          <p:cNvPr id="27" name="Text 18"/>
          <p:cNvSpPr txBox="1"/>
          <p:nvPr/>
        </p:nvSpPr>
        <p:spPr>
          <a:xfrm>
            <a:off x="1600200" y="4366260"/>
            <a:ext cx="4137660" cy="548640"/>
          </a:xfrm>
          <a:prstGeom prst="rect">
            <a:avLst/>
          </a:prstGeom>
          <a:noFill/>
          <a:ln/>
        </p:spPr>
        <p:txBody>
          <a:bodyPr wrap="square" lIns="0" tIns="0" rIns="0" bIns="0" rtlCol="0" anchor="ctr"/>
          <a:lstStyle/>
          <a:p>
            <a:pPr indent="0" marL="0">
              <a:lnSpc>
                <a:spcPts val="1700"/>
              </a:lnSpc>
              <a:buNone/>
            </a:pPr>
            <a:r>
              <a:rPr lang="en-US" sz="1550" b="1" dirty="0">
                <a:solidFill>
                  <a:srgbClr val="17282B"/>
                </a:solidFill>
                <a:latin typeface="Arial" pitchFamily="34" charset="0"/>
                <a:ea typeface="Arial" pitchFamily="34" charset="-122"/>
                <a:cs typeface="Arial" pitchFamily="34" charset="-120"/>
              </a:rPr>
              <a:t>Dịch khi giao tiếp với khách</a:t>
            </a:r>
            <a:endParaRPr lang="en-US" sz="1550" dirty="0"/>
          </a:p>
        </p:txBody>
      </p:sp>
      <p:sp>
        <p:nvSpPr>
          <p:cNvPr id="28" name="Text 19"/>
          <p:cNvSpPr txBox="1"/>
          <p:nvPr/>
        </p:nvSpPr>
        <p:spPr>
          <a:xfrm>
            <a:off x="987552" y="5052060"/>
            <a:ext cx="4677156" cy="1028700"/>
          </a:xfrm>
          <a:prstGeom prst="rect">
            <a:avLst/>
          </a:prstGeom>
          <a:noFill/>
          <a:ln/>
        </p:spPr>
        <p:txBody>
          <a:bodyPr wrap="square" lIns="0" tIns="0" rIns="0" bIns="0" rtlCol="0" anchor="t"/>
          <a:lstStyle/>
          <a:p>
            <a:pPr indent="0" marL="0">
              <a:lnSpc>
                <a:spcPts val="1600"/>
              </a:lnSpc>
              <a:buNone/>
            </a:pPr>
            <a:r>
              <a:rPr lang="en-US" sz="1300" dirty="0">
                <a:solidFill>
                  <a:srgbClr val="5C7378"/>
                </a:solidFill>
                <a:latin typeface="Arial" pitchFamily="34" charset="0"/>
                <a:ea typeface="Arial" pitchFamily="34" charset="-122"/>
                <a:cs typeface="Arial" pitchFamily="34" charset="-120"/>
              </a:rPr>
              <a:t>Dịch nhanh khi phục vụ khách du lịch nước ngoài.</a:t>
            </a:r>
            <a:endParaRPr lang="en-US" sz="1300" dirty="0"/>
          </a:p>
        </p:txBody>
      </p:sp>
      <p:sp>
        <p:nvSpPr>
          <p:cNvPr id="29" name="Shape 20"/>
          <p:cNvSpPr/>
          <p:nvPr/>
        </p:nvSpPr>
        <p:spPr>
          <a:xfrm>
            <a:off x="6240780" y="4183380"/>
            <a:ext cx="5189220" cy="2080260"/>
          </a:xfrm>
          <a:prstGeom prst="roundRect">
            <a:avLst>
              <a:gd name="adj" fmla="val 3516"/>
            </a:avLst>
          </a:prstGeom>
          <a:solidFill>
            <a:srgbClr val="EEF5F5"/>
          </a:solidFill>
          <a:ln w="12700">
            <a:solidFill>
              <a:srgbClr val="D6E6E6"/>
            </a:solidFill>
            <a:prstDash val="solid"/>
          </a:ln>
        </p:spPr>
      </p:sp>
      <p:sp>
        <p:nvSpPr>
          <p:cNvPr id="30" name="Shape 21"/>
          <p:cNvSpPr/>
          <p:nvPr/>
        </p:nvSpPr>
        <p:spPr>
          <a:xfrm>
            <a:off x="6496812" y="4421124"/>
            <a:ext cx="457200" cy="457200"/>
          </a:xfrm>
          <a:prstGeom prst="ellipse">
            <a:avLst/>
          </a:prstGeom>
          <a:solidFill>
            <a:srgbClr val="F2A93B"/>
          </a:solidFill>
          <a:ln/>
        </p:spPr>
      </p:sp>
      <p:pic>
        <p:nvPicPr>
          <p:cNvPr id="31" name="Image 7" descr="/home/claude/aichuyendoiso2/assets/icons/scissors_0B3B45.png">    </p:cNvPr>
          <p:cNvPicPr>
            <a:picLocks noChangeAspect="1"/>
          </p:cNvPicPr>
          <p:nvPr/>
        </p:nvPicPr>
        <p:blipFill>
          <a:blip r:embed="rId9"/>
          <a:stretch>
            <a:fillRect/>
          </a:stretch>
        </p:blipFill>
        <p:spPr>
          <a:xfrm>
            <a:off x="6620256" y="4544568"/>
            <a:ext cx="210312" cy="210312"/>
          </a:xfrm>
          <a:prstGeom prst="rect">
            <a:avLst/>
          </a:prstGeom>
        </p:spPr>
      </p:pic>
      <p:sp>
        <p:nvSpPr>
          <p:cNvPr id="32" name="Text 22"/>
          <p:cNvSpPr txBox="1"/>
          <p:nvPr/>
        </p:nvSpPr>
        <p:spPr>
          <a:xfrm>
            <a:off x="7109460" y="4366260"/>
            <a:ext cx="4137660" cy="548640"/>
          </a:xfrm>
          <a:prstGeom prst="rect">
            <a:avLst/>
          </a:prstGeom>
          <a:noFill/>
          <a:ln/>
        </p:spPr>
        <p:txBody>
          <a:bodyPr wrap="square" lIns="0" tIns="0" rIns="0" bIns="0" rtlCol="0" anchor="ctr"/>
          <a:lstStyle/>
          <a:p>
            <a:pPr indent="0" marL="0">
              <a:lnSpc>
                <a:spcPts val="1700"/>
              </a:lnSpc>
              <a:buNone/>
            </a:pPr>
            <a:r>
              <a:rPr lang="en-US" sz="1550" b="1" dirty="0">
                <a:solidFill>
                  <a:srgbClr val="17282B"/>
                </a:solidFill>
                <a:latin typeface="Arial" pitchFamily="34" charset="0"/>
                <a:ea typeface="Arial" pitchFamily="34" charset="-122"/>
                <a:cs typeface="Arial" pitchFamily="34" charset="-120"/>
              </a:rPr>
              <a:t>Gợi ý xu hướng làm đẹp</a:t>
            </a:r>
            <a:endParaRPr lang="en-US" sz="1550" dirty="0"/>
          </a:p>
        </p:txBody>
      </p:sp>
      <p:sp>
        <p:nvSpPr>
          <p:cNvPr id="33" name="Text 23"/>
          <p:cNvSpPr txBox="1"/>
          <p:nvPr/>
        </p:nvSpPr>
        <p:spPr>
          <a:xfrm>
            <a:off x="6496812" y="5052060"/>
            <a:ext cx="4677156" cy="1028700"/>
          </a:xfrm>
          <a:prstGeom prst="rect">
            <a:avLst/>
          </a:prstGeom>
          <a:noFill/>
          <a:ln/>
        </p:spPr>
        <p:txBody>
          <a:bodyPr wrap="square" lIns="0" tIns="0" rIns="0" bIns="0" rtlCol="0" anchor="t"/>
          <a:lstStyle/>
          <a:p>
            <a:pPr indent="0" marL="0">
              <a:lnSpc>
                <a:spcPts val="1600"/>
              </a:lnSpc>
              <a:buNone/>
            </a:pPr>
            <a:r>
              <a:rPr lang="en-US" sz="1300" dirty="0">
                <a:solidFill>
                  <a:srgbClr val="5C7378"/>
                </a:solidFill>
                <a:latin typeface="Arial" pitchFamily="34" charset="0"/>
                <a:ea typeface="Arial" pitchFamily="34" charset="-122"/>
                <a:cs typeface="Arial" pitchFamily="34" charset="-120"/>
              </a:rPr>
              <a:t>Tìm kiểu tóc, trang điểm phù hợp, cập nhật xu hướng mới.</a:t>
            </a:r>
            <a:endParaRPr lang="en-US" sz="1300" dirty="0"/>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347472"/>
            <a:ext cx="457200" cy="457200"/>
          </a:xfrm>
          <a:prstGeom prst="ellipse">
            <a:avLst/>
          </a:prstGeom>
          <a:solidFill>
            <a:srgbClr val="127C82"/>
          </a:solidFill>
          <a:ln/>
        </p:spPr>
      </p:sp>
      <p:pic>
        <p:nvPicPr>
          <p:cNvPr id="3" name="Image 0" descr="/home/claude/aichuyendoiso2/assets/icons/cart_FFFFFF.png">    </p:cNvPr>
          <p:cNvPicPr>
            <a:picLocks noChangeAspect="1"/>
          </p:cNvPicPr>
          <p:nvPr/>
        </p:nvPicPr>
        <p:blipFill>
          <a:blip r:embed="rId2"/>
          <a:stretch>
            <a:fillRect/>
          </a:stretch>
        </p:blipFill>
        <p:spPr>
          <a:xfrm>
            <a:off x="580644" y="470916"/>
            <a:ext cx="210312" cy="210312"/>
          </a:xfrm>
          <a:prstGeom prst="rect">
            <a:avLst/>
          </a:prstGeom>
        </p:spPr>
      </p:pic>
      <p:sp>
        <p:nvSpPr>
          <p:cNvPr id="4" name="Text 1"/>
          <p:cNvSpPr txBox="1"/>
          <p:nvPr/>
        </p:nvSpPr>
        <p:spPr>
          <a:xfrm>
            <a:off x="1051560" y="301752"/>
            <a:ext cx="10607040" cy="566928"/>
          </a:xfrm>
          <a:prstGeom prst="rect">
            <a:avLst/>
          </a:prstGeom>
          <a:noFill/>
          <a:ln/>
        </p:spPr>
        <p:txBody>
          <a:bodyPr wrap="square" lIns="0" tIns="0" rIns="0" bIns="0" rtlCol="0" anchor="ctr"/>
          <a:lstStyle/>
          <a:p>
            <a:pPr indent="0" marL="0">
              <a:buNone/>
            </a:pPr>
            <a:r>
              <a:rPr lang="en-US" sz="2600" b="1" dirty="0">
                <a:solidFill>
                  <a:srgbClr val="0B5257"/>
                </a:solidFill>
                <a:latin typeface="Arial" pitchFamily="34" charset="0"/>
                <a:ea typeface="Arial" pitchFamily="34" charset="-122"/>
                <a:cs typeface="Arial" pitchFamily="34" charset="-120"/>
              </a:rPr>
              <a:t>Tình Huống Thực Tế: Nghiệp Vụ Nhà Hàng – Bán Hàng</a:t>
            </a:r>
            <a:endParaRPr lang="en-US" sz="2600" dirty="0"/>
          </a:p>
        </p:txBody>
      </p:sp>
      <p:sp>
        <p:nvSpPr>
          <p:cNvPr id="5" name="Text 2"/>
          <p:cNvSpPr txBox="1"/>
          <p:nvPr/>
        </p:nvSpPr>
        <p:spPr>
          <a:xfrm>
            <a:off x="457200" y="6492240"/>
            <a:ext cx="7315200" cy="274320"/>
          </a:xfrm>
          <a:prstGeom prst="rect">
            <a:avLst/>
          </a:prstGeom>
          <a:noFill/>
          <a:ln/>
        </p:spPr>
        <p:txBody>
          <a:bodyPr wrap="square" lIns="0" tIns="0" rIns="0" bIns="0" rtlCol="0" anchor="ctr"/>
          <a:lstStyle/>
          <a:p>
            <a:pPr algn="l" indent="0" marL="0">
              <a:buNone/>
            </a:pPr>
            <a:r>
              <a:rPr lang="en-US" sz="1000" dirty="0">
                <a:solidFill>
                  <a:srgbClr val="5C7378"/>
                </a:solidFill>
                <a:latin typeface="Arial" pitchFamily="34" charset="0"/>
                <a:ea typeface="Arial" pitchFamily="34" charset="-122"/>
                <a:cs typeface="Arial" pitchFamily="34" charset="-120"/>
              </a:rPr>
              <a:t>Phần 4 · AI cho từng ngành nghề</a:t>
            </a:r>
            <a:endParaRPr lang="en-US" sz="1000" dirty="0"/>
          </a:p>
        </p:txBody>
      </p:sp>
      <p:sp>
        <p:nvSpPr>
          <p:cNvPr id="6" name="Text 3"/>
          <p:cNvSpPr txBox="1"/>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C7378"/>
                </a:solidFill>
                <a:latin typeface="Arial" pitchFamily="34" charset="0"/>
                <a:ea typeface="Arial" pitchFamily="34" charset="-122"/>
                <a:cs typeface="Arial" pitchFamily="34" charset="-120"/>
              </a:rPr>
              <a:t>27</a:t>
            </a:r>
            <a:endParaRPr lang="en-US" sz="1000" dirty="0"/>
          </a:p>
        </p:txBody>
      </p:sp>
      <p:sp>
        <p:nvSpPr>
          <p:cNvPr id="7" name="Text 4"/>
          <p:cNvSpPr txBox="1"/>
          <p:nvPr/>
        </p:nvSpPr>
        <p:spPr>
          <a:xfrm>
            <a:off x="731520" y="1207008"/>
            <a:ext cx="10698480" cy="292608"/>
          </a:xfrm>
          <a:prstGeom prst="rect">
            <a:avLst/>
          </a:prstGeom>
          <a:noFill/>
          <a:ln/>
        </p:spPr>
        <p:txBody>
          <a:bodyPr wrap="square" lIns="0" tIns="0" rIns="0" bIns="0" rtlCol="0" anchor="ctr"/>
          <a:lstStyle/>
          <a:p>
            <a:pPr indent="0" marL="0">
              <a:buNone/>
            </a:pPr>
            <a:r>
              <a:rPr lang="en-US" sz="1250" b="1" spc="100" kern="0" dirty="0">
                <a:solidFill>
                  <a:srgbClr val="0B5257"/>
                </a:solidFill>
                <a:latin typeface="Arial" pitchFamily="34" charset="0"/>
                <a:ea typeface="Arial" pitchFamily="34" charset="-122"/>
                <a:cs typeface="Arial" pitchFamily="34" charset="-120"/>
              </a:rPr>
              <a:t>TÌNH HUỐNG THỰC TẾ</a:t>
            </a:r>
            <a:endParaRPr lang="en-US" sz="1250" dirty="0"/>
          </a:p>
        </p:txBody>
      </p:sp>
      <p:sp>
        <p:nvSpPr>
          <p:cNvPr id="8" name="Text 5"/>
          <p:cNvSpPr txBox="1"/>
          <p:nvPr/>
        </p:nvSpPr>
        <p:spPr>
          <a:xfrm>
            <a:off x="731520" y="1481328"/>
            <a:ext cx="10698480" cy="566928"/>
          </a:xfrm>
          <a:prstGeom prst="rect">
            <a:avLst/>
          </a:prstGeom>
          <a:noFill/>
          <a:ln/>
        </p:spPr>
        <p:txBody>
          <a:bodyPr wrap="square" lIns="0" tIns="0" rIns="0" bIns="0" rtlCol="0" anchor="ctr"/>
          <a:lstStyle/>
          <a:p>
            <a:pPr indent="0" marL="0">
              <a:lnSpc>
                <a:spcPts val="1800"/>
              </a:lnSpc>
              <a:buNone/>
            </a:pPr>
            <a:r>
              <a:rPr lang="en-US" sz="1400" i="1" dirty="0">
                <a:solidFill>
                  <a:srgbClr val="17282B"/>
                </a:solidFill>
                <a:latin typeface="Arial" pitchFamily="34" charset="0"/>
                <a:ea typeface="Arial" pitchFamily="34" charset="-122"/>
                <a:cs typeface="Arial" pitchFamily="34" charset="-120"/>
              </a:rPr>
              <a:t>Quán ăn nhỏ của gia đình muốn đăng bài quảng cáo món mới lên Facebook nhưng chưa biết viết sao cho hấp dẫn, thu hút khách.</a:t>
            </a:r>
            <a:endParaRPr lang="en-US" sz="1400" dirty="0"/>
          </a:p>
        </p:txBody>
      </p:sp>
      <p:sp>
        <p:nvSpPr>
          <p:cNvPr id="9" name="Shape 6"/>
          <p:cNvSpPr/>
          <p:nvPr/>
        </p:nvSpPr>
        <p:spPr>
          <a:xfrm>
            <a:off x="731520" y="2103120"/>
            <a:ext cx="10698480" cy="1143000"/>
          </a:xfrm>
          <a:prstGeom prst="roundRect">
            <a:avLst>
              <a:gd name="adj" fmla="val 7200"/>
            </a:avLst>
          </a:prstGeom>
          <a:solidFill>
            <a:srgbClr val="0B3B45"/>
          </a:solidFill>
          <a:ln/>
        </p:spPr>
      </p:sp>
      <p:sp>
        <p:nvSpPr>
          <p:cNvPr id="10" name="Shape 7"/>
          <p:cNvSpPr/>
          <p:nvPr/>
        </p:nvSpPr>
        <p:spPr>
          <a:xfrm>
            <a:off x="932688" y="2240280"/>
            <a:ext cx="384048" cy="384048"/>
          </a:xfrm>
          <a:prstGeom prst="ellipse">
            <a:avLst/>
          </a:prstGeom>
          <a:solidFill>
            <a:srgbClr val="F2A93B"/>
          </a:solidFill>
          <a:ln/>
        </p:spPr>
      </p:sp>
      <p:pic>
        <p:nvPicPr>
          <p:cNvPr id="11" name="Image 1" descr="/home/claude/aichuyendoiso2/assets/icons/message_0B3B45.png">    </p:cNvPr>
          <p:cNvPicPr>
            <a:picLocks noChangeAspect="1"/>
          </p:cNvPicPr>
          <p:nvPr/>
        </p:nvPicPr>
        <p:blipFill>
          <a:blip r:embed="rId3"/>
          <a:stretch>
            <a:fillRect/>
          </a:stretch>
        </p:blipFill>
        <p:spPr>
          <a:xfrm>
            <a:off x="1036381" y="2343973"/>
            <a:ext cx="176662" cy="176662"/>
          </a:xfrm>
          <a:prstGeom prst="rect">
            <a:avLst/>
          </a:prstGeom>
        </p:spPr>
      </p:pic>
      <p:sp>
        <p:nvSpPr>
          <p:cNvPr id="12" name="Text 8"/>
          <p:cNvSpPr txBox="1"/>
          <p:nvPr/>
        </p:nvSpPr>
        <p:spPr>
          <a:xfrm>
            <a:off x="1417320" y="2240280"/>
            <a:ext cx="4937760" cy="292608"/>
          </a:xfrm>
          <a:prstGeom prst="rect">
            <a:avLst/>
          </a:prstGeom>
          <a:noFill/>
          <a:ln/>
        </p:spPr>
        <p:txBody>
          <a:bodyPr wrap="square" lIns="0" tIns="0" rIns="0" bIns="0" rtlCol="0" anchor="ctr"/>
          <a:lstStyle/>
          <a:p>
            <a:pPr indent="0" marL="0">
              <a:buNone/>
            </a:pPr>
            <a:r>
              <a:rPr lang="en-US" sz="1150" b="1" spc="100" kern="0" dirty="0">
                <a:solidFill>
                  <a:srgbClr val="F2A93B"/>
                </a:solidFill>
                <a:latin typeface="Arial" pitchFamily="34" charset="0"/>
                <a:ea typeface="Arial" pitchFamily="34" charset="-122"/>
                <a:cs typeface="Arial" pitchFamily="34" charset="-120"/>
              </a:rPr>
              <a:t>PROMPT (CÂU LỆNH) MẪU</a:t>
            </a:r>
            <a:endParaRPr lang="en-US" sz="1150" dirty="0"/>
          </a:p>
        </p:txBody>
      </p:sp>
      <p:sp>
        <p:nvSpPr>
          <p:cNvPr id="13" name="Text 9"/>
          <p:cNvSpPr txBox="1"/>
          <p:nvPr/>
        </p:nvSpPr>
        <p:spPr>
          <a:xfrm>
            <a:off x="960120" y="2578608"/>
            <a:ext cx="10241280" cy="621792"/>
          </a:xfrm>
          <a:prstGeom prst="rect">
            <a:avLst/>
          </a:prstGeom>
          <a:noFill/>
          <a:ln/>
        </p:spPr>
        <p:txBody>
          <a:bodyPr wrap="square" lIns="0" tIns="0" rIns="0" bIns="0" rtlCol="0" anchor="t"/>
          <a:lstStyle/>
          <a:p>
            <a:pPr indent="0" marL="0">
              <a:lnSpc>
                <a:spcPts val="1600"/>
              </a:lnSpc>
              <a:buNone/>
            </a:pPr>
            <a:r>
              <a:rPr lang="en-US" sz="1300" i="1" dirty="0">
                <a:solidFill>
                  <a:srgbClr val="FFFFFF"/>
                </a:solidFill>
                <a:latin typeface="Arial" pitchFamily="34" charset="0"/>
                <a:ea typeface="Arial" pitchFamily="34" charset="-122"/>
                <a:cs typeface="Arial" pitchFamily="34" charset="-120"/>
              </a:rPr>
              <a:t>"Hãy viết giúp tôi 1 bài đăng Facebook giới thiệu món bún chả mới của quán, giọng gần gũi, có 2-3 emoji, dài 3-4 câu, để thu hút khách đặt bàn cuối tuần."</a:t>
            </a:r>
            <a:endParaRPr lang="en-US" sz="1300" dirty="0"/>
          </a:p>
        </p:txBody>
      </p:sp>
      <p:sp>
        <p:nvSpPr>
          <p:cNvPr id="14" name="Text 10"/>
          <p:cNvSpPr txBox="1"/>
          <p:nvPr/>
        </p:nvSpPr>
        <p:spPr>
          <a:xfrm>
            <a:off x="731520" y="3429000"/>
            <a:ext cx="10698480" cy="292608"/>
          </a:xfrm>
          <a:prstGeom prst="rect">
            <a:avLst/>
          </a:prstGeom>
          <a:noFill/>
          <a:ln/>
        </p:spPr>
        <p:txBody>
          <a:bodyPr wrap="square" lIns="0" tIns="0" rIns="0" bIns="0" rtlCol="0" anchor="ctr"/>
          <a:lstStyle/>
          <a:p>
            <a:pPr indent="0" marL="0">
              <a:buNone/>
            </a:pPr>
            <a:r>
              <a:rPr lang="en-US" sz="1250" b="1" spc="100" kern="0" dirty="0">
                <a:solidFill>
                  <a:srgbClr val="0B5257"/>
                </a:solidFill>
                <a:latin typeface="Arial" pitchFamily="34" charset="0"/>
                <a:ea typeface="Arial" pitchFamily="34" charset="-122"/>
                <a:cs typeface="Arial" pitchFamily="34" charset="-120"/>
              </a:rPr>
              <a:t>AI TRẢ LỜI (VÍ DỤ MINH HỌA)</a:t>
            </a:r>
            <a:endParaRPr lang="en-US" sz="1250" dirty="0"/>
          </a:p>
        </p:txBody>
      </p:sp>
      <p:sp>
        <p:nvSpPr>
          <p:cNvPr id="15" name="Shape 11"/>
          <p:cNvSpPr/>
          <p:nvPr/>
        </p:nvSpPr>
        <p:spPr>
          <a:xfrm>
            <a:off x="731520" y="3730752"/>
            <a:ext cx="10698480" cy="1417320"/>
          </a:xfrm>
          <a:prstGeom prst="roundRect">
            <a:avLst>
              <a:gd name="adj" fmla="val 6452"/>
            </a:avLst>
          </a:prstGeom>
          <a:solidFill>
            <a:srgbClr val="EEF5F5"/>
          </a:solidFill>
          <a:ln w="12700">
            <a:solidFill>
              <a:srgbClr val="D6E6E6"/>
            </a:solidFill>
            <a:prstDash val="solid"/>
          </a:ln>
        </p:spPr>
      </p:sp>
      <p:sp>
        <p:nvSpPr>
          <p:cNvPr id="16" name="Shape 12"/>
          <p:cNvSpPr/>
          <p:nvPr/>
        </p:nvSpPr>
        <p:spPr>
          <a:xfrm>
            <a:off x="932688" y="3895344"/>
            <a:ext cx="365760" cy="365760"/>
          </a:xfrm>
          <a:prstGeom prst="ellipse">
            <a:avLst/>
          </a:prstGeom>
          <a:solidFill>
            <a:srgbClr val="127C82"/>
          </a:solidFill>
          <a:ln/>
        </p:spPr>
      </p:sp>
      <p:pic>
        <p:nvPicPr>
          <p:cNvPr id="17" name="Image 2" descr="/home/claude/aichuyendoiso2/assets/icons/robot_FFFFFF.png">    </p:cNvPr>
          <p:cNvPicPr>
            <a:picLocks noChangeAspect="1"/>
          </p:cNvPicPr>
          <p:nvPr/>
        </p:nvPicPr>
        <p:blipFill>
          <a:blip r:embed="rId4"/>
          <a:stretch>
            <a:fillRect/>
          </a:stretch>
        </p:blipFill>
        <p:spPr>
          <a:xfrm>
            <a:off x="1031443" y="3994099"/>
            <a:ext cx="168250" cy="168250"/>
          </a:xfrm>
          <a:prstGeom prst="rect">
            <a:avLst/>
          </a:prstGeom>
        </p:spPr>
      </p:pic>
      <p:sp>
        <p:nvSpPr>
          <p:cNvPr id="18" name="Text 13"/>
          <p:cNvSpPr txBox="1"/>
          <p:nvPr/>
        </p:nvSpPr>
        <p:spPr>
          <a:xfrm>
            <a:off x="1481328" y="3877056"/>
            <a:ext cx="9738360" cy="1124712"/>
          </a:xfrm>
          <a:prstGeom prst="rect">
            <a:avLst/>
          </a:prstGeom>
          <a:noFill/>
          <a:ln/>
        </p:spPr>
        <p:txBody>
          <a:bodyPr wrap="square" lIns="0" tIns="0" rIns="0" bIns="0" rtlCol="0" anchor="t"/>
          <a:lstStyle/>
          <a:p>
            <a:pPr indent="0" marL="0">
              <a:lnSpc>
                <a:spcPts val="1700"/>
              </a:lnSpc>
              <a:buNone/>
            </a:pPr>
            <a:r>
              <a:rPr lang="en-US" sz="1250" dirty="0">
                <a:solidFill>
                  <a:srgbClr val="17282B"/>
                </a:solidFill>
                <a:latin typeface="Arial" pitchFamily="34" charset="0"/>
                <a:ea typeface="Arial" pitchFamily="34" charset="-122"/>
                <a:cs typeface="Arial" pitchFamily="34" charset="-120"/>
              </a:rPr>
              <a:t>🍜 BÚN CHẢ MỚI RA LÒ tại quán mình rồi nè! Thịt nướng thơm lừng, nước chấm chua ngọt vừa miệng, ăn kèm rau sống tươi ngon. 🔥 Cuối tuần này ghé quán đổi vị nhé, số lượng có hạn mỗi ngày! Đặt bàn ngay hôm nay nhé — Hotline: ...</a:t>
            </a:r>
            <a:endParaRPr lang="en-US" sz="1250" dirty="0"/>
          </a:p>
        </p:txBody>
      </p:sp>
      <p:sp>
        <p:nvSpPr>
          <p:cNvPr id="19" name="Shape 14"/>
          <p:cNvSpPr/>
          <p:nvPr/>
        </p:nvSpPr>
        <p:spPr>
          <a:xfrm>
            <a:off x="731520" y="5285232"/>
            <a:ext cx="10698480" cy="978408"/>
          </a:xfrm>
          <a:prstGeom prst="roundRect">
            <a:avLst>
              <a:gd name="adj" fmla="val 7477"/>
            </a:avLst>
          </a:prstGeom>
          <a:solidFill>
            <a:srgbClr val="FBEFE3"/>
          </a:solidFill>
          <a:ln w="12700">
            <a:solidFill>
              <a:srgbClr val="F0CFA0"/>
            </a:solidFill>
            <a:prstDash val="solid"/>
          </a:ln>
        </p:spPr>
      </p:sp>
      <p:sp>
        <p:nvSpPr>
          <p:cNvPr id="20" name="Shape 15"/>
          <p:cNvSpPr/>
          <p:nvPr/>
        </p:nvSpPr>
        <p:spPr>
          <a:xfrm>
            <a:off x="914400" y="5573268"/>
            <a:ext cx="402336" cy="402336"/>
          </a:xfrm>
          <a:prstGeom prst="ellipse">
            <a:avLst/>
          </a:prstGeom>
          <a:solidFill>
            <a:srgbClr val="F2A93B"/>
          </a:solidFill>
          <a:ln/>
        </p:spPr>
      </p:sp>
      <p:pic>
        <p:nvPicPr>
          <p:cNvPr id="21" name="Image 3" descr="/home/claude/aichuyendoiso2/assets/icons/triangleexclamation_0B3B45.png">    </p:cNvPr>
          <p:cNvPicPr>
            <a:picLocks noChangeAspect="1"/>
          </p:cNvPicPr>
          <p:nvPr/>
        </p:nvPicPr>
        <p:blipFill>
          <a:blip r:embed="rId5"/>
          <a:stretch>
            <a:fillRect/>
          </a:stretch>
        </p:blipFill>
        <p:spPr>
          <a:xfrm>
            <a:off x="1023031" y="5681899"/>
            <a:ext cx="185075" cy="185075"/>
          </a:xfrm>
          <a:prstGeom prst="rect">
            <a:avLst/>
          </a:prstGeom>
        </p:spPr>
      </p:pic>
      <p:sp>
        <p:nvSpPr>
          <p:cNvPr id="22" name="Text 16"/>
          <p:cNvSpPr txBox="1"/>
          <p:nvPr/>
        </p:nvSpPr>
        <p:spPr>
          <a:xfrm>
            <a:off x="1508760" y="5285232"/>
            <a:ext cx="9738360" cy="978408"/>
          </a:xfrm>
          <a:prstGeom prst="rect">
            <a:avLst/>
          </a:prstGeom>
          <a:noFill/>
          <a:ln/>
        </p:spPr>
        <p:txBody>
          <a:bodyPr wrap="square" lIns="0" tIns="0" rIns="0" bIns="0" rtlCol="0" anchor="ctr"/>
          <a:lstStyle/>
          <a:p>
            <a:pPr indent="0" marL="0">
              <a:lnSpc>
                <a:spcPts val="1500"/>
              </a:lnSpc>
              <a:buNone/>
            </a:pPr>
            <a:r>
              <a:rPr lang="en-US" sz="1250" i="1" dirty="0">
                <a:solidFill>
                  <a:srgbClr val="7A4A12"/>
                </a:solidFill>
                <a:latin typeface="Arial" pitchFamily="34" charset="0"/>
                <a:ea typeface="Arial" pitchFamily="34" charset="-122"/>
                <a:cs typeface="Arial" pitchFamily="34" charset="-120"/>
              </a:rPr>
              <a:t>Kết quả AI viết ra là bản NHÁP — nên đọc lại, chỉnh sửa giọng văn cho đúng phong cách quán, kiểm tra thông tin (giá, địa chỉ, giờ mở cửa) trước khi đăng thật.</a:t>
            </a:r>
            <a:endParaRPr lang="en-US" sz="1250" dirty="0"/>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347472"/>
            <a:ext cx="457200" cy="457200"/>
          </a:xfrm>
          <a:prstGeom prst="ellipse">
            <a:avLst/>
          </a:prstGeom>
          <a:solidFill>
            <a:srgbClr val="127C82"/>
          </a:solidFill>
          <a:ln/>
        </p:spPr>
      </p:sp>
      <p:pic>
        <p:nvPicPr>
          <p:cNvPr id="3" name="Image 0" descr="/home/claude/aichuyendoiso2/assets/icons/scale_FFFFFF.png">    </p:cNvPr>
          <p:cNvPicPr>
            <a:picLocks noChangeAspect="1"/>
          </p:cNvPicPr>
          <p:nvPr/>
        </p:nvPicPr>
        <p:blipFill>
          <a:blip r:embed="rId2"/>
          <a:stretch>
            <a:fillRect/>
          </a:stretch>
        </p:blipFill>
        <p:spPr>
          <a:xfrm>
            <a:off x="580644" y="470916"/>
            <a:ext cx="210312" cy="210312"/>
          </a:xfrm>
          <a:prstGeom prst="rect">
            <a:avLst/>
          </a:prstGeom>
        </p:spPr>
      </p:pic>
      <p:sp>
        <p:nvSpPr>
          <p:cNvPr id="4" name="Text 1"/>
          <p:cNvSpPr txBox="1"/>
          <p:nvPr/>
        </p:nvSpPr>
        <p:spPr>
          <a:xfrm>
            <a:off x="1051560" y="301752"/>
            <a:ext cx="10607040" cy="566928"/>
          </a:xfrm>
          <a:prstGeom prst="rect">
            <a:avLst/>
          </a:prstGeom>
          <a:noFill/>
          <a:ln/>
        </p:spPr>
        <p:txBody>
          <a:bodyPr wrap="square" lIns="0" tIns="0" rIns="0" bIns="0" rtlCol="0" anchor="ctr"/>
          <a:lstStyle/>
          <a:p>
            <a:pPr indent="0" marL="0">
              <a:buNone/>
            </a:pPr>
            <a:r>
              <a:rPr lang="en-US" sz="2600" b="1" dirty="0">
                <a:solidFill>
                  <a:srgbClr val="0B5257"/>
                </a:solidFill>
                <a:latin typeface="Arial" pitchFamily="34" charset="0"/>
                <a:ea typeface="Arial" pitchFamily="34" charset="-122"/>
                <a:cs typeface="Arial" pitchFamily="34" charset="-120"/>
              </a:rPr>
              <a:t>Khối Kinh tế – Hành chính – Pháp luật – Xã hội</a:t>
            </a:r>
            <a:endParaRPr lang="en-US" sz="2600" dirty="0"/>
          </a:p>
        </p:txBody>
      </p:sp>
      <p:sp>
        <p:nvSpPr>
          <p:cNvPr id="5" name="Text 2"/>
          <p:cNvSpPr txBox="1"/>
          <p:nvPr/>
        </p:nvSpPr>
        <p:spPr>
          <a:xfrm>
            <a:off x="457200" y="6492240"/>
            <a:ext cx="7315200" cy="274320"/>
          </a:xfrm>
          <a:prstGeom prst="rect">
            <a:avLst/>
          </a:prstGeom>
          <a:noFill/>
          <a:ln/>
        </p:spPr>
        <p:txBody>
          <a:bodyPr wrap="square" lIns="0" tIns="0" rIns="0" bIns="0" rtlCol="0" anchor="ctr"/>
          <a:lstStyle/>
          <a:p>
            <a:pPr algn="l" indent="0" marL="0">
              <a:buNone/>
            </a:pPr>
            <a:r>
              <a:rPr lang="en-US" sz="1000" dirty="0">
                <a:solidFill>
                  <a:srgbClr val="5C7378"/>
                </a:solidFill>
                <a:latin typeface="Arial" pitchFamily="34" charset="0"/>
                <a:ea typeface="Arial" pitchFamily="34" charset="-122"/>
                <a:cs typeface="Arial" pitchFamily="34" charset="-120"/>
              </a:rPr>
              <a:t>Phần 4 · AI cho từng ngành nghề</a:t>
            </a:r>
            <a:endParaRPr lang="en-US" sz="1000" dirty="0"/>
          </a:p>
        </p:txBody>
      </p:sp>
      <p:sp>
        <p:nvSpPr>
          <p:cNvPr id="6" name="Text 3"/>
          <p:cNvSpPr txBox="1"/>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C7378"/>
                </a:solidFill>
                <a:latin typeface="Arial" pitchFamily="34" charset="0"/>
                <a:ea typeface="Arial" pitchFamily="34" charset="-122"/>
                <a:cs typeface="Arial" pitchFamily="34" charset="-120"/>
              </a:rPr>
              <a:t>28</a:t>
            </a:r>
            <a:endParaRPr lang="en-US" sz="1000" dirty="0"/>
          </a:p>
        </p:txBody>
      </p:sp>
      <p:sp>
        <p:nvSpPr>
          <p:cNvPr id="7" name="Shape 4"/>
          <p:cNvSpPr/>
          <p:nvPr/>
        </p:nvSpPr>
        <p:spPr>
          <a:xfrm>
            <a:off x="10323576" y="374904"/>
            <a:ext cx="566928" cy="566928"/>
          </a:xfrm>
          <a:prstGeom prst="ellipse">
            <a:avLst/>
          </a:prstGeom>
          <a:solidFill>
            <a:srgbClr val="127C82"/>
          </a:solidFill>
          <a:ln/>
        </p:spPr>
      </p:sp>
      <p:pic>
        <p:nvPicPr>
          <p:cNvPr id="8" name="Image 1" descr="/home/claude/aichuyendoiso2/assets/icons/landmark_FFFFFF.png">    </p:cNvPr>
          <p:cNvPicPr>
            <a:picLocks noChangeAspect="1"/>
          </p:cNvPicPr>
          <p:nvPr/>
        </p:nvPicPr>
        <p:blipFill>
          <a:blip r:embed="rId3"/>
          <a:stretch>
            <a:fillRect/>
          </a:stretch>
        </p:blipFill>
        <p:spPr>
          <a:xfrm>
            <a:off x="10476647" y="527975"/>
            <a:ext cx="260787" cy="260787"/>
          </a:xfrm>
          <a:prstGeom prst="rect">
            <a:avLst/>
          </a:prstGeom>
        </p:spPr>
      </p:pic>
      <p:sp>
        <p:nvSpPr>
          <p:cNvPr id="9" name="Shape 5"/>
          <p:cNvSpPr/>
          <p:nvPr/>
        </p:nvSpPr>
        <p:spPr>
          <a:xfrm>
            <a:off x="11064240" y="173736"/>
            <a:ext cx="457200" cy="457200"/>
          </a:xfrm>
          <a:prstGeom prst="ellipse">
            <a:avLst/>
          </a:prstGeom>
          <a:solidFill>
            <a:srgbClr val="F2A93B"/>
          </a:solidFill>
          <a:ln/>
        </p:spPr>
      </p:sp>
      <p:pic>
        <p:nvPicPr>
          <p:cNvPr id="10" name="Image 2" descr="/home/claude/aichuyendoiso2/assets/icons/filelines_FFFFFF.png">    </p:cNvPr>
          <p:cNvPicPr>
            <a:picLocks noChangeAspect="1"/>
          </p:cNvPicPr>
          <p:nvPr/>
        </p:nvPicPr>
        <p:blipFill>
          <a:blip r:embed="rId4"/>
          <a:stretch>
            <a:fillRect/>
          </a:stretch>
        </p:blipFill>
        <p:spPr>
          <a:xfrm>
            <a:off x="11187684" y="297180"/>
            <a:ext cx="210312" cy="210312"/>
          </a:xfrm>
          <a:prstGeom prst="rect">
            <a:avLst/>
          </a:prstGeom>
        </p:spPr>
      </p:pic>
      <p:sp>
        <p:nvSpPr>
          <p:cNvPr id="11" name="Shape 6"/>
          <p:cNvSpPr/>
          <p:nvPr/>
        </p:nvSpPr>
        <p:spPr>
          <a:xfrm>
            <a:off x="11192256" y="667512"/>
            <a:ext cx="384048" cy="384048"/>
          </a:xfrm>
          <a:prstGeom prst="ellipse">
            <a:avLst/>
          </a:prstGeom>
          <a:solidFill>
            <a:srgbClr val="0B3B45"/>
          </a:solidFill>
          <a:ln/>
        </p:spPr>
      </p:sp>
      <p:pic>
        <p:nvPicPr>
          <p:cNvPr id="12" name="Image 3" descr="/home/claude/aichuyendoiso2/assets/icons/scale_FFFFFF.png">    </p:cNvPr>
          <p:cNvPicPr>
            <a:picLocks noChangeAspect="1"/>
          </p:cNvPicPr>
          <p:nvPr/>
        </p:nvPicPr>
        <p:blipFill>
          <a:blip r:embed="rId5"/>
          <a:stretch>
            <a:fillRect/>
          </a:stretch>
        </p:blipFill>
        <p:spPr>
          <a:xfrm>
            <a:off x="11295949" y="771205"/>
            <a:ext cx="176662" cy="176662"/>
          </a:xfrm>
          <a:prstGeom prst="rect">
            <a:avLst/>
          </a:prstGeom>
        </p:spPr>
      </p:pic>
      <p:sp>
        <p:nvSpPr>
          <p:cNvPr id="13" name="Text 7"/>
          <p:cNvSpPr txBox="1"/>
          <p:nvPr/>
        </p:nvSpPr>
        <p:spPr>
          <a:xfrm>
            <a:off x="731520" y="1234440"/>
            <a:ext cx="10698480" cy="457200"/>
          </a:xfrm>
          <a:prstGeom prst="rect">
            <a:avLst/>
          </a:prstGeom>
          <a:noFill/>
          <a:ln/>
        </p:spPr>
        <p:txBody>
          <a:bodyPr wrap="square" lIns="0" tIns="0" rIns="0" bIns="0" rtlCol="0" anchor="ctr"/>
          <a:lstStyle/>
          <a:p>
            <a:pPr indent="0" marL="0">
              <a:buNone/>
            </a:pPr>
            <a:r>
              <a:rPr lang="en-US" sz="1450" i="1" dirty="0">
                <a:solidFill>
                  <a:srgbClr val="0B5257"/>
                </a:solidFill>
                <a:latin typeface="Arial" pitchFamily="34" charset="0"/>
                <a:ea typeface="Arial" pitchFamily="34" charset="-122"/>
                <a:cs typeface="Arial" pitchFamily="34" charset="-120"/>
              </a:rPr>
              <a:t>Ngành: Kế toán · Hành chính văn phòng · Pháp luật · Công tác xã hội</a:t>
            </a:r>
            <a:endParaRPr lang="en-US" sz="1450" dirty="0"/>
          </a:p>
        </p:txBody>
      </p:sp>
      <p:sp>
        <p:nvSpPr>
          <p:cNvPr id="14" name="Shape 8"/>
          <p:cNvSpPr/>
          <p:nvPr/>
        </p:nvSpPr>
        <p:spPr>
          <a:xfrm>
            <a:off x="731520" y="1783080"/>
            <a:ext cx="5189220" cy="2080260"/>
          </a:xfrm>
          <a:prstGeom prst="roundRect">
            <a:avLst>
              <a:gd name="adj" fmla="val 3516"/>
            </a:avLst>
          </a:prstGeom>
          <a:solidFill>
            <a:srgbClr val="EEF5F5"/>
          </a:solidFill>
          <a:ln w="12700">
            <a:solidFill>
              <a:srgbClr val="D6E6E6"/>
            </a:solidFill>
            <a:prstDash val="solid"/>
          </a:ln>
        </p:spPr>
      </p:sp>
      <p:sp>
        <p:nvSpPr>
          <p:cNvPr id="15" name="Shape 9"/>
          <p:cNvSpPr/>
          <p:nvPr/>
        </p:nvSpPr>
        <p:spPr>
          <a:xfrm>
            <a:off x="987552" y="2020824"/>
            <a:ext cx="457200" cy="457200"/>
          </a:xfrm>
          <a:prstGeom prst="ellipse">
            <a:avLst/>
          </a:prstGeom>
          <a:solidFill>
            <a:srgbClr val="F2A93B"/>
          </a:solidFill>
          <a:ln/>
        </p:spPr>
      </p:sp>
      <p:pic>
        <p:nvPicPr>
          <p:cNvPr id="16" name="Image 4" descr="/home/claude/aichuyendoiso2/assets/icons/filelines_0B3B45.png">    </p:cNvPr>
          <p:cNvPicPr>
            <a:picLocks noChangeAspect="1"/>
          </p:cNvPicPr>
          <p:nvPr/>
        </p:nvPicPr>
        <p:blipFill>
          <a:blip r:embed="rId6"/>
          <a:stretch>
            <a:fillRect/>
          </a:stretch>
        </p:blipFill>
        <p:spPr>
          <a:xfrm>
            <a:off x="1110996" y="2144268"/>
            <a:ext cx="210312" cy="210312"/>
          </a:xfrm>
          <a:prstGeom prst="rect">
            <a:avLst/>
          </a:prstGeom>
        </p:spPr>
      </p:pic>
      <p:sp>
        <p:nvSpPr>
          <p:cNvPr id="17" name="Text 10"/>
          <p:cNvSpPr txBox="1"/>
          <p:nvPr/>
        </p:nvSpPr>
        <p:spPr>
          <a:xfrm>
            <a:off x="1600200" y="1965960"/>
            <a:ext cx="4137660" cy="548640"/>
          </a:xfrm>
          <a:prstGeom prst="rect">
            <a:avLst/>
          </a:prstGeom>
          <a:noFill/>
          <a:ln/>
        </p:spPr>
        <p:txBody>
          <a:bodyPr wrap="square" lIns="0" tIns="0" rIns="0" bIns="0" rtlCol="0" anchor="ctr"/>
          <a:lstStyle/>
          <a:p>
            <a:pPr indent="0" marL="0">
              <a:lnSpc>
                <a:spcPts val="1700"/>
              </a:lnSpc>
              <a:buNone/>
            </a:pPr>
            <a:r>
              <a:rPr lang="en-US" sz="1550" b="1" dirty="0">
                <a:solidFill>
                  <a:srgbClr val="17282B"/>
                </a:solidFill>
                <a:latin typeface="Arial" pitchFamily="34" charset="0"/>
                <a:ea typeface="Arial" pitchFamily="34" charset="-122"/>
                <a:cs typeface="Arial" pitchFamily="34" charset="-120"/>
              </a:rPr>
              <a:t>Soạn nháp văn bản</a:t>
            </a:r>
            <a:endParaRPr lang="en-US" sz="1550" dirty="0"/>
          </a:p>
        </p:txBody>
      </p:sp>
      <p:sp>
        <p:nvSpPr>
          <p:cNvPr id="18" name="Text 11"/>
          <p:cNvSpPr txBox="1"/>
          <p:nvPr/>
        </p:nvSpPr>
        <p:spPr>
          <a:xfrm>
            <a:off x="987552" y="2651760"/>
            <a:ext cx="4677156" cy="1028700"/>
          </a:xfrm>
          <a:prstGeom prst="rect">
            <a:avLst/>
          </a:prstGeom>
          <a:noFill/>
          <a:ln/>
        </p:spPr>
        <p:txBody>
          <a:bodyPr wrap="square" lIns="0" tIns="0" rIns="0" bIns="0" rtlCol="0" anchor="t"/>
          <a:lstStyle/>
          <a:p>
            <a:pPr indent="0" marL="0">
              <a:lnSpc>
                <a:spcPts val="1600"/>
              </a:lnSpc>
              <a:buNone/>
            </a:pPr>
            <a:r>
              <a:rPr lang="en-US" sz="1300" dirty="0">
                <a:solidFill>
                  <a:srgbClr val="5C7378"/>
                </a:solidFill>
                <a:latin typeface="Arial" pitchFamily="34" charset="0"/>
                <a:ea typeface="Arial" pitchFamily="34" charset="-122"/>
                <a:cs typeface="Arial" pitchFamily="34" charset="-120"/>
              </a:rPr>
              <a:t>AI hỗ trợ soạn nháp công văn, báo cáo, biên bản — vẫn phải kiểm tra lại.</a:t>
            </a:r>
            <a:endParaRPr lang="en-US" sz="1300" dirty="0"/>
          </a:p>
        </p:txBody>
      </p:sp>
      <p:sp>
        <p:nvSpPr>
          <p:cNvPr id="19" name="Shape 12"/>
          <p:cNvSpPr/>
          <p:nvPr/>
        </p:nvSpPr>
        <p:spPr>
          <a:xfrm>
            <a:off x="6240780" y="1783080"/>
            <a:ext cx="5189220" cy="2080260"/>
          </a:xfrm>
          <a:prstGeom prst="roundRect">
            <a:avLst>
              <a:gd name="adj" fmla="val 3516"/>
            </a:avLst>
          </a:prstGeom>
          <a:solidFill>
            <a:srgbClr val="EEF5F5"/>
          </a:solidFill>
          <a:ln w="12700">
            <a:solidFill>
              <a:srgbClr val="D6E6E6"/>
            </a:solidFill>
            <a:prstDash val="solid"/>
          </a:ln>
        </p:spPr>
      </p:sp>
      <p:sp>
        <p:nvSpPr>
          <p:cNvPr id="20" name="Shape 13"/>
          <p:cNvSpPr/>
          <p:nvPr/>
        </p:nvSpPr>
        <p:spPr>
          <a:xfrm>
            <a:off x="6496812" y="2020824"/>
            <a:ext cx="457200" cy="457200"/>
          </a:xfrm>
          <a:prstGeom prst="ellipse">
            <a:avLst/>
          </a:prstGeom>
          <a:solidFill>
            <a:srgbClr val="F2A93B"/>
          </a:solidFill>
          <a:ln/>
        </p:spPr>
      </p:sp>
      <p:pic>
        <p:nvPicPr>
          <p:cNvPr id="21" name="Image 5" descr="/home/claude/aichuyendoiso2/assets/icons/calculator_0B3B45.png">    </p:cNvPr>
          <p:cNvPicPr>
            <a:picLocks noChangeAspect="1"/>
          </p:cNvPicPr>
          <p:nvPr/>
        </p:nvPicPr>
        <p:blipFill>
          <a:blip r:embed="rId7"/>
          <a:stretch>
            <a:fillRect/>
          </a:stretch>
        </p:blipFill>
        <p:spPr>
          <a:xfrm>
            <a:off x="6620256" y="2144268"/>
            <a:ext cx="210312" cy="210312"/>
          </a:xfrm>
          <a:prstGeom prst="rect">
            <a:avLst/>
          </a:prstGeom>
        </p:spPr>
      </p:pic>
      <p:sp>
        <p:nvSpPr>
          <p:cNvPr id="22" name="Text 14"/>
          <p:cNvSpPr txBox="1"/>
          <p:nvPr/>
        </p:nvSpPr>
        <p:spPr>
          <a:xfrm>
            <a:off x="7109460" y="1965960"/>
            <a:ext cx="4137660" cy="548640"/>
          </a:xfrm>
          <a:prstGeom prst="rect">
            <a:avLst/>
          </a:prstGeom>
          <a:noFill/>
          <a:ln/>
        </p:spPr>
        <p:txBody>
          <a:bodyPr wrap="square" lIns="0" tIns="0" rIns="0" bIns="0" rtlCol="0" anchor="ctr"/>
          <a:lstStyle/>
          <a:p>
            <a:pPr indent="0" marL="0">
              <a:lnSpc>
                <a:spcPts val="1700"/>
              </a:lnSpc>
              <a:buNone/>
            </a:pPr>
            <a:r>
              <a:rPr lang="en-US" sz="1550" b="1" dirty="0">
                <a:solidFill>
                  <a:srgbClr val="17282B"/>
                </a:solidFill>
                <a:latin typeface="Arial" pitchFamily="34" charset="0"/>
                <a:ea typeface="Arial" pitchFamily="34" charset="-122"/>
                <a:cs typeface="Arial" pitchFamily="34" charset="-120"/>
              </a:rPr>
              <a:t>Tính toán, tổng hợp số liệu</a:t>
            </a:r>
            <a:endParaRPr lang="en-US" sz="1550" dirty="0"/>
          </a:p>
        </p:txBody>
      </p:sp>
      <p:sp>
        <p:nvSpPr>
          <p:cNvPr id="23" name="Text 15"/>
          <p:cNvSpPr txBox="1"/>
          <p:nvPr/>
        </p:nvSpPr>
        <p:spPr>
          <a:xfrm>
            <a:off x="6496812" y="2651760"/>
            <a:ext cx="4677156" cy="1028700"/>
          </a:xfrm>
          <a:prstGeom prst="rect">
            <a:avLst/>
          </a:prstGeom>
          <a:noFill/>
          <a:ln/>
        </p:spPr>
        <p:txBody>
          <a:bodyPr wrap="square" lIns="0" tIns="0" rIns="0" bIns="0" rtlCol="0" anchor="t"/>
          <a:lstStyle/>
          <a:p>
            <a:pPr indent="0" marL="0">
              <a:lnSpc>
                <a:spcPts val="1600"/>
              </a:lnSpc>
              <a:buNone/>
            </a:pPr>
            <a:r>
              <a:rPr lang="en-US" sz="1300" dirty="0">
                <a:solidFill>
                  <a:srgbClr val="5C7378"/>
                </a:solidFill>
                <a:latin typeface="Arial" pitchFamily="34" charset="0"/>
                <a:ea typeface="Arial" pitchFamily="34" charset="-122"/>
                <a:cs typeface="Arial" pitchFamily="34" charset="-120"/>
              </a:rPr>
              <a:t>AI hỗ trợ tính toán, tổng hợp dữ liệu trên Excel nhanh hơn.</a:t>
            </a:r>
            <a:endParaRPr lang="en-US" sz="1300" dirty="0"/>
          </a:p>
        </p:txBody>
      </p:sp>
      <p:sp>
        <p:nvSpPr>
          <p:cNvPr id="24" name="Shape 16"/>
          <p:cNvSpPr/>
          <p:nvPr/>
        </p:nvSpPr>
        <p:spPr>
          <a:xfrm>
            <a:off x="731520" y="4183380"/>
            <a:ext cx="5189220" cy="2080260"/>
          </a:xfrm>
          <a:prstGeom prst="roundRect">
            <a:avLst>
              <a:gd name="adj" fmla="val 3516"/>
            </a:avLst>
          </a:prstGeom>
          <a:solidFill>
            <a:srgbClr val="EEF5F5"/>
          </a:solidFill>
          <a:ln w="12700">
            <a:solidFill>
              <a:srgbClr val="D6E6E6"/>
            </a:solidFill>
            <a:prstDash val="solid"/>
          </a:ln>
        </p:spPr>
      </p:sp>
      <p:sp>
        <p:nvSpPr>
          <p:cNvPr id="25" name="Shape 17"/>
          <p:cNvSpPr/>
          <p:nvPr/>
        </p:nvSpPr>
        <p:spPr>
          <a:xfrm>
            <a:off x="987552" y="4421124"/>
            <a:ext cx="457200" cy="457200"/>
          </a:xfrm>
          <a:prstGeom prst="ellipse">
            <a:avLst/>
          </a:prstGeom>
          <a:solidFill>
            <a:srgbClr val="F2A93B"/>
          </a:solidFill>
          <a:ln/>
        </p:spPr>
      </p:sp>
      <p:pic>
        <p:nvPicPr>
          <p:cNvPr id="26" name="Image 6" descr="/home/claude/aichuyendoiso2/assets/icons/scale_0B3B45.png">    </p:cNvPr>
          <p:cNvPicPr>
            <a:picLocks noChangeAspect="1"/>
          </p:cNvPicPr>
          <p:nvPr/>
        </p:nvPicPr>
        <p:blipFill>
          <a:blip r:embed="rId8"/>
          <a:stretch>
            <a:fillRect/>
          </a:stretch>
        </p:blipFill>
        <p:spPr>
          <a:xfrm>
            <a:off x="1110996" y="4544568"/>
            <a:ext cx="210312" cy="210312"/>
          </a:xfrm>
          <a:prstGeom prst="rect">
            <a:avLst/>
          </a:prstGeom>
        </p:spPr>
      </p:pic>
      <p:sp>
        <p:nvSpPr>
          <p:cNvPr id="27" name="Text 18"/>
          <p:cNvSpPr txBox="1"/>
          <p:nvPr/>
        </p:nvSpPr>
        <p:spPr>
          <a:xfrm>
            <a:off x="1600200" y="4366260"/>
            <a:ext cx="4137660" cy="548640"/>
          </a:xfrm>
          <a:prstGeom prst="rect">
            <a:avLst/>
          </a:prstGeom>
          <a:noFill/>
          <a:ln/>
        </p:spPr>
        <p:txBody>
          <a:bodyPr wrap="square" lIns="0" tIns="0" rIns="0" bIns="0" rtlCol="0" anchor="ctr"/>
          <a:lstStyle/>
          <a:p>
            <a:pPr indent="0" marL="0">
              <a:lnSpc>
                <a:spcPts val="1700"/>
              </a:lnSpc>
              <a:buNone/>
            </a:pPr>
            <a:r>
              <a:rPr lang="en-US" sz="1550" b="1" dirty="0">
                <a:solidFill>
                  <a:srgbClr val="17282B"/>
                </a:solidFill>
                <a:latin typeface="Arial" pitchFamily="34" charset="0"/>
                <a:ea typeface="Arial" pitchFamily="34" charset="-122"/>
                <a:cs typeface="Arial" pitchFamily="34" charset="-120"/>
              </a:rPr>
              <a:t>Tra cứu quy định pháp luật</a:t>
            </a:r>
            <a:endParaRPr lang="en-US" sz="1550" dirty="0"/>
          </a:p>
        </p:txBody>
      </p:sp>
      <p:sp>
        <p:nvSpPr>
          <p:cNvPr id="28" name="Text 19"/>
          <p:cNvSpPr txBox="1"/>
          <p:nvPr/>
        </p:nvSpPr>
        <p:spPr>
          <a:xfrm>
            <a:off x="987552" y="5052060"/>
            <a:ext cx="4677156" cy="1028700"/>
          </a:xfrm>
          <a:prstGeom prst="rect">
            <a:avLst/>
          </a:prstGeom>
          <a:noFill/>
          <a:ln/>
        </p:spPr>
        <p:txBody>
          <a:bodyPr wrap="square" lIns="0" tIns="0" rIns="0" bIns="0" rtlCol="0" anchor="t"/>
          <a:lstStyle/>
          <a:p>
            <a:pPr indent="0" marL="0">
              <a:lnSpc>
                <a:spcPts val="1600"/>
              </a:lnSpc>
              <a:buNone/>
            </a:pPr>
            <a:r>
              <a:rPr lang="en-US" sz="1300" dirty="0">
                <a:solidFill>
                  <a:srgbClr val="5C7378"/>
                </a:solidFill>
                <a:latin typeface="Arial" pitchFamily="34" charset="0"/>
                <a:ea typeface="Arial" pitchFamily="34" charset="-122"/>
                <a:cs typeface="Arial" pitchFamily="34" charset="-120"/>
              </a:rPr>
              <a:t>Tra nhanh quy định cơ bản — vẫn phải đối chiếu văn bản gốc.</a:t>
            </a:r>
            <a:endParaRPr lang="en-US" sz="1300" dirty="0"/>
          </a:p>
        </p:txBody>
      </p:sp>
      <p:sp>
        <p:nvSpPr>
          <p:cNvPr id="29" name="Shape 20"/>
          <p:cNvSpPr/>
          <p:nvPr/>
        </p:nvSpPr>
        <p:spPr>
          <a:xfrm>
            <a:off x="6240780" y="4183380"/>
            <a:ext cx="5189220" cy="2080260"/>
          </a:xfrm>
          <a:prstGeom prst="roundRect">
            <a:avLst>
              <a:gd name="adj" fmla="val 3516"/>
            </a:avLst>
          </a:prstGeom>
          <a:solidFill>
            <a:srgbClr val="EEF5F5"/>
          </a:solidFill>
          <a:ln w="12700">
            <a:solidFill>
              <a:srgbClr val="D6E6E6"/>
            </a:solidFill>
            <a:prstDash val="solid"/>
          </a:ln>
        </p:spPr>
      </p:sp>
      <p:sp>
        <p:nvSpPr>
          <p:cNvPr id="30" name="Shape 21"/>
          <p:cNvSpPr/>
          <p:nvPr/>
        </p:nvSpPr>
        <p:spPr>
          <a:xfrm>
            <a:off x="6496812" y="4421124"/>
            <a:ext cx="457200" cy="457200"/>
          </a:xfrm>
          <a:prstGeom prst="ellipse">
            <a:avLst/>
          </a:prstGeom>
          <a:solidFill>
            <a:srgbClr val="F2A93B"/>
          </a:solidFill>
          <a:ln/>
        </p:spPr>
      </p:sp>
      <p:pic>
        <p:nvPicPr>
          <p:cNvPr id="31" name="Image 7" descr="/home/claude/aichuyendoiso2/assets/icons/bullhorn_0B3B45.png">    </p:cNvPr>
          <p:cNvPicPr>
            <a:picLocks noChangeAspect="1"/>
          </p:cNvPicPr>
          <p:nvPr/>
        </p:nvPicPr>
        <p:blipFill>
          <a:blip r:embed="rId9"/>
          <a:stretch>
            <a:fillRect/>
          </a:stretch>
        </p:blipFill>
        <p:spPr>
          <a:xfrm>
            <a:off x="6620256" y="4544568"/>
            <a:ext cx="210312" cy="210312"/>
          </a:xfrm>
          <a:prstGeom prst="rect">
            <a:avLst/>
          </a:prstGeom>
        </p:spPr>
      </p:pic>
      <p:sp>
        <p:nvSpPr>
          <p:cNvPr id="32" name="Text 22"/>
          <p:cNvSpPr txBox="1"/>
          <p:nvPr/>
        </p:nvSpPr>
        <p:spPr>
          <a:xfrm>
            <a:off x="7109460" y="4366260"/>
            <a:ext cx="4137660" cy="548640"/>
          </a:xfrm>
          <a:prstGeom prst="rect">
            <a:avLst/>
          </a:prstGeom>
          <a:noFill/>
          <a:ln/>
        </p:spPr>
        <p:txBody>
          <a:bodyPr wrap="square" lIns="0" tIns="0" rIns="0" bIns="0" rtlCol="0" anchor="ctr"/>
          <a:lstStyle/>
          <a:p>
            <a:pPr indent="0" marL="0">
              <a:lnSpc>
                <a:spcPts val="1700"/>
              </a:lnSpc>
              <a:buNone/>
            </a:pPr>
            <a:r>
              <a:rPr lang="en-US" sz="1550" b="1" dirty="0">
                <a:solidFill>
                  <a:srgbClr val="17282B"/>
                </a:solidFill>
                <a:latin typeface="Arial" pitchFamily="34" charset="0"/>
                <a:ea typeface="Arial" pitchFamily="34" charset="-122"/>
                <a:cs typeface="Arial" pitchFamily="34" charset="-120"/>
              </a:rPr>
              <a:t>Soạn nội dung tuyên truyền</a:t>
            </a:r>
            <a:endParaRPr lang="en-US" sz="1550" dirty="0"/>
          </a:p>
        </p:txBody>
      </p:sp>
      <p:sp>
        <p:nvSpPr>
          <p:cNvPr id="33" name="Text 23"/>
          <p:cNvSpPr txBox="1"/>
          <p:nvPr/>
        </p:nvSpPr>
        <p:spPr>
          <a:xfrm>
            <a:off x="6496812" y="5052060"/>
            <a:ext cx="4677156" cy="1028700"/>
          </a:xfrm>
          <a:prstGeom prst="rect">
            <a:avLst/>
          </a:prstGeom>
          <a:noFill/>
          <a:ln/>
        </p:spPr>
        <p:txBody>
          <a:bodyPr wrap="square" lIns="0" tIns="0" rIns="0" bIns="0" rtlCol="0" anchor="t"/>
          <a:lstStyle/>
          <a:p>
            <a:pPr indent="0" marL="0">
              <a:lnSpc>
                <a:spcPts val="1600"/>
              </a:lnSpc>
              <a:buNone/>
            </a:pPr>
            <a:r>
              <a:rPr lang="en-US" sz="1300" dirty="0">
                <a:solidFill>
                  <a:srgbClr val="5C7378"/>
                </a:solidFill>
                <a:latin typeface="Arial" pitchFamily="34" charset="0"/>
                <a:ea typeface="Arial" pitchFamily="34" charset="-122"/>
                <a:cs typeface="Arial" pitchFamily="34" charset="-120"/>
              </a:rPr>
              <a:t>Viết nội dung tuyên truyền, tổng hợp thông tin hỗ trợ người dân.</a:t>
            </a:r>
            <a:endParaRPr lang="en-US" sz="1300" dirty="0"/>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347472"/>
            <a:ext cx="457200" cy="457200"/>
          </a:xfrm>
          <a:prstGeom prst="ellipse">
            <a:avLst/>
          </a:prstGeom>
          <a:solidFill>
            <a:srgbClr val="127C82"/>
          </a:solidFill>
          <a:ln/>
        </p:spPr>
      </p:sp>
      <p:pic>
        <p:nvPicPr>
          <p:cNvPr id="3" name="Image 0" descr="/home/claude/aichuyendoiso2/assets/icons/scale_FFFFFF.png">    </p:cNvPr>
          <p:cNvPicPr>
            <a:picLocks noChangeAspect="1"/>
          </p:cNvPicPr>
          <p:nvPr/>
        </p:nvPicPr>
        <p:blipFill>
          <a:blip r:embed="rId2"/>
          <a:stretch>
            <a:fillRect/>
          </a:stretch>
        </p:blipFill>
        <p:spPr>
          <a:xfrm>
            <a:off x="580644" y="470916"/>
            <a:ext cx="210312" cy="210312"/>
          </a:xfrm>
          <a:prstGeom prst="rect">
            <a:avLst/>
          </a:prstGeom>
        </p:spPr>
      </p:pic>
      <p:sp>
        <p:nvSpPr>
          <p:cNvPr id="4" name="Text 1"/>
          <p:cNvSpPr txBox="1"/>
          <p:nvPr/>
        </p:nvSpPr>
        <p:spPr>
          <a:xfrm>
            <a:off x="1051560" y="301752"/>
            <a:ext cx="10607040" cy="566928"/>
          </a:xfrm>
          <a:prstGeom prst="rect">
            <a:avLst/>
          </a:prstGeom>
          <a:noFill/>
          <a:ln/>
        </p:spPr>
        <p:txBody>
          <a:bodyPr wrap="square" lIns="0" tIns="0" rIns="0" bIns="0" rtlCol="0" anchor="ctr"/>
          <a:lstStyle/>
          <a:p>
            <a:pPr indent="0" marL="0">
              <a:buNone/>
            </a:pPr>
            <a:r>
              <a:rPr lang="en-US" sz="2600" b="1" dirty="0">
                <a:solidFill>
                  <a:srgbClr val="0B5257"/>
                </a:solidFill>
                <a:latin typeface="Arial" pitchFamily="34" charset="0"/>
                <a:ea typeface="Arial" pitchFamily="34" charset="-122"/>
                <a:cs typeface="Arial" pitchFamily="34" charset="-120"/>
              </a:rPr>
              <a:t>Tình Huống Thực Tế: Hành Chính Văn Phòng</a:t>
            </a:r>
            <a:endParaRPr lang="en-US" sz="2600" dirty="0"/>
          </a:p>
        </p:txBody>
      </p:sp>
      <p:sp>
        <p:nvSpPr>
          <p:cNvPr id="5" name="Text 2"/>
          <p:cNvSpPr txBox="1"/>
          <p:nvPr/>
        </p:nvSpPr>
        <p:spPr>
          <a:xfrm>
            <a:off x="457200" y="6492240"/>
            <a:ext cx="7315200" cy="274320"/>
          </a:xfrm>
          <a:prstGeom prst="rect">
            <a:avLst/>
          </a:prstGeom>
          <a:noFill/>
          <a:ln/>
        </p:spPr>
        <p:txBody>
          <a:bodyPr wrap="square" lIns="0" tIns="0" rIns="0" bIns="0" rtlCol="0" anchor="ctr"/>
          <a:lstStyle/>
          <a:p>
            <a:pPr algn="l" indent="0" marL="0">
              <a:buNone/>
            </a:pPr>
            <a:r>
              <a:rPr lang="en-US" sz="1000" dirty="0">
                <a:solidFill>
                  <a:srgbClr val="5C7378"/>
                </a:solidFill>
                <a:latin typeface="Arial" pitchFamily="34" charset="0"/>
                <a:ea typeface="Arial" pitchFamily="34" charset="-122"/>
                <a:cs typeface="Arial" pitchFamily="34" charset="-120"/>
              </a:rPr>
              <a:t>Phần 4 · AI cho từng ngành nghề</a:t>
            </a:r>
            <a:endParaRPr lang="en-US" sz="1000" dirty="0"/>
          </a:p>
        </p:txBody>
      </p:sp>
      <p:sp>
        <p:nvSpPr>
          <p:cNvPr id="6" name="Text 3"/>
          <p:cNvSpPr txBox="1"/>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C7378"/>
                </a:solidFill>
                <a:latin typeface="Arial" pitchFamily="34" charset="0"/>
                <a:ea typeface="Arial" pitchFamily="34" charset="-122"/>
                <a:cs typeface="Arial" pitchFamily="34" charset="-120"/>
              </a:rPr>
              <a:t>29</a:t>
            </a:r>
            <a:endParaRPr lang="en-US" sz="1000" dirty="0"/>
          </a:p>
        </p:txBody>
      </p:sp>
      <p:sp>
        <p:nvSpPr>
          <p:cNvPr id="7" name="Text 4"/>
          <p:cNvSpPr txBox="1"/>
          <p:nvPr/>
        </p:nvSpPr>
        <p:spPr>
          <a:xfrm>
            <a:off x="731520" y="1207008"/>
            <a:ext cx="10698480" cy="292608"/>
          </a:xfrm>
          <a:prstGeom prst="rect">
            <a:avLst/>
          </a:prstGeom>
          <a:noFill/>
          <a:ln/>
        </p:spPr>
        <p:txBody>
          <a:bodyPr wrap="square" lIns="0" tIns="0" rIns="0" bIns="0" rtlCol="0" anchor="ctr"/>
          <a:lstStyle/>
          <a:p>
            <a:pPr indent="0" marL="0">
              <a:buNone/>
            </a:pPr>
            <a:r>
              <a:rPr lang="en-US" sz="1250" b="1" spc="100" kern="0" dirty="0">
                <a:solidFill>
                  <a:srgbClr val="0B5257"/>
                </a:solidFill>
                <a:latin typeface="Arial" pitchFamily="34" charset="0"/>
                <a:ea typeface="Arial" pitchFamily="34" charset="-122"/>
                <a:cs typeface="Arial" pitchFamily="34" charset="-120"/>
              </a:rPr>
              <a:t>TÌNH HUỐNG THỰC TẾ</a:t>
            </a:r>
            <a:endParaRPr lang="en-US" sz="1250" dirty="0"/>
          </a:p>
        </p:txBody>
      </p:sp>
      <p:sp>
        <p:nvSpPr>
          <p:cNvPr id="8" name="Text 5"/>
          <p:cNvSpPr txBox="1"/>
          <p:nvPr/>
        </p:nvSpPr>
        <p:spPr>
          <a:xfrm>
            <a:off x="731520" y="1481328"/>
            <a:ext cx="10698480" cy="566928"/>
          </a:xfrm>
          <a:prstGeom prst="rect">
            <a:avLst/>
          </a:prstGeom>
          <a:noFill/>
          <a:ln/>
        </p:spPr>
        <p:txBody>
          <a:bodyPr wrap="square" lIns="0" tIns="0" rIns="0" bIns="0" rtlCol="0" anchor="ctr"/>
          <a:lstStyle/>
          <a:p>
            <a:pPr indent="0" marL="0">
              <a:lnSpc>
                <a:spcPts val="1800"/>
              </a:lnSpc>
              <a:buNone/>
            </a:pPr>
            <a:r>
              <a:rPr lang="en-US" sz="1400" i="1" dirty="0">
                <a:solidFill>
                  <a:srgbClr val="17282B"/>
                </a:solidFill>
                <a:latin typeface="Arial" pitchFamily="34" charset="0"/>
                <a:ea typeface="Arial" pitchFamily="34" charset="-122"/>
                <a:cs typeface="Arial" pitchFamily="34" charset="-120"/>
              </a:rPr>
              <a:t>Cần soạn nhanh 1 thông báo lịch nghỉ lễ Quốc khánh 2/9 gửi toàn thể cán bộ, nhân viên trong đơn vị.</a:t>
            </a:r>
            <a:endParaRPr lang="en-US" sz="1400" dirty="0"/>
          </a:p>
        </p:txBody>
      </p:sp>
      <p:sp>
        <p:nvSpPr>
          <p:cNvPr id="9" name="Shape 6"/>
          <p:cNvSpPr/>
          <p:nvPr/>
        </p:nvSpPr>
        <p:spPr>
          <a:xfrm>
            <a:off x="731520" y="2103120"/>
            <a:ext cx="10698480" cy="1143000"/>
          </a:xfrm>
          <a:prstGeom prst="roundRect">
            <a:avLst>
              <a:gd name="adj" fmla="val 7200"/>
            </a:avLst>
          </a:prstGeom>
          <a:solidFill>
            <a:srgbClr val="0B3B45"/>
          </a:solidFill>
          <a:ln/>
        </p:spPr>
      </p:sp>
      <p:sp>
        <p:nvSpPr>
          <p:cNvPr id="10" name="Shape 7"/>
          <p:cNvSpPr/>
          <p:nvPr/>
        </p:nvSpPr>
        <p:spPr>
          <a:xfrm>
            <a:off x="932688" y="2240280"/>
            <a:ext cx="384048" cy="384048"/>
          </a:xfrm>
          <a:prstGeom prst="ellipse">
            <a:avLst/>
          </a:prstGeom>
          <a:solidFill>
            <a:srgbClr val="F2A93B"/>
          </a:solidFill>
          <a:ln/>
        </p:spPr>
      </p:sp>
      <p:pic>
        <p:nvPicPr>
          <p:cNvPr id="11" name="Image 1" descr="/home/claude/aichuyendoiso2/assets/icons/message_0B3B45.png">    </p:cNvPr>
          <p:cNvPicPr>
            <a:picLocks noChangeAspect="1"/>
          </p:cNvPicPr>
          <p:nvPr/>
        </p:nvPicPr>
        <p:blipFill>
          <a:blip r:embed="rId3"/>
          <a:stretch>
            <a:fillRect/>
          </a:stretch>
        </p:blipFill>
        <p:spPr>
          <a:xfrm>
            <a:off x="1036381" y="2343973"/>
            <a:ext cx="176662" cy="176662"/>
          </a:xfrm>
          <a:prstGeom prst="rect">
            <a:avLst/>
          </a:prstGeom>
        </p:spPr>
      </p:pic>
      <p:sp>
        <p:nvSpPr>
          <p:cNvPr id="12" name="Text 8"/>
          <p:cNvSpPr txBox="1"/>
          <p:nvPr/>
        </p:nvSpPr>
        <p:spPr>
          <a:xfrm>
            <a:off x="1417320" y="2240280"/>
            <a:ext cx="4937760" cy="292608"/>
          </a:xfrm>
          <a:prstGeom prst="rect">
            <a:avLst/>
          </a:prstGeom>
          <a:noFill/>
          <a:ln/>
        </p:spPr>
        <p:txBody>
          <a:bodyPr wrap="square" lIns="0" tIns="0" rIns="0" bIns="0" rtlCol="0" anchor="ctr"/>
          <a:lstStyle/>
          <a:p>
            <a:pPr indent="0" marL="0">
              <a:buNone/>
            </a:pPr>
            <a:r>
              <a:rPr lang="en-US" sz="1150" b="1" spc="100" kern="0" dirty="0">
                <a:solidFill>
                  <a:srgbClr val="F2A93B"/>
                </a:solidFill>
                <a:latin typeface="Arial" pitchFamily="34" charset="0"/>
                <a:ea typeface="Arial" pitchFamily="34" charset="-122"/>
                <a:cs typeface="Arial" pitchFamily="34" charset="-120"/>
              </a:rPr>
              <a:t>PROMPT (CÂU LỆNH) MẪU</a:t>
            </a:r>
            <a:endParaRPr lang="en-US" sz="1150" dirty="0"/>
          </a:p>
        </p:txBody>
      </p:sp>
      <p:sp>
        <p:nvSpPr>
          <p:cNvPr id="13" name="Text 9"/>
          <p:cNvSpPr txBox="1"/>
          <p:nvPr/>
        </p:nvSpPr>
        <p:spPr>
          <a:xfrm>
            <a:off x="960120" y="2578608"/>
            <a:ext cx="10241280" cy="621792"/>
          </a:xfrm>
          <a:prstGeom prst="rect">
            <a:avLst/>
          </a:prstGeom>
          <a:noFill/>
          <a:ln/>
        </p:spPr>
        <p:txBody>
          <a:bodyPr wrap="square" lIns="0" tIns="0" rIns="0" bIns="0" rtlCol="0" anchor="t"/>
          <a:lstStyle/>
          <a:p>
            <a:pPr indent="0" marL="0">
              <a:lnSpc>
                <a:spcPts val="1600"/>
              </a:lnSpc>
              <a:buNone/>
            </a:pPr>
            <a:r>
              <a:rPr lang="en-US" sz="1300" i="1" dirty="0">
                <a:solidFill>
                  <a:srgbClr val="FFFFFF"/>
                </a:solidFill>
                <a:latin typeface="Arial" pitchFamily="34" charset="0"/>
                <a:ea typeface="Arial" pitchFamily="34" charset="-122"/>
                <a:cs typeface="Arial" pitchFamily="34" charset="-120"/>
              </a:rPr>
              <a:t>"Hãy soạn giúp tôi 1 thông báo nghỉ lễ Quốc khánh 2/9 cho toàn thể cán bộ nhân viên, đúng thể thức văn bản hành chính, ngắn gọn, nêu rõ thời gian nghỉ và ngày làm việc trở lại."</a:t>
            </a:r>
            <a:endParaRPr lang="en-US" sz="1300" dirty="0"/>
          </a:p>
        </p:txBody>
      </p:sp>
      <p:sp>
        <p:nvSpPr>
          <p:cNvPr id="14" name="Text 10"/>
          <p:cNvSpPr txBox="1"/>
          <p:nvPr/>
        </p:nvSpPr>
        <p:spPr>
          <a:xfrm>
            <a:off x="731520" y="3429000"/>
            <a:ext cx="10698480" cy="292608"/>
          </a:xfrm>
          <a:prstGeom prst="rect">
            <a:avLst/>
          </a:prstGeom>
          <a:noFill/>
          <a:ln/>
        </p:spPr>
        <p:txBody>
          <a:bodyPr wrap="square" lIns="0" tIns="0" rIns="0" bIns="0" rtlCol="0" anchor="ctr"/>
          <a:lstStyle/>
          <a:p>
            <a:pPr indent="0" marL="0">
              <a:buNone/>
            </a:pPr>
            <a:r>
              <a:rPr lang="en-US" sz="1250" b="1" spc="100" kern="0" dirty="0">
                <a:solidFill>
                  <a:srgbClr val="0B5257"/>
                </a:solidFill>
                <a:latin typeface="Arial" pitchFamily="34" charset="0"/>
                <a:ea typeface="Arial" pitchFamily="34" charset="-122"/>
                <a:cs typeface="Arial" pitchFamily="34" charset="-120"/>
              </a:rPr>
              <a:t>AI TRẢ LỜI (VÍ DỤ MINH HỌA)</a:t>
            </a:r>
            <a:endParaRPr lang="en-US" sz="1250" dirty="0"/>
          </a:p>
        </p:txBody>
      </p:sp>
      <p:sp>
        <p:nvSpPr>
          <p:cNvPr id="15" name="Shape 11"/>
          <p:cNvSpPr/>
          <p:nvPr/>
        </p:nvSpPr>
        <p:spPr>
          <a:xfrm>
            <a:off x="731520" y="3730752"/>
            <a:ext cx="10698480" cy="1417320"/>
          </a:xfrm>
          <a:prstGeom prst="roundRect">
            <a:avLst>
              <a:gd name="adj" fmla="val 6452"/>
            </a:avLst>
          </a:prstGeom>
          <a:solidFill>
            <a:srgbClr val="EEF5F5"/>
          </a:solidFill>
          <a:ln w="12700">
            <a:solidFill>
              <a:srgbClr val="D6E6E6"/>
            </a:solidFill>
            <a:prstDash val="solid"/>
          </a:ln>
        </p:spPr>
      </p:sp>
      <p:sp>
        <p:nvSpPr>
          <p:cNvPr id="16" name="Shape 12"/>
          <p:cNvSpPr/>
          <p:nvPr/>
        </p:nvSpPr>
        <p:spPr>
          <a:xfrm>
            <a:off x="932688" y="3895344"/>
            <a:ext cx="365760" cy="365760"/>
          </a:xfrm>
          <a:prstGeom prst="ellipse">
            <a:avLst/>
          </a:prstGeom>
          <a:solidFill>
            <a:srgbClr val="127C82"/>
          </a:solidFill>
          <a:ln/>
        </p:spPr>
      </p:sp>
      <p:pic>
        <p:nvPicPr>
          <p:cNvPr id="17" name="Image 2" descr="/home/claude/aichuyendoiso2/assets/icons/robot_FFFFFF.png">    </p:cNvPr>
          <p:cNvPicPr>
            <a:picLocks noChangeAspect="1"/>
          </p:cNvPicPr>
          <p:nvPr/>
        </p:nvPicPr>
        <p:blipFill>
          <a:blip r:embed="rId4"/>
          <a:stretch>
            <a:fillRect/>
          </a:stretch>
        </p:blipFill>
        <p:spPr>
          <a:xfrm>
            <a:off x="1031443" y="3994099"/>
            <a:ext cx="168250" cy="168250"/>
          </a:xfrm>
          <a:prstGeom prst="rect">
            <a:avLst/>
          </a:prstGeom>
        </p:spPr>
      </p:pic>
      <p:sp>
        <p:nvSpPr>
          <p:cNvPr id="18" name="Text 13"/>
          <p:cNvSpPr txBox="1"/>
          <p:nvPr/>
        </p:nvSpPr>
        <p:spPr>
          <a:xfrm>
            <a:off x="1481328" y="3877056"/>
            <a:ext cx="9738360" cy="1124712"/>
          </a:xfrm>
          <a:prstGeom prst="rect">
            <a:avLst/>
          </a:prstGeom>
          <a:noFill/>
          <a:ln/>
        </p:spPr>
        <p:txBody>
          <a:bodyPr wrap="square" lIns="0" tIns="0" rIns="0" bIns="0" rtlCol="0" anchor="t"/>
          <a:lstStyle/>
          <a:p>
            <a:pPr indent="0" marL="0">
              <a:lnSpc>
                <a:spcPts val="1700"/>
              </a:lnSpc>
              <a:buNone/>
            </a:pPr>
            <a:r>
              <a:rPr lang="en-US" sz="1250" dirty="0">
                <a:solidFill>
                  <a:srgbClr val="17282B"/>
                </a:solidFill>
                <a:latin typeface="Arial" pitchFamily="34" charset="0"/>
                <a:ea typeface="Arial" pitchFamily="34" charset="-122"/>
                <a:cs typeface="Arial" pitchFamily="34" charset="-120"/>
              </a:rPr>
              <a:t>THÔNG BÁO — V/v nghỉ lễ Quốc khánh 2/9</a:t>
            </a:r>
            <a:endParaRPr lang="en-US" sz="1250" dirty="0"/>
          </a:p>
          <a:p>
            <a:pPr indent="0" marL="0">
              <a:lnSpc>
                <a:spcPts val="1700"/>
              </a:lnSpc>
              <a:buNone/>
            </a:pPr>
            <a:r>
              <a:rPr lang="en-US" sz="1250" dirty="0">
                <a:solidFill>
                  <a:srgbClr val="17282B"/>
                </a:solidFill>
                <a:latin typeface="Arial" pitchFamily="34" charset="0"/>
                <a:ea typeface="Arial" pitchFamily="34" charset="-122"/>
                <a:cs typeface="Arial" pitchFamily="34" charset="-120"/>
              </a:rPr>
              <a:t>Kính gửi toàn thể cán bộ, nhân viên: Đơn vị thông báo nghỉ lễ Quốc khánh từ ngày 02/9 đến hết ngày 03/9, trở lại làm việc bình thường vào ngày 04/9. Đề nghị các bộ phận sắp xếp công việc phù hợp.</a:t>
            </a:r>
            <a:endParaRPr lang="en-US" sz="1250" dirty="0"/>
          </a:p>
          <a:p>
            <a:pPr indent="0" marL="0">
              <a:lnSpc>
                <a:spcPts val="1700"/>
              </a:lnSpc>
              <a:buNone/>
            </a:pPr>
            <a:r>
              <a:rPr lang="en-US" sz="1250" dirty="0">
                <a:solidFill>
                  <a:srgbClr val="17282B"/>
                </a:solidFill>
                <a:latin typeface="Arial" pitchFamily="34" charset="0"/>
                <a:ea typeface="Arial" pitchFamily="34" charset="-122"/>
                <a:cs typeface="Arial" pitchFamily="34" charset="-120"/>
              </a:rPr>
              <a:t>(Bản nháp — cần bổ sung quốc hiệu, số/ký hiệu văn bản đúng thể thức trước khi ban hành.)</a:t>
            </a:r>
            <a:endParaRPr lang="en-US" sz="1250" dirty="0"/>
          </a:p>
        </p:txBody>
      </p:sp>
      <p:sp>
        <p:nvSpPr>
          <p:cNvPr id="19" name="Shape 14"/>
          <p:cNvSpPr/>
          <p:nvPr/>
        </p:nvSpPr>
        <p:spPr>
          <a:xfrm>
            <a:off x="731520" y="5285232"/>
            <a:ext cx="10698480" cy="978408"/>
          </a:xfrm>
          <a:prstGeom prst="roundRect">
            <a:avLst>
              <a:gd name="adj" fmla="val 7477"/>
            </a:avLst>
          </a:prstGeom>
          <a:solidFill>
            <a:srgbClr val="FBEFE3"/>
          </a:solidFill>
          <a:ln w="12700">
            <a:solidFill>
              <a:srgbClr val="F0CFA0"/>
            </a:solidFill>
            <a:prstDash val="solid"/>
          </a:ln>
        </p:spPr>
      </p:sp>
      <p:sp>
        <p:nvSpPr>
          <p:cNvPr id="20" name="Shape 15"/>
          <p:cNvSpPr/>
          <p:nvPr/>
        </p:nvSpPr>
        <p:spPr>
          <a:xfrm>
            <a:off x="914400" y="5573268"/>
            <a:ext cx="402336" cy="402336"/>
          </a:xfrm>
          <a:prstGeom prst="ellipse">
            <a:avLst/>
          </a:prstGeom>
          <a:solidFill>
            <a:srgbClr val="F2A93B"/>
          </a:solidFill>
          <a:ln/>
        </p:spPr>
      </p:sp>
      <p:pic>
        <p:nvPicPr>
          <p:cNvPr id="21" name="Image 3" descr="/home/claude/aichuyendoiso2/assets/icons/triangleexclamation_0B3B45.png">    </p:cNvPr>
          <p:cNvPicPr>
            <a:picLocks noChangeAspect="1"/>
          </p:cNvPicPr>
          <p:nvPr/>
        </p:nvPicPr>
        <p:blipFill>
          <a:blip r:embed="rId5"/>
          <a:stretch>
            <a:fillRect/>
          </a:stretch>
        </p:blipFill>
        <p:spPr>
          <a:xfrm>
            <a:off x="1023031" y="5681899"/>
            <a:ext cx="185075" cy="185075"/>
          </a:xfrm>
          <a:prstGeom prst="rect">
            <a:avLst/>
          </a:prstGeom>
        </p:spPr>
      </p:pic>
      <p:sp>
        <p:nvSpPr>
          <p:cNvPr id="22" name="Text 16"/>
          <p:cNvSpPr txBox="1"/>
          <p:nvPr/>
        </p:nvSpPr>
        <p:spPr>
          <a:xfrm>
            <a:off x="1508760" y="5285232"/>
            <a:ext cx="9738360" cy="978408"/>
          </a:xfrm>
          <a:prstGeom prst="rect">
            <a:avLst/>
          </a:prstGeom>
          <a:noFill/>
          <a:ln/>
        </p:spPr>
        <p:txBody>
          <a:bodyPr wrap="square" lIns="0" tIns="0" rIns="0" bIns="0" rtlCol="0" anchor="ctr"/>
          <a:lstStyle/>
          <a:p>
            <a:pPr indent="0" marL="0">
              <a:lnSpc>
                <a:spcPts val="1500"/>
              </a:lnSpc>
              <a:buNone/>
            </a:pPr>
            <a:r>
              <a:rPr lang="en-US" sz="1250" i="1" dirty="0">
                <a:solidFill>
                  <a:srgbClr val="7A4A12"/>
                </a:solidFill>
                <a:latin typeface="Arial" pitchFamily="34" charset="0"/>
                <a:ea typeface="Arial" pitchFamily="34" charset="-122"/>
                <a:cs typeface="Arial" pitchFamily="34" charset="-120"/>
              </a:rPr>
              <a:t>AI chỉ soạn NHÁP ban đầu — vẫn phải kiểm tra lại đúng thể thức theo Nghị định 30/2020/NĐ-CP, xin ý kiến lãnh đạo trước khi ban hành chính thức.</a:t>
            </a:r>
            <a:endParaRPr lang="en-US" sz="1250" dirty="0"/>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347472"/>
            <a:ext cx="457200" cy="457200"/>
          </a:xfrm>
          <a:prstGeom prst="ellipse">
            <a:avLst/>
          </a:prstGeom>
          <a:solidFill>
            <a:srgbClr val="127C82"/>
          </a:solidFill>
          <a:ln/>
        </p:spPr>
      </p:sp>
      <p:pic>
        <p:nvPicPr>
          <p:cNvPr id="3" name="Image 0" descr="/home/claude/aichuyendoiso2/assets/icons/briefcase_FFFFFF.png">    </p:cNvPr>
          <p:cNvPicPr>
            <a:picLocks noChangeAspect="1"/>
          </p:cNvPicPr>
          <p:nvPr/>
        </p:nvPicPr>
        <p:blipFill>
          <a:blip r:embed="rId2"/>
          <a:stretch>
            <a:fillRect/>
          </a:stretch>
        </p:blipFill>
        <p:spPr>
          <a:xfrm>
            <a:off x="580644" y="470916"/>
            <a:ext cx="210312" cy="210312"/>
          </a:xfrm>
          <a:prstGeom prst="rect">
            <a:avLst/>
          </a:prstGeom>
        </p:spPr>
      </p:pic>
      <p:sp>
        <p:nvSpPr>
          <p:cNvPr id="4" name="Text 1"/>
          <p:cNvSpPr txBox="1"/>
          <p:nvPr/>
        </p:nvSpPr>
        <p:spPr>
          <a:xfrm>
            <a:off x="1051560" y="301752"/>
            <a:ext cx="10607040" cy="566928"/>
          </a:xfrm>
          <a:prstGeom prst="rect">
            <a:avLst/>
          </a:prstGeom>
          <a:noFill/>
          <a:ln/>
        </p:spPr>
        <p:txBody>
          <a:bodyPr wrap="square" lIns="0" tIns="0" rIns="0" bIns="0" rtlCol="0" anchor="ctr"/>
          <a:lstStyle/>
          <a:p>
            <a:pPr indent="0" marL="0">
              <a:buNone/>
            </a:pPr>
            <a:r>
              <a:rPr lang="en-US" sz="2600" b="1" dirty="0">
                <a:solidFill>
                  <a:srgbClr val="0B5257"/>
                </a:solidFill>
                <a:latin typeface="Arial" pitchFamily="34" charset="0"/>
                <a:ea typeface="Arial" pitchFamily="34" charset="-122"/>
                <a:cs typeface="Arial" pitchFamily="34" charset="-120"/>
              </a:rPr>
              <a:t>Bảng Tra Cứu Nhanh: Ứng Dụng AI Theo Ngành Nghề</a:t>
            </a:r>
            <a:endParaRPr lang="en-US" sz="2600" dirty="0"/>
          </a:p>
        </p:txBody>
      </p:sp>
      <p:sp>
        <p:nvSpPr>
          <p:cNvPr id="5" name="Text 2"/>
          <p:cNvSpPr txBox="1"/>
          <p:nvPr/>
        </p:nvSpPr>
        <p:spPr>
          <a:xfrm>
            <a:off x="457200" y="6492240"/>
            <a:ext cx="7315200" cy="274320"/>
          </a:xfrm>
          <a:prstGeom prst="rect">
            <a:avLst/>
          </a:prstGeom>
          <a:noFill/>
          <a:ln/>
        </p:spPr>
        <p:txBody>
          <a:bodyPr wrap="square" lIns="0" tIns="0" rIns="0" bIns="0" rtlCol="0" anchor="ctr"/>
          <a:lstStyle/>
          <a:p>
            <a:pPr algn="l" indent="0" marL="0">
              <a:buNone/>
            </a:pPr>
            <a:r>
              <a:rPr lang="en-US" sz="1000" dirty="0">
                <a:solidFill>
                  <a:srgbClr val="5C7378"/>
                </a:solidFill>
                <a:latin typeface="Arial" pitchFamily="34" charset="0"/>
                <a:ea typeface="Arial" pitchFamily="34" charset="-122"/>
                <a:cs typeface="Arial" pitchFamily="34" charset="-120"/>
              </a:rPr>
              <a:t>Phần 4 · AI cho từng ngành nghề</a:t>
            </a:r>
            <a:endParaRPr lang="en-US" sz="1000" dirty="0"/>
          </a:p>
        </p:txBody>
      </p:sp>
      <p:sp>
        <p:nvSpPr>
          <p:cNvPr id="6" name="Text 3"/>
          <p:cNvSpPr txBox="1"/>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C7378"/>
                </a:solidFill>
                <a:latin typeface="Arial" pitchFamily="34" charset="0"/>
                <a:ea typeface="Arial" pitchFamily="34" charset="-122"/>
                <a:cs typeface="Arial" pitchFamily="34" charset="-120"/>
              </a:rPr>
              <a:t>30</a:t>
            </a:r>
            <a:endParaRPr lang="en-US" sz="10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731520" y="1188720"/>
          <a:ext cx="10698480" cy="4800600"/>
        </p:xfrm>
        <a:graphic>
          <a:graphicData uri="http://schemas.openxmlformats.org/drawingml/2006/table">
            <a:tbl>
              <a:tblPr/>
              <a:tblGrid>
                <a:gridCol w="4206240"/>
                <a:gridCol w="6492240"/>
              </a:tblGrid>
              <a:tr h="594360">
                <a:tc>
                  <a:txBody>
                    <a:bodyPr/>
                    <a:lstStyle/>
                    <a:p>
                      <a:pPr algn="l" indent="0" marL="0">
                        <a:buNone/>
                      </a:pPr>
                      <a:r>
                        <a:rPr lang="en-US" sz="1300" b="1" dirty="0">
                          <a:solidFill>
                            <a:srgbClr val="FFFFFF"/>
                          </a:solidFill>
                          <a:latin typeface="Arial" pitchFamily="34" charset="0"/>
                          <a:ea typeface="Arial" pitchFamily="34" charset="-122"/>
                          <a:cs typeface="Arial" pitchFamily="34" charset="-120"/>
                        </a:rPr>
                        <a:t>Khối ngành (ngành cụ thể)</a:t>
                      </a:r>
                      <a:endParaRPr lang="en-US" sz="1300" dirty="0">
                        <a:latin typeface="Arial" charset="0"/>
                        <a:ea typeface="Arial" charset="0"/>
                        <a:cs typeface="Arial" charset="0"/>
                      </a:endParaRPr>
                    </a:p>
                  </a:txBody>
                  <a:tcPr marL="91440" marR="91440" marT="45720" marB="45720" anchor="ctr">
                    <a:lnL w="9525" cap="flat" cmpd="sng" algn="ctr">
                      <a:solidFill>
                        <a:srgbClr val="D6E6E6"/>
                      </a:solidFill>
                      <a:prstDash val="solid"/>
                      <a:round/>
                      <a:headEnd type="none" w="med" len="med"/>
                      <a:tailEnd type="none" w="med" len="med"/>
                    </a:lnL>
                    <a:lnR w="9525" cap="flat" cmpd="sng" algn="ctr">
                      <a:solidFill>
                        <a:srgbClr val="D6E6E6"/>
                      </a:solidFill>
                      <a:prstDash val="solid"/>
                      <a:round/>
                      <a:headEnd type="none" w="med" len="med"/>
                      <a:tailEnd type="none" w="med" len="med"/>
                    </a:lnR>
                    <a:lnT w="9525" cap="flat" cmpd="sng" algn="ctr">
                      <a:solidFill>
                        <a:srgbClr val="D6E6E6"/>
                      </a:solidFill>
                      <a:prstDash val="solid"/>
                      <a:round/>
                      <a:headEnd type="none" w="med" len="med"/>
                      <a:tailEnd type="none" w="med" len="med"/>
                    </a:lnT>
                    <a:lnB w="9525" cap="flat" cmpd="sng" algn="ctr">
                      <a:solidFill>
                        <a:srgbClr val="D6E6E6"/>
                      </a:solidFill>
                      <a:prstDash val="solid"/>
                      <a:round/>
                      <a:headEnd type="none" w="med" len="med"/>
                      <a:tailEnd type="none" w="med" len="med"/>
                    </a:lnB>
                    <a:solidFill>
                      <a:srgbClr val="127C82"/>
                    </a:solidFill>
                  </a:tcPr>
                </a:tc>
                <a:tc>
                  <a:txBody>
                    <a:bodyPr/>
                    <a:lstStyle/>
                    <a:p>
                      <a:pPr algn="l" indent="0" marL="0">
                        <a:buNone/>
                      </a:pPr>
                      <a:r>
                        <a:rPr lang="en-US" sz="1300" b="1" dirty="0">
                          <a:solidFill>
                            <a:srgbClr val="FFFFFF"/>
                          </a:solidFill>
                          <a:latin typeface="Arial" pitchFamily="34" charset="0"/>
                          <a:ea typeface="Arial" pitchFamily="34" charset="-122"/>
                          <a:cs typeface="Arial" pitchFamily="34" charset="-120"/>
                        </a:rPr>
                        <a:t>AI giúp được gì (tóm tắt)</a:t>
                      </a:r>
                      <a:endParaRPr lang="en-US" sz="1300" dirty="0">
                        <a:latin typeface="Arial" charset="0"/>
                        <a:ea typeface="Arial" charset="0"/>
                        <a:cs typeface="Arial" charset="0"/>
                      </a:endParaRPr>
                    </a:p>
                  </a:txBody>
                  <a:tcPr marL="91440" marR="91440" marT="45720" marB="45720" anchor="ctr">
                    <a:lnL w="9525" cap="flat" cmpd="sng" algn="ctr">
                      <a:solidFill>
                        <a:srgbClr val="D6E6E6"/>
                      </a:solidFill>
                      <a:prstDash val="solid"/>
                      <a:round/>
                      <a:headEnd type="none" w="med" len="med"/>
                      <a:tailEnd type="none" w="med" len="med"/>
                    </a:lnL>
                    <a:lnR w="9525" cap="flat" cmpd="sng" algn="ctr">
                      <a:solidFill>
                        <a:srgbClr val="D6E6E6"/>
                      </a:solidFill>
                      <a:prstDash val="solid"/>
                      <a:round/>
                      <a:headEnd type="none" w="med" len="med"/>
                      <a:tailEnd type="none" w="med" len="med"/>
                    </a:lnR>
                    <a:lnT w="9525" cap="flat" cmpd="sng" algn="ctr">
                      <a:solidFill>
                        <a:srgbClr val="D6E6E6"/>
                      </a:solidFill>
                      <a:prstDash val="solid"/>
                      <a:round/>
                      <a:headEnd type="none" w="med" len="med"/>
                      <a:tailEnd type="none" w="med" len="med"/>
                    </a:lnT>
                    <a:lnB w="9525" cap="flat" cmpd="sng" algn="ctr">
                      <a:solidFill>
                        <a:srgbClr val="D6E6E6"/>
                      </a:solidFill>
                      <a:prstDash val="solid"/>
                      <a:round/>
                      <a:headEnd type="none" w="med" len="med"/>
                      <a:tailEnd type="none" w="med" len="med"/>
                    </a:lnB>
                    <a:solidFill>
                      <a:srgbClr val="127C82"/>
                    </a:solidFill>
                  </a:tcPr>
                </a:tc>
              </a:tr>
              <a:tr h="1051560">
                <a:tc>
                  <a:txBody>
                    <a:bodyPr/>
                    <a:lstStyle/>
                    <a:p>
                      <a:pPr algn="l" indent="0" marL="0">
                        <a:buNone/>
                      </a:pPr>
                      <a:r>
                        <a:rPr lang="en-US" sz="1250" b="1" dirty="0">
                          <a:solidFill>
                            <a:srgbClr val="0B5257"/>
                          </a:solidFill>
                          <a:latin typeface="Arial" pitchFamily="34" charset="0"/>
                          <a:ea typeface="Arial" pitchFamily="34" charset="-122"/>
                          <a:cs typeface="Arial" pitchFamily="34" charset="-120"/>
                        </a:rPr>
                        <a:t>KỸ THUẬT – CÔNG NGHỆ</a:t>
                      </a:r>
                      <a:endParaRPr lang="en-US" sz="1250" dirty="0">
                        <a:latin typeface="Arial" charset="0"/>
                        <a:ea typeface="Arial" charset="0"/>
                        <a:cs typeface="Arial" charset="0"/>
                      </a:endParaRPr>
                    </a:p>
                    <a:p>
                      <a:pPr algn="l" indent="0" marL="0">
                        <a:buNone/>
                      </a:pPr>
                      <a:r>
                        <a:rPr lang="en-US" sz="1250" b="1" dirty="0">
                          <a:solidFill>
                            <a:srgbClr val="0B5257"/>
                          </a:solidFill>
                          <a:latin typeface="Arial" pitchFamily="34" charset="0"/>
                          <a:ea typeface="Arial" pitchFamily="34" charset="-122"/>
                          <a:cs typeface="Arial" pitchFamily="34" charset="-120"/>
                        </a:rPr>
                        <a:t>Điện, Ô tô, Hàn, Xây dựng, CNTT, Tin học</a:t>
                      </a:r>
                      <a:endParaRPr lang="en-US" sz="1250" dirty="0">
                        <a:latin typeface="Arial" charset="0"/>
                        <a:ea typeface="Arial" charset="0"/>
                        <a:cs typeface="Arial" charset="0"/>
                      </a:endParaRPr>
                    </a:p>
                  </a:txBody>
                  <a:tcPr marL="91440" marR="91440" marT="45720" marB="45720" anchor="ctr">
                    <a:lnL w="9525" cap="flat" cmpd="sng" algn="ctr">
                      <a:solidFill>
                        <a:srgbClr val="D6E6E6"/>
                      </a:solidFill>
                      <a:prstDash val="solid"/>
                      <a:round/>
                      <a:headEnd type="none" w="med" len="med"/>
                      <a:tailEnd type="none" w="med" len="med"/>
                    </a:lnL>
                    <a:lnR w="9525" cap="flat" cmpd="sng" algn="ctr">
                      <a:solidFill>
                        <a:srgbClr val="D6E6E6"/>
                      </a:solidFill>
                      <a:prstDash val="solid"/>
                      <a:round/>
                      <a:headEnd type="none" w="med" len="med"/>
                      <a:tailEnd type="none" w="med" len="med"/>
                    </a:lnR>
                    <a:lnT w="9525" cap="flat" cmpd="sng" algn="ctr">
                      <a:solidFill>
                        <a:srgbClr val="D6E6E6"/>
                      </a:solidFill>
                      <a:prstDash val="solid"/>
                      <a:round/>
                      <a:headEnd type="none" w="med" len="med"/>
                      <a:tailEnd type="none" w="med" len="med"/>
                    </a:lnT>
                    <a:lnB w="9525" cap="flat" cmpd="sng" algn="ctr">
                      <a:solidFill>
                        <a:srgbClr val="D6E6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7282B"/>
                          </a:solidFill>
                          <a:latin typeface="Arial" pitchFamily="34" charset="0"/>
                          <a:ea typeface="Arial" pitchFamily="34" charset="-122"/>
                          <a:cs typeface="Arial" pitchFamily="34" charset="-120"/>
                        </a:rPr>
                        <a:t>Tra lỗi máy, tính toán kỹ thuật, dịch tài liệu, hỗ trợ soạn thảo/code</a:t>
                      </a:r>
                      <a:endParaRPr lang="en-US" sz="1250" dirty="0">
                        <a:latin typeface="Arial" charset="0"/>
                        <a:ea typeface="Arial" charset="0"/>
                        <a:cs typeface="Arial" charset="0"/>
                      </a:endParaRPr>
                    </a:p>
                  </a:txBody>
                  <a:tcPr marL="91440" marR="91440" marT="45720" marB="45720" anchor="ctr">
                    <a:lnL w="9525" cap="flat" cmpd="sng" algn="ctr">
                      <a:solidFill>
                        <a:srgbClr val="D6E6E6"/>
                      </a:solidFill>
                      <a:prstDash val="solid"/>
                      <a:round/>
                      <a:headEnd type="none" w="med" len="med"/>
                      <a:tailEnd type="none" w="med" len="med"/>
                    </a:lnL>
                    <a:lnR w="9525" cap="flat" cmpd="sng" algn="ctr">
                      <a:solidFill>
                        <a:srgbClr val="D6E6E6"/>
                      </a:solidFill>
                      <a:prstDash val="solid"/>
                      <a:round/>
                      <a:headEnd type="none" w="med" len="med"/>
                      <a:tailEnd type="none" w="med" len="med"/>
                    </a:lnR>
                    <a:lnT w="9525" cap="flat" cmpd="sng" algn="ctr">
                      <a:solidFill>
                        <a:srgbClr val="D6E6E6"/>
                      </a:solidFill>
                      <a:prstDash val="solid"/>
                      <a:round/>
                      <a:headEnd type="none" w="med" len="med"/>
                      <a:tailEnd type="none" w="med" len="med"/>
                    </a:lnT>
                    <a:lnB w="9525" cap="flat" cmpd="sng" algn="ctr">
                      <a:solidFill>
                        <a:srgbClr val="D6E6E6"/>
                      </a:solidFill>
                      <a:prstDash val="solid"/>
                      <a:round/>
                      <a:headEnd type="none" w="med" len="med"/>
                      <a:tailEnd type="none" w="med" len="med"/>
                    </a:lnB>
                    <a:solidFill>
                      <a:srgbClr val="FFFFFF"/>
                    </a:solidFill>
                  </a:tcPr>
                </a:tc>
              </a:tr>
              <a:tr h="1051560">
                <a:tc>
                  <a:txBody>
                    <a:bodyPr/>
                    <a:lstStyle/>
                    <a:p>
                      <a:pPr algn="l" indent="0" marL="0">
                        <a:buNone/>
                      </a:pPr>
                      <a:r>
                        <a:rPr lang="en-US" sz="1250" b="1" dirty="0">
                          <a:solidFill>
                            <a:srgbClr val="0B5257"/>
                          </a:solidFill>
                          <a:latin typeface="Arial" pitchFamily="34" charset="0"/>
                          <a:ea typeface="Arial" pitchFamily="34" charset="-122"/>
                          <a:cs typeface="Arial" pitchFamily="34" charset="-120"/>
                        </a:rPr>
                        <a:t>NÔNG – LÂM – CHĂN NUÔI THÚ Y</a:t>
                      </a:r>
                      <a:endParaRPr lang="en-US" sz="1250" dirty="0">
                        <a:latin typeface="Arial" charset="0"/>
                        <a:ea typeface="Arial" charset="0"/>
                        <a:cs typeface="Arial" charset="0"/>
                      </a:endParaRPr>
                    </a:p>
                    <a:p>
                      <a:pPr algn="l" indent="0" marL="0">
                        <a:buNone/>
                      </a:pPr>
                      <a:r>
                        <a:rPr lang="en-US" sz="1250" b="1" dirty="0">
                          <a:solidFill>
                            <a:srgbClr val="0B5257"/>
                          </a:solidFill>
                          <a:latin typeface="Arial" pitchFamily="34" charset="0"/>
                          <a:ea typeface="Arial" pitchFamily="34" charset="-122"/>
                          <a:cs typeface="Arial" pitchFamily="34" charset="-120"/>
                        </a:rPr>
                        <a:t>Lâm sinh, Lâm nghiệp, Trồng trọt, Chăn nuôi – Thú y</a:t>
                      </a:r>
                      <a:endParaRPr lang="en-US" sz="1250" dirty="0">
                        <a:latin typeface="Arial" charset="0"/>
                        <a:ea typeface="Arial" charset="0"/>
                        <a:cs typeface="Arial" charset="0"/>
                      </a:endParaRPr>
                    </a:p>
                  </a:txBody>
                  <a:tcPr marL="91440" marR="91440" marT="45720" marB="45720" anchor="ctr">
                    <a:lnL w="9525" cap="flat" cmpd="sng" algn="ctr">
                      <a:solidFill>
                        <a:srgbClr val="D6E6E6"/>
                      </a:solidFill>
                      <a:prstDash val="solid"/>
                      <a:round/>
                      <a:headEnd type="none" w="med" len="med"/>
                      <a:tailEnd type="none" w="med" len="med"/>
                    </a:lnL>
                    <a:lnR w="9525" cap="flat" cmpd="sng" algn="ctr">
                      <a:solidFill>
                        <a:srgbClr val="D6E6E6"/>
                      </a:solidFill>
                      <a:prstDash val="solid"/>
                      <a:round/>
                      <a:headEnd type="none" w="med" len="med"/>
                      <a:tailEnd type="none" w="med" len="med"/>
                    </a:lnR>
                    <a:lnT w="9525" cap="flat" cmpd="sng" algn="ctr">
                      <a:solidFill>
                        <a:srgbClr val="D6E6E6"/>
                      </a:solidFill>
                      <a:prstDash val="solid"/>
                      <a:round/>
                      <a:headEnd type="none" w="med" len="med"/>
                      <a:tailEnd type="none" w="med" len="med"/>
                    </a:lnT>
                    <a:lnB w="9525" cap="flat" cmpd="sng" algn="ctr">
                      <a:solidFill>
                        <a:srgbClr val="D6E6E6"/>
                      </a:solidFill>
                      <a:prstDash val="solid"/>
                      <a:round/>
                      <a:headEnd type="none" w="med" len="med"/>
                      <a:tailEnd type="none" w="med" len="med"/>
                    </a:lnB>
                    <a:solidFill>
                      <a:srgbClr val="EEF5F5"/>
                    </a:solidFill>
                  </a:tcPr>
                </a:tc>
                <a:tc>
                  <a:txBody>
                    <a:bodyPr/>
                    <a:lstStyle/>
                    <a:p>
                      <a:pPr algn="l" indent="0" marL="0">
                        <a:buNone/>
                      </a:pPr>
                      <a:r>
                        <a:rPr lang="en-US" sz="1250" dirty="0">
                          <a:solidFill>
                            <a:srgbClr val="17282B"/>
                          </a:solidFill>
                          <a:latin typeface="Arial" pitchFamily="34" charset="0"/>
                          <a:ea typeface="Arial" pitchFamily="34" charset="-122"/>
                          <a:cs typeface="Arial" pitchFamily="34" charset="-120"/>
                        </a:rPr>
                        <a:t>Nhận diện sâu bệnh qua ảnh, tra kỹ thuật chăm sóc, tính khẩu phần</a:t>
                      </a:r>
                      <a:endParaRPr lang="en-US" sz="1250" dirty="0">
                        <a:latin typeface="Arial" charset="0"/>
                        <a:ea typeface="Arial" charset="0"/>
                        <a:cs typeface="Arial" charset="0"/>
                      </a:endParaRPr>
                    </a:p>
                  </a:txBody>
                  <a:tcPr marL="91440" marR="91440" marT="45720" marB="45720" anchor="ctr">
                    <a:lnL w="9525" cap="flat" cmpd="sng" algn="ctr">
                      <a:solidFill>
                        <a:srgbClr val="D6E6E6"/>
                      </a:solidFill>
                      <a:prstDash val="solid"/>
                      <a:round/>
                      <a:headEnd type="none" w="med" len="med"/>
                      <a:tailEnd type="none" w="med" len="med"/>
                    </a:lnL>
                    <a:lnR w="9525" cap="flat" cmpd="sng" algn="ctr">
                      <a:solidFill>
                        <a:srgbClr val="D6E6E6"/>
                      </a:solidFill>
                      <a:prstDash val="solid"/>
                      <a:round/>
                      <a:headEnd type="none" w="med" len="med"/>
                      <a:tailEnd type="none" w="med" len="med"/>
                    </a:lnR>
                    <a:lnT w="9525" cap="flat" cmpd="sng" algn="ctr">
                      <a:solidFill>
                        <a:srgbClr val="D6E6E6"/>
                      </a:solidFill>
                      <a:prstDash val="solid"/>
                      <a:round/>
                      <a:headEnd type="none" w="med" len="med"/>
                      <a:tailEnd type="none" w="med" len="med"/>
                    </a:lnT>
                    <a:lnB w="9525" cap="flat" cmpd="sng" algn="ctr">
                      <a:solidFill>
                        <a:srgbClr val="D6E6E6"/>
                      </a:solidFill>
                      <a:prstDash val="solid"/>
                      <a:round/>
                      <a:headEnd type="none" w="med" len="med"/>
                      <a:tailEnd type="none" w="med" len="med"/>
                    </a:lnB>
                    <a:solidFill>
                      <a:srgbClr val="EEF5F5"/>
                    </a:solidFill>
                  </a:tcPr>
                </a:tc>
              </a:tr>
              <a:tr h="1051560">
                <a:tc>
                  <a:txBody>
                    <a:bodyPr/>
                    <a:lstStyle/>
                    <a:p>
                      <a:pPr algn="l" indent="0" marL="0">
                        <a:buNone/>
                      </a:pPr>
                      <a:r>
                        <a:rPr lang="en-US" sz="1250" b="1" dirty="0">
                          <a:solidFill>
                            <a:srgbClr val="0B5257"/>
                          </a:solidFill>
                          <a:latin typeface="Arial" pitchFamily="34" charset="0"/>
                          <a:ea typeface="Arial" pitchFamily="34" charset="-122"/>
                          <a:cs typeface="Arial" pitchFamily="34" charset="-120"/>
                        </a:rPr>
                        <a:t>DỊCH VỤ – KINH DOANH – LÀM ĐẸP</a:t>
                      </a:r>
                      <a:endParaRPr lang="en-US" sz="1250" dirty="0">
                        <a:latin typeface="Arial" charset="0"/>
                        <a:ea typeface="Arial" charset="0"/>
                        <a:cs typeface="Arial" charset="0"/>
                      </a:endParaRPr>
                    </a:p>
                    <a:p>
                      <a:pPr algn="l" indent="0" marL="0">
                        <a:buNone/>
                      </a:pPr>
                      <a:r>
                        <a:rPr lang="en-US" sz="1250" b="1" dirty="0">
                          <a:solidFill>
                            <a:srgbClr val="0B5257"/>
                          </a:solidFill>
                          <a:latin typeface="Arial" pitchFamily="34" charset="0"/>
                          <a:ea typeface="Arial" pitchFamily="34" charset="-122"/>
                          <a:cs typeface="Arial" pitchFamily="34" charset="-120"/>
                        </a:rPr>
                        <a:t>Bán hàng, Nhà hàng – khách sạn, Du lịch, Chăm sóc sắc đẹp</a:t>
                      </a:r>
                      <a:endParaRPr lang="en-US" sz="1250" dirty="0">
                        <a:latin typeface="Arial" charset="0"/>
                        <a:ea typeface="Arial" charset="0"/>
                        <a:cs typeface="Arial" charset="0"/>
                      </a:endParaRPr>
                    </a:p>
                  </a:txBody>
                  <a:tcPr marL="91440" marR="91440" marT="45720" marB="45720" anchor="ctr">
                    <a:lnL w="9525" cap="flat" cmpd="sng" algn="ctr">
                      <a:solidFill>
                        <a:srgbClr val="D6E6E6"/>
                      </a:solidFill>
                      <a:prstDash val="solid"/>
                      <a:round/>
                      <a:headEnd type="none" w="med" len="med"/>
                      <a:tailEnd type="none" w="med" len="med"/>
                    </a:lnL>
                    <a:lnR w="9525" cap="flat" cmpd="sng" algn="ctr">
                      <a:solidFill>
                        <a:srgbClr val="D6E6E6"/>
                      </a:solidFill>
                      <a:prstDash val="solid"/>
                      <a:round/>
                      <a:headEnd type="none" w="med" len="med"/>
                      <a:tailEnd type="none" w="med" len="med"/>
                    </a:lnR>
                    <a:lnT w="9525" cap="flat" cmpd="sng" algn="ctr">
                      <a:solidFill>
                        <a:srgbClr val="D6E6E6"/>
                      </a:solidFill>
                      <a:prstDash val="solid"/>
                      <a:round/>
                      <a:headEnd type="none" w="med" len="med"/>
                      <a:tailEnd type="none" w="med" len="med"/>
                    </a:lnT>
                    <a:lnB w="9525" cap="flat" cmpd="sng" algn="ctr">
                      <a:solidFill>
                        <a:srgbClr val="D6E6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7282B"/>
                          </a:solidFill>
                          <a:latin typeface="Arial" pitchFamily="34" charset="0"/>
                          <a:ea typeface="Arial" pitchFamily="34" charset="-122"/>
                          <a:cs typeface="Arial" pitchFamily="34" charset="-120"/>
                        </a:rPr>
                        <a:t>Viết quảng cáo, tạo ảnh sản phẩm, dịch giao tiếp khách, gợi ý xu hướng</a:t>
                      </a:r>
                      <a:endParaRPr lang="en-US" sz="1250" dirty="0">
                        <a:latin typeface="Arial" charset="0"/>
                        <a:ea typeface="Arial" charset="0"/>
                        <a:cs typeface="Arial" charset="0"/>
                      </a:endParaRPr>
                    </a:p>
                  </a:txBody>
                  <a:tcPr marL="91440" marR="91440" marT="45720" marB="45720" anchor="ctr">
                    <a:lnL w="9525" cap="flat" cmpd="sng" algn="ctr">
                      <a:solidFill>
                        <a:srgbClr val="D6E6E6"/>
                      </a:solidFill>
                      <a:prstDash val="solid"/>
                      <a:round/>
                      <a:headEnd type="none" w="med" len="med"/>
                      <a:tailEnd type="none" w="med" len="med"/>
                    </a:lnL>
                    <a:lnR w="9525" cap="flat" cmpd="sng" algn="ctr">
                      <a:solidFill>
                        <a:srgbClr val="D6E6E6"/>
                      </a:solidFill>
                      <a:prstDash val="solid"/>
                      <a:round/>
                      <a:headEnd type="none" w="med" len="med"/>
                      <a:tailEnd type="none" w="med" len="med"/>
                    </a:lnR>
                    <a:lnT w="9525" cap="flat" cmpd="sng" algn="ctr">
                      <a:solidFill>
                        <a:srgbClr val="D6E6E6"/>
                      </a:solidFill>
                      <a:prstDash val="solid"/>
                      <a:round/>
                      <a:headEnd type="none" w="med" len="med"/>
                      <a:tailEnd type="none" w="med" len="med"/>
                    </a:lnT>
                    <a:lnB w="9525" cap="flat" cmpd="sng" algn="ctr">
                      <a:solidFill>
                        <a:srgbClr val="D6E6E6"/>
                      </a:solidFill>
                      <a:prstDash val="solid"/>
                      <a:round/>
                      <a:headEnd type="none" w="med" len="med"/>
                      <a:tailEnd type="none" w="med" len="med"/>
                    </a:lnB>
                    <a:solidFill>
                      <a:srgbClr val="FFFFFF"/>
                    </a:solidFill>
                  </a:tcPr>
                </a:tc>
              </a:tr>
              <a:tr h="1051560">
                <a:tc>
                  <a:txBody>
                    <a:bodyPr/>
                    <a:lstStyle/>
                    <a:p>
                      <a:pPr algn="l" indent="0" marL="0">
                        <a:buNone/>
                      </a:pPr>
                      <a:r>
                        <a:rPr lang="en-US" sz="1250" b="1" dirty="0">
                          <a:solidFill>
                            <a:srgbClr val="0B5257"/>
                          </a:solidFill>
                          <a:latin typeface="Arial" pitchFamily="34" charset="0"/>
                          <a:ea typeface="Arial" pitchFamily="34" charset="-122"/>
                          <a:cs typeface="Arial" pitchFamily="34" charset="-120"/>
                        </a:rPr>
                        <a:t>KINH TẾ – HÀNH CHÍNH – PHÁP LUẬT – XÃ HỘI</a:t>
                      </a:r>
                      <a:endParaRPr lang="en-US" sz="1250" dirty="0">
                        <a:latin typeface="Arial" charset="0"/>
                        <a:ea typeface="Arial" charset="0"/>
                        <a:cs typeface="Arial" charset="0"/>
                      </a:endParaRPr>
                    </a:p>
                    <a:p>
                      <a:pPr algn="l" indent="0" marL="0">
                        <a:buNone/>
                      </a:pPr>
                      <a:r>
                        <a:rPr lang="en-US" sz="1250" b="1" dirty="0">
                          <a:solidFill>
                            <a:srgbClr val="0B5257"/>
                          </a:solidFill>
                          <a:latin typeface="Arial" pitchFamily="34" charset="0"/>
                          <a:ea typeface="Arial" pitchFamily="34" charset="-122"/>
                          <a:cs typeface="Arial" pitchFamily="34" charset="-120"/>
                        </a:rPr>
                        <a:t>Kế toán, Hành chính văn phòng, Pháp luật, Công tác xã hội...</a:t>
                      </a:r>
                      <a:endParaRPr lang="en-US" sz="1250" dirty="0">
                        <a:latin typeface="Arial" charset="0"/>
                        <a:ea typeface="Arial" charset="0"/>
                        <a:cs typeface="Arial" charset="0"/>
                      </a:endParaRPr>
                    </a:p>
                  </a:txBody>
                  <a:tcPr marL="91440" marR="91440" marT="45720" marB="45720" anchor="ctr">
                    <a:lnL w="9525" cap="flat" cmpd="sng" algn="ctr">
                      <a:solidFill>
                        <a:srgbClr val="D6E6E6"/>
                      </a:solidFill>
                      <a:prstDash val="solid"/>
                      <a:round/>
                      <a:headEnd type="none" w="med" len="med"/>
                      <a:tailEnd type="none" w="med" len="med"/>
                    </a:lnL>
                    <a:lnR w="9525" cap="flat" cmpd="sng" algn="ctr">
                      <a:solidFill>
                        <a:srgbClr val="D6E6E6"/>
                      </a:solidFill>
                      <a:prstDash val="solid"/>
                      <a:round/>
                      <a:headEnd type="none" w="med" len="med"/>
                      <a:tailEnd type="none" w="med" len="med"/>
                    </a:lnR>
                    <a:lnT w="9525" cap="flat" cmpd="sng" algn="ctr">
                      <a:solidFill>
                        <a:srgbClr val="D6E6E6"/>
                      </a:solidFill>
                      <a:prstDash val="solid"/>
                      <a:round/>
                      <a:headEnd type="none" w="med" len="med"/>
                      <a:tailEnd type="none" w="med" len="med"/>
                    </a:lnT>
                    <a:lnB w="9525" cap="flat" cmpd="sng" algn="ctr">
                      <a:solidFill>
                        <a:srgbClr val="D6E6E6"/>
                      </a:solidFill>
                      <a:prstDash val="solid"/>
                      <a:round/>
                      <a:headEnd type="none" w="med" len="med"/>
                      <a:tailEnd type="none" w="med" len="med"/>
                    </a:lnB>
                    <a:solidFill>
                      <a:srgbClr val="EEF5F5"/>
                    </a:solidFill>
                  </a:tcPr>
                </a:tc>
                <a:tc>
                  <a:txBody>
                    <a:bodyPr/>
                    <a:lstStyle/>
                    <a:p>
                      <a:pPr algn="l" indent="0" marL="0">
                        <a:buNone/>
                      </a:pPr>
                      <a:r>
                        <a:rPr lang="en-US" sz="1250" dirty="0">
                          <a:solidFill>
                            <a:srgbClr val="17282B"/>
                          </a:solidFill>
                          <a:latin typeface="Arial" pitchFamily="34" charset="0"/>
                          <a:ea typeface="Arial" pitchFamily="34" charset="-122"/>
                          <a:cs typeface="Arial" pitchFamily="34" charset="-120"/>
                        </a:rPr>
                        <a:t>Soạn nháp văn bản, tính số liệu, tra cứu quy định, viết tuyên truyền</a:t>
                      </a:r>
                      <a:endParaRPr lang="en-US" sz="1250" dirty="0">
                        <a:latin typeface="Arial" charset="0"/>
                        <a:ea typeface="Arial" charset="0"/>
                        <a:cs typeface="Arial" charset="0"/>
                      </a:endParaRPr>
                    </a:p>
                  </a:txBody>
                  <a:tcPr marL="91440" marR="91440" marT="45720" marB="45720" anchor="ctr">
                    <a:lnL w="9525" cap="flat" cmpd="sng" algn="ctr">
                      <a:solidFill>
                        <a:srgbClr val="D6E6E6"/>
                      </a:solidFill>
                      <a:prstDash val="solid"/>
                      <a:round/>
                      <a:headEnd type="none" w="med" len="med"/>
                      <a:tailEnd type="none" w="med" len="med"/>
                    </a:lnL>
                    <a:lnR w="9525" cap="flat" cmpd="sng" algn="ctr">
                      <a:solidFill>
                        <a:srgbClr val="D6E6E6"/>
                      </a:solidFill>
                      <a:prstDash val="solid"/>
                      <a:round/>
                      <a:headEnd type="none" w="med" len="med"/>
                      <a:tailEnd type="none" w="med" len="med"/>
                    </a:lnR>
                    <a:lnT w="9525" cap="flat" cmpd="sng" algn="ctr">
                      <a:solidFill>
                        <a:srgbClr val="D6E6E6"/>
                      </a:solidFill>
                      <a:prstDash val="solid"/>
                      <a:round/>
                      <a:headEnd type="none" w="med" len="med"/>
                      <a:tailEnd type="none" w="med" len="med"/>
                    </a:lnT>
                    <a:lnB w="9525" cap="flat" cmpd="sng" algn="ctr">
                      <a:solidFill>
                        <a:srgbClr val="D6E6E6"/>
                      </a:solidFill>
                      <a:prstDash val="solid"/>
                      <a:round/>
                      <a:headEnd type="none" w="med" len="med"/>
                      <a:tailEnd type="none" w="med" len="med"/>
                    </a:lnB>
                    <a:solidFill>
                      <a:srgbClr val="EEF5F5"/>
                    </a:solidFill>
                  </a:tcPr>
                </a:tc>
              </a:tr>
            </a:tbl>
          </a:graphicData>
        </a:graphic>
      </p:graphicFrame>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347472"/>
            <a:ext cx="457200" cy="457200"/>
          </a:xfrm>
          <a:prstGeom prst="ellipse">
            <a:avLst/>
          </a:prstGeom>
          <a:solidFill>
            <a:srgbClr val="127C82"/>
          </a:solidFill>
          <a:ln/>
        </p:spPr>
      </p:sp>
      <p:pic>
        <p:nvPicPr>
          <p:cNvPr id="3" name="Image 0" descr="/home/claude/aichuyendoiso2/assets/icons/briefcase_FFFFFF.png">    </p:cNvPr>
          <p:cNvPicPr>
            <a:picLocks noChangeAspect="1"/>
          </p:cNvPicPr>
          <p:nvPr/>
        </p:nvPicPr>
        <p:blipFill>
          <a:blip r:embed="rId2"/>
          <a:stretch>
            <a:fillRect/>
          </a:stretch>
        </p:blipFill>
        <p:spPr>
          <a:xfrm>
            <a:off x="580644" y="470916"/>
            <a:ext cx="210312" cy="210312"/>
          </a:xfrm>
          <a:prstGeom prst="rect">
            <a:avLst/>
          </a:prstGeom>
        </p:spPr>
      </p:pic>
      <p:sp>
        <p:nvSpPr>
          <p:cNvPr id="4" name="Text 1"/>
          <p:cNvSpPr txBox="1"/>
          <p:nvPr/>
        </p:nvSpPr>
        <p:spPr>
          <a:xfrm>
            <a:off x="1051560" y="301752"/>
            <a:ext cx="10607040" cy="566928"/>
          </a:xfrm>
          <a:prstGeom prst="rect">
            <a:avLst/>
          </a:prstGeom>
          <a:noFill/>
          <a:ln/>
        </p:spPr>
        <p:txBody>
          <a:bodyPr wrap="square" lIns="0" tIns="0" rIns="0" bIns="0" rtlCol="0" anchor="ctr"/>
          <a:lstStyle/>
          <a:p>
            <a:pPr indent="0" marL="0">
              <a:buNone/>
            </a:pPr>
            <a:r>
              <a:rPr lang="en-US" sz="2600" b="1" dirty="0">
                <a:solidFill>
                  <a:srgbClr val="0B5257"/>
                </a:solidFill>
                <a:latin typeface="Arial" pitchFamily="34" charset="0"/>
                <a:ea typeface="Arial" pitchFamily="34" charset="-122"/>
                <a:cs typeface="Arial" pitchFamily="34" charset="-120"/>
              </a:rPr>
              <a:t>Hoạt Động Nhóm: Ứng Dụng AI Theo Ngành Nghề</a:t>
            </a:r>
            <a:endParaRPr lang="en-US" sz="2600" dirty="0"/>
          </a:p>
        </p:txBody>
      </p:sp>
      <p:sp>
        <p:nvSpPr>
          <p:cNvPr id="5" name="Text 2"/>
          <p:cNvSpPr txBox="1"/>
          <p:nvPr/>
        </p:nvSpPr>
        <p:spPr>
          <a:xfrm>
            <a:off x="457200" y="6492240"/>
            <a:ext cx="7315200" cy="274320"/>
          </a:xfrm>
          <a:prstGeom prst="rect">
            <a:avLst/>
          </a:prstGeom>
          <a:noFill/>
          <a:ln/>
        </p:spPr>
        <p:txBody>
          <a:bodyPr wrap="square" lIns="0" tIns="0" rIns="0" bIns="0" rtlCol="0" anchor="ctr"/>
          <a:lstStyle/>
          <a:p>
            <a:pPr algn="l" indent="0" marL="0">
              <a:buNone/>
            </a:pPr>
            <a:r>
              <a:rPr lang="en-US" sz="1000" dirty="0">
                <a:solidFill>
                  <a:srgbClr val="5C7378"/>
                </a:solidFill>
                <a:latin typeface="Arial" pitchFamily="34" charset="0"/>
                <a:ea typeface="Arial" pitchFamily="34" charset="-122"/>
                <a:cs typeface="Arial" pitchFamily="34" charset="-120"/>
              </a:rPr>
              <a:t>Phần 4 · AI cho từng ngành nghề</a:t>
            </a:r>
            <a:endParaRPr lang="en-US" sz="1000" dirty="0"/>
          </a:p>
        </p:txBody>
      </p:sp>
      <p:sp>
        <p:nvSpPr>
          <p:cNvPr id="6" name="Text 3"/>
          <p:cNvSpPr txBox="1"/>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C7378"/>
                </a:solidFill>
                <a:latin typeface="Arial" pitchFamily="34" charset="0"/>
                <a:ea typeface="Arial" pitchFamily="34" charset="-122"/>
                <a:cs typeface="Arial" pitchFamily="34" charset="-120"/>
              </a:rPr>
              <a:t>31</a:t>
            </a:r>
            <a:endParaRPr lang="en-US" sz="1000" dirty="0"/>
          </a:p>
        </p:txBody>
      </p:sp>
      <p:sp>
        <p:nvSpPr>
          <p:cNvPr id="7" name="Shape 4"/>
          <p:cNvSpPr/>
          <p:nvPr/>
        </p:nvSpPr>
        <p:spPr>
          <a:xfrm>
            <a:off x="731520" y="1188720"/>
            <a:ext cx="2148840" cy="502920"/>
          </a:xfrm>
          <a:prstGeom prst="roundRect">
            <a:avLst>
              <a:gd name="adj" fmla="val 50909"/>
            </a:avLst>
          </a:prstGeom>
          <a:solidFill>
            <a:srgbClr val="F2A93B"/>
          </a:solidFill>
          <a:ln/>
        </p:spPr>
      </p:sp>
      <p:pic>
        <p:nvPicPr>
          <p:cNvPr id="8" name="Image 1" descr="/home/claude/aichuyendoiso2/assets/icons/users_0B3B45.png">    </p:cNvPr>
          <p:cNvPicPr>
            <a:picLocks noChangeAspect="1"/>
          </p:cNvPicPr>
          <p:nvPr/>
        </p:nvPicPr>
        <p:blipFill>
          <a:blip r:embed="rId3"/>
          <a:stretch>
            <a:fillRect/>
          </a:stretch>
        </p:blipFill>
        <p:spPr>
          <a:xfrm>
            <a:off x="896112" y="1298448"/>
            <a:ext cx="292608" cy="292608"/>
          </a:xfrm>
          <a:prstGeom prst="rect">
            <a:avLst/>
          </a:prstGeom>
        </p:spPr>
      </p:pic>
      <p:sp>
        <p:nvSpPr>
          <p:cNvPr id="9" name="Text 5"/>
          <p:cNvSpPr txBox="1"/>
          <p:nvPr/>
        </p:nvSpPr>
        <p:spPr>
          <a:xfrm>
            <a:off x="1234440" y="1188720"/>
            <a:ext cx="1600200" cy="502920"/>
          </a:xfrm>
          <a:prstGeom prst="rect">
            <a:avLst/>
          </a:prstGeom>
          <a:noFill/>
          <a:ln/>
        </p:spPr>
        <p:txBody>
          <a:bodyPr wrap="square" lIns="0" tIns="0" rIns="0" bIns="0" rtlCol="0" anchor="ctr"/>
          <a:lstStyle/>
          <a:p>
            <a:pPr algn="ctr" indent="0" marL="0">
              <a:buNone/>
            </a:pPr>
            <a:r>
              <a:rPr lang="en-US" sz="1300" b="1" dirty="0">
                <a:solidFill>
                  <a:srgbClr val="0B3B45"/>
                </a:solidFill>
                <a:latin typeface="Arial" pitchFamily="34" charset="0"/>
                <a:ea typeface="Arial" pitchFamily="34" charset="-122"/>
                <a:cs typeface="Arial" pitchFamily="34" charset="-120"/>
              </a:rPr>
              <a:t>THẢO LUẬN</a:t>
            </a:r>
            <a:endParaRPr lang="en-US" sz="1300" dirty="0"/>
          </a:p>
        </p:txBody>
      </p:sp>
      <p:sp>
        <p:nvSpPr>
          <p:cNvPr id="10" name="Shape 6"/>
          <p:cNvSpPr/>
          <p:nvPr/>
        </p:nvSpPr>
        <p:spPr>
          <a:xfrm>
            <a:off x="731520" y="1965960"/>
            <a:ext cx="10698480" cy="685800"/>
          </a:xfrm>
          <a:prstGeom prst="roundRect">
            <a:avLst>
              <a:gd name="adj" fmla="val 10667"/>
            </a:avLst>
          </a:prstGeom>
          <a:solidFill>
            <a:srgbClr val="EEF5F5"/>
          </a:solidFill>
          <a:ln w="12700">
            <a:solidFill>
              <a:srgbClr val="D6E6E6"/>
            </a:solidFill>
            <a:prstDash val="solid"/>
          </a:ln>
        </p:spPr>
      </p:sp>
      <p:sp>
        <p:nvSpPr>
          <p:cNvPr id="11" name="Text 7"/>
          <p:cNvSpPr txBox="1"/>
          <p:nvPr/>
        </p:nvSpPr>
        <p:spPr>
          <a:xfrm>
            <a:off x="960120" y="2039112"/>
            <a:ext cx="10241280" cy="539496"/>
          </a:xfrm>
          <a:prstGeom prst="rect">
            <a:avLst/>
          </a:prstGeom>
          <a:noFill/>
          <a:ln/>
        </p:spPr>
        <p:txBody>
          <a:bodyPr wrap="square" lIns="0" tIns="0" rIns="0" bIns="0" rtlCol="0" anchor="ctr"/>
          <a:lstStyle/>
          <a:p>
            <a:pPr marL="342900" indent="-342900">
              <a:lnSpc>
                <a:spcPts val="1800"/>
              </a:lnSpc>
              <a:buSzPct val="100000"/>
              <a:buChar char="●"/>
            </a:pPr>
            <a:r>
              <a:rPr lang="en-US" sz="1450" dirty="0">
                <a:solidFill>
                  <a:srgbClr val="17282B"/>
                </a:solidFill>
                <a:latin typeface="Arial" pitchFamily="34" charset="0"/>
                <a:ea typeface="Arial" pitchFamily="34" charset="-122"/>
                <a:cs typeface="Arial" pitchFamily="34" charset="-120"/>
              </a:rPr>
              <a:t>Chia nhóm 3-5 học sinh theo ngành đang học (hoặc theo bàn ngồi gần nhau).</a:t>
            </a:r>
            <a:endParaRPr lang="en-US" sz="1450" dirty="0"/>
          </a:p>
        </p:txBody>
      </p:sp>
      <p:sp>
        <p:nvSpPr>
          <p:cNvPr id="12" name="Shape 8"/>
          <p:cNvSpPr/>
          <p:nvPr/>
        </p:nvSpPr>
        <p:spPr>
          <a:xfrm>
            <a:off x="731520" y="2880360"/>
            <a:ext cx="10698480" cy="685800"/>
          </a:xfrm>
          <a:prstGeom prst="roundRect">
            <a:avLst>
              <a:gd name="adj" fmla="val 10667"/>
            </a:avLst>
          </a:prstGeom>
          <a:solidFill>
            <a:srgbClr val="EEF5F5"/>
          </a:solidFill>
          <a:ln w="12700">
            <a:solidFill>
              <a:srgbClr val="D6E6E6"/>
            </a:solidFill>
            <a:prstDash val="solid"/>
          </a:ln>
        </p:spPr>
      </p:sp>
      <p:sp>
        <p:nvSpPr>
          <p:cNvPr id="13" name="Text 9"/>
          <p:cNvSpPr txBox="1"/>
          <p:nvPr/>
        </p:nvSpPr>
        <p:spPr>
          <a:xfrm>
            <a:off x="960120" y="2953512"/>
            <a:ext cx="10241280" cy="539496"/>
          </a:xfrm>
          <a:prstGeom prst="rect">
            <a:avLst/>
          </a:prstGeom>
          <a:noFill/>
          <a:ln/>
        </p:spPr>
        <p:txBody>
          <a:bodyPr wrap="square" lIns="0" tIns="0" rIns="0" bIns="0" rtlCol="0" anchor="ctr"/>
          <a:lstStyle/>
          <a:p>
            <a:pPr marL="342900" indent="-342900">
              <a:lnSpc>
                <a:spcPts val="1800"/>
              </a:lnSpc>
              <a:buSzPct val="100000"/>
              <a:buChar char="●"/>
            </a:pPr>
            <a:r>
              <a:rPr lang="en-US" sz="1450" dirty="0">
                <a:solidFill>
                  <a:srgbClr val="17282B"/>
                </a:solidFill>
                <a:latin typeface="Arial" pitchFamily="34" charset="0"/>
                <a:ea typeface="Arial" pitchFamily="34" charset="-122"/>
                <a:cs typeface="Arial" pitchFamily="34" charset="-120"/>
              </a:rPr>
              <a:t>Mỗi nhóm nêu 1 ví dụ CỤ THỂ: AI có thể giúp gì trong công việc của ngành mình?</a:t>
            </a:r>
            <a:endParaRPr lang="en-US" sz="1450" dirty="0"/>
          </a:p>
        </p:txBody>
      </p:sp>
      <p:sp>
        <p:nvSpPr>
          <p:cNvPr id="14" name="Shape 10"/>
          <p:cNvSpPr/>
          <p:nvPr/>
        </p:nvSpPr>
        <p:spPr>
          <a:xfrm>
            <a:off x="731520" y="3794760"/>
            <a:ext cx="10698480" cy="685800"/>
          </a:xfrm>
          <a:prstGeom prst="roundRect">
            <a:avLst>
              <a:gd name="adj" fmla="val 10667"/>
            </a:avLst>
          </a:prstGeom>
          <a:solidFill>
            <a:srgbClr val="EEF5F5"/>
          </a:solidFill>
          <a:ln w="12700">
            <a:solidFill>
              <a:srgbClr val="D6E6E6"/>
            </a:solidFill>
            <a:prstDash val="solid"/>
          </a:ln>
        </p:spPr>
      </p:sp>
      <p:sp>
        <p:nvSpPr>
          <p:cNvPr id="15" name="Text 11"/>
          <p:cNvSpPr txBox="1"/>
          <p:nvPr/>
        </p:nvSpPr>
        <p:spPr>
          <a:xfrm>
            <a:off x="960120" y="3867912"/>
            <a:ext cx="10241280" cy="539496"/>
          </a:xfrm>
          <a:prstGeom prst="rect">
            <a:avLst/>
          </a:prstGeom>
          <a:noFill/>
          <a:ln/>
        </p:spPr>
        <p:txBody>
          <a:bodyPr wrap="square" lIns="0" tIns="0" rIns="0" bIns="0" rtlCol="0" anchor="ctr"/>
          <a:lstStyle/>
          <a:p>
            <a:pPr marL="342900" indent="-342900">
              <a:lnSpc>
                <a:spcPts val="1800"/>
              </a:lnSpc>
              <a:buSzPct val="100000"/>
              <a:buChar char="●"/>
            </a:pPr>
            <a:r>
              <a:rPr lang="en-US" sz="1450" dirty="0">
                <a:solidFill>
                  <a:srgbClr val="17282B"/>
                </a:solidFill>
                <a:latin typeface="Arial" pitchFamily="34" charset="0"/>
                <a:ea typeface="Arial" pitchFamily="34" charset="-122"/>
                <a:cs typeface="Arial" pitchFamily="34" charset="-120"/>
              </a:rPr>
              <a:t>Đại diện 2–3 nhóm chia sẻ trước lớp trong 1 phút.</a:t>
            </a:r>
            <a:endParaRPr lang="en-US" sz="1450" dirty="0"/>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778240" y="-2011680"/>
            <a:ext cx="5486400" cy="5486400"/>
          </a:xfrm>
          <a:prstGeom prst="ellipse">
            <a:avLst/>
          </a:prstGeom>
          <a:solidFill>
            <a:srgbClr val="0F4B54"/>
          </a:solidFill>
          <a:ln/>
        </p:spPr>
      </p:sp>
      <p:sp>
        <p:nvSpPr>
          <p:cNvPr id="3" name="Text 1"/>
          <p:cNvSpPr txBox="1"/>
          <p:nvPr/>
        </p:nvSpPr>
        <p:spPr>
          <a:xfrm>
            <a:off x="640080" y="1051560"/>
            <a:ext cx="3840480" cy="2377440"/>
          </a:xfrm>
          <a:prstGeom prst="rect">
            <a:avLst/>
          </a:prstGeom>
          <a:noFill/>
          <a:ln/>
        </p:spPr>
        <p:txBody>
          <a:bodyPr wrap="square" lIns="0" tIns="0" rIns="0" bIns="0" rtlCol="0" anchor="ctr"/>
          <a:lstStyle/>
          <a:p>
            <a:pPr indent="0" marL="0">
              <a:buNone/>
            </a:pPr>
            <a:r>
              <a:rPr lang="en-US" sz="13000" b="1" dirty="0">
                <a:solidFill>
                  <a:srgbClr val="155A61"/>
                </a:solidFill>
                <a:latin typeface="Arial" pitchFamily="34" charset="0"/>
                <a:ea typeface="Arial" pitchFamily="34" charset="-122"/>
                <a:cs typeface="Arial" pitchFamily="34" charset="-120"/>
              </a:rPr>
              <a:t>05</a:t>
            </a:r>
            <a:endParaRPr lang="en-US" sz="13000" dirty="0"/>
          </a:p>
        </p:txBody>
      </p:sp>
      <p:sp>
        <p:nvSpPr>
          <p:cNvPr id="4" name="Shape 2"/>
          <p:cNvSpPr/>
          <p:nvPr/>
        </p:nvSpPr>
        <p:spPr>
          <a:xfrm>
            <a:off x="9738360" y="502920"/>
            <a:ext cx="1371600" cy="1371600"/>
          </a:xfrm>
          <a:prstGeom prst="ellipse">
            <a:avLst/>
          </a:prstGeom>
          <a:solidFill>
            <a:srgbClr val="F2A93B"/>
          </a:solidFill>
          <a:ln/>
        </p:spPr>
      </p:sp>
      <p:pic>
        <p:nvPicPr>
          <p:cNvPr id="5" name="Image 0" descr="/home/claude/aichuyendoiso2/assets/icons/shield_0B3B45.png">    </p:cNvPr>
          <p:cNvPicPr>
            <a:picLocks noChangeAspect="1"/>
          </p:cNvPicPr>
          <p:nvPr/>
        </p:nvPicPr>
        <p:blipFill>
          <a:blip r:embed="rId2"/>
          <a:stretch>
            <a:fillRect/>
          </a:stretch>
        </p:blipFill>
        <p:spPr>
          <a:xfrm>
            <a:off x="10108692" y="873252"/>
            <a:ext cx="630936" cy="630936"/>
          </a:xfrm>
          <a:prstGeom prst="rect">
            <a:avLst/>
          </a:prstGeom>
        </p:spPr>
      </p:pic>
      <p:sp>
        <p:nvSpPr>
          <p:cNvPr id="6" name="Text 3"/>
          <p:cNvSpPr txBox="1"/>
          <p:nvPr/>
        </p:nvSpPr>
        <p:spPr>
          <a:xfrm>
            <a:off x="777240" y="3246120"/>
            <a:ext cx="10241280" cy="1463040"/>
          </a:xfrm>
          <a:prstGeom prst="rect">
            <a:avLst/>
          </a:prstGeom>
          <a:noFill/>
          <a:ln/>
        </p:spPr>
        <p:txBody>
          <a:bodyPr wrap="square" lIns="0" tIns="0" rIns="0" bIns="0" rtlCol="0" anchor="ctr"/>
          <a:lstStyle/>
          <a:p>
            <a:pPr indent="0" marL="0">
              <a:lnSpc>
                <a:spcPts val="4000"/>
              </a:lnSpc>
              <a:buNone/>
            </a:pPr>
            <a:r>
              <a:rPr lang="en-US" sz="3600" b="1" dirty="0">
                <a:solidFill>
                  <a:srgbClr val="FFFFFF"/>
                </a:solidFill>
                <a:latin typeface="Arial" pitchFamily="34" charset="0"/>
                <a:ea typeface="Arial" pitchFamily="34" charset="-122"/>
                <a:cs typeface="Arial" pitchFamily="34" charset="-120"/>
              </a:rPr>
              <a:t>DÙNG AI AN TOÀN,</a:t>
            </a:r>
            <a:endParaRPr lang="en-US" sz="3600" dirty="0"/>
          </a:p>
          <a:p>
            <a:pPr indent="0" marL="0">
              <a:lnSpc>
                <a:spcPts val="4000"/>
              </a:lnSpc>
              <a:buNone/>
            </a:pPr>
            <a:r>
              <a:rPr lang="en-US" sz="3600" b="1" dirty="0">
                <a:solidFill>
                  <a:srgbClr val="FFFFFF"/>
                </a:solidFill>
                <a:latin typeface="Arial" pitchFamily="34" charset="0"/>
                <a:ea typeface="Arial" pitchFamily="34" charset="-122"/>
                <a:cs typeface="Arial" pitchFamily="34" charset="-120"/>
              </a:rPr>
              <a:t>ĐÚNG CÁCH</a:t>
            </a:r>
            <a:endParaRPr lang="en-US" sz="3600" dirty="0"/>
          </a:p>
        </p:txBody>
      </p:sp>
      <p:sp>
        <p:nvSpPr>
          <p:cNvPr id="7" name="Text 4"/>
          <p:cNvSpPr txBox="1"/>
          <p:nvPr/>
        </p:nvSpPr>
        <p:spPr>
          <a:xfrm>
            <a:off x="822960" y="4526280"/>
            <a:ext cx="9875520" cy="548640"/>
          </a:xfrm>
          <a:prstGeom prst="rect">
            <a:avLst/>
          </a:prstGeom>
          <a:noFill/>
          <a:ln/>
        </p:spPr>
        <p:txBody>
          <a:bodyPr wrap="square" lIns="0" tIns="0" rIns="0" bIns="0" rtlCol="0" anchor="ctr"/>
          <a:lstStyle/>
          <a:p>
            <a:pPr indent="0" marL="0">
              <a:buNone/>
            </a:pPr>
            <a:r>
              <a:rPr lang="en-US" sz="1600" b="1" dirty="0">
                <a:solidFill>
                  <a:srgbClr val="F2A93B"/>
                </a:solidFill>
                <a:latin typeface="Arial" pitchFamily="34" charset="0"/>
                <a:ea typeface="Arial" pitchFamily="34" charset="-122"/>
                <a:cs typeface="Arial" pitchFamily="34" charset="-120"/>
              </a:rPr>
              <a:t>Ba nguyên tắc bắt buộc phải nhớ</a:t>
            </a:r>
            <a:endParaRPr lang="en-US" sz="1600" dirty="0"/>
          </a:p>
        </p:txBody>
      </p:sp>
      <p:sp>
        <p:nvSpPr>
          <p:cNvPr id="8" name="Text 5"/>
          <p:cNvSpPr txBox="1"/>
          <p:nvPr/>
        </p:nvSpPr>
        <p:spPr>
          <a:xfrm>
            <a:off x="457200" y="6492240"/>
            <a:ext cx="7315200" cy="274320"/>
          </a:xfrm>
          <a:prstGeom prst="rect">
            <a:avLst/>
          </a:prstGeom>
          <a:noFill/>
          <a:ln/>
        </p:spPr>
        <p:txBody>
          <a:bodyPr wrap="square" lIns="0" tIns="0" rIns="0" bIns="0" rtlCol="0" anchor="ctr"/>
          <a:lstStyle/>
          <a:p>
            <a:pPr algn="l" indent="0" marL="0">
              <a:buNone/>
            </a:pPr>
            <a:r>
              <a:rPr lang="en-US" sz="1000" dirty="0">
                <a:solidFill>
                  <a:srgbClr val="9FC2C6"/>
                </a:solidFill>
                <a:latin typeface="Arial" pitchFamily="34" charset="0"/>
                <a:ea typeface="Arial" pitchFamily="34" charset="-122"/>
                <a:cs typeface="Arial" pitchFamily="34" charset="-120"/>
              </a:rPr>
              <a:t>Chuyên đề: AI và chuyển đổi số</a:t>
            </a:r>
            <a:endParaRPr lang="en-US" sz="1000" dirty="0"/>
          </a:p>
        </p:txBody>
      </p:sp>
      <p:sp>
        <p:nvSpPr>
          <p:cNvPr id="9" name="Text 6"/>
          <p:cNvSpPr txBox="1"/>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9FC2C6"/>
                </a:solidFill>
                <a:latin typeface="Arial" pitchFamily="34" charset="0"/>
                <a:ea typeface="Arial" pitchFamily="34" charset="-122"/>
                <a:cs typeface="Arial" pitchFamily="34" charset="-120"/>
              </a:rPr>
              <a:t>32</a:t>
            </a:r>
            <a:endParaRPr lang="en-US" sz="1000" dirty="0"/>
          </a:p>
        </p:txBody>
      </p:sp>
    </p:spTree>
  </p:cSld>
  <p:clrMapOvr>
    <a:masterClrMapping/>
  </p:clrMapOvr>
  <p:transition spd="med">
    <p:push dir="l"/>
  </p:transition>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347472"/>
            <a:ext cx="457200" cy="457200"/>
          </a:xfrm>
          <a:prstGeom prst="ellipse">
            <a:avLst/>
          </a:prstGeom>
          <a:solidFill>
            <a:srgbClr val="127C82"/>
          </a:solidFill>
          <a:ln/>
        </p:spPr>
      </p:sp>
      <p:pic>
        <p:nvPicPr>
          <p:cNvPr id="3" name="Image 0" descr="/home/claude/aichuyendoiso2/assets/icons/shield_FFFFFF.png">    </p:cNvPr>
          <p:cNvPicPr>
            <a:picLocks noChangeAspect="1"/>
          </p:cNvPicPr>
          <p:nvPr/>
        </p:nvPicPr>
        <p:blipFill>
          <a:blip r:embed="rId2"/>
          <a:stretch>
            <a:fillRect/>
          </a:stretch>
        </p:blipFill>
        <p:spPr>
          <a:xfrm>
            <a:off x="580644" y="470916"/>
            <a:ext cx="210312" cy="210312"/>
          </a:xfrm>
          <a:prstGeom prst="rect">
            <a:avLst/>
          </a:prstGeom>
        </p:spPr>
      </p:pic>
      <p:sp>
        <p:nvSpPr>
          <p:cNvPr id="4" name="Text 1"/>
          <p:cNvSpPr txBox="1"/>
          <p:nvPr/>
        </p:nvSpPr>
        <p:spPr>
          <a:xfrm>
            <a:off x="1051560" y="301752"/>
            <a:ext cx="10607040" cy="566928"/>
          </a:xfrm>
          <a:prstGeom prst="rect">
            <a:avLst/>
          </a:prstGeom>
          <a:noFill/>
          <a:ln/>
        </p:spPr>
        <p:txBody>
          <a:bodyPr wrap="square" lIns="0" tIns="0" rIns="0" bIns="0" rtlCol="0" anchor="ctr"/>
          <a:lstStyle/>
          <a:p>
            <a:pPr indent="0" marL="0">
              <a:buNone/>
            </a:pPr>
            <a:r>
              <a:rPr lang="en-US" sz="2600" b="1" dirty="0">
                <a:solidFill>
                  <a:srgbClr val="0B5257"/>
                </a:solidFill>
                <a:latin typeface="Arial" pitchFamily="34" charset="0"/>
                <a:ea typeface="Arial" pitchFamily="34" charset="-122"/>
                <a:cs typeface="Arial" pitchFamily="34" charset="-120"/>
              </a:rPr>
              <a:t>Ba Nguyên Tắc Bắt Buộc Khi Sử Dụng AI</a:t>
            </a:r>
            <a:endParaRPr lang="en-US" sz="2600" dirty="0"/>
          </a:p>
        </p:txBody>
      </p:sp>
      <p:sp>
        <p:nvSpPr>
          <p:cNvPr id="5" name="Text 2"/>
          <p:cNvSpPr txBox="1"/>
          <p:nvPr/>
        </p:nvSpPr>
        <p:spPr>
          <a:xfrm>
            <a:off x="457200" y="6492240"/>
            <a:ext cx="7315200" cy="274320"/>
          </a:xfrm>
          <a:prstGeom prst="rect">
            <a:avLst/>
          </a:prstGeom>
          <a:noFill/>
          <a:ln/>
        </p:spPr>
        <p:txBody>
          <a:bodyPr wrap="square" lIns="0" tIns="0" rIns="0" bIns="0" rtlCol="0" anchor="ctr"/>
          <a:lstStyle/>
          <a:p>
            <a:pPr algn="l" indent="0" marL="0">
              <a:buNone/>
            </a:pPr>
            <a:r>
              <a:rPr lang="en-US" sz="1000" dirty="0">
                <a:solidFill>
                  <a:srgbClr val="5C7378"/>
                </a:solidFill>
                <a:latin typeface="Arial" pitchFamily="34" charset="0"/>
                <a:ea typeface="Arial" pitchFamily="34" charset="-122"/>
                <a:cs typeface="Arial" pitchFamily="34" charset="-120"/>
              </a:rPr>
              <a:t>Phần 5 · Dùng AI an toàn</a:t>
            </a:r>
            <a:endParaRPr lang="en-US" sz="1000" dirty="0"/>
          </a:p>
        </p:txBody>
      </p:sp>
      <p:sp>
        <p:nvSpPr>
          <p:cNvPr id="6" name="Text 3"/>
          <p:cNvSpPr txBox="1"/>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C7378"/>
                </a:solidFill>
                <a:latin typeface="Arial" pitchFamily="34" charset="0"/>
                <a:ea typeface="Arial" pitchFamily="34" charset="-122"/>
                <a:cs typeface="Arial" pitchFamily="34" charset="-120"/>
              </a:rPr>
              <a:t>33</a:t>
            </a:r>
            <a:endParaRPr lang="en-US" sz="1000" dirty="0"/>
          </a:p>
        </p:txBody>
      </p:sp>
      <p:sp>
        <p:nvSpPr>
          <p:cNvPr id="7" name="Shape 4"/>
          <p:cNvSpPr/>
          <p:nvPr/>
        </p:nvSpPr>
        <p:spPr>
          <a:xfrm>
            <a:off x="731520" y="1335024"/>
            <a:ext cx="10698480" cy="1414272"/>
          </a:xfrm>
          <a:prstGeom prst="roundRect">
            <a:avLst>
              <a:gd name="adj" fmla="val 5172"/>
            </a:avLst>
          </a:prstGeom>
          <a:solidFill>
            <a:srgbClr val="FBEFE3"/>
          </a:solidFill>
          <a:ln w="12700">
            <a:solidFill>
              <a:srgbClr val="F0CFA0"/>
            </a:solidFill>
            <a:prstDash val="solid"/>
          </a:ln>
        </p:spPr>
      </p:sp>
      <p:sp>
        <p:nvSpPr>
          <p:cNvPr id="8" name="Shape 5"/>
          <p:cNvSpPr/>
          <p:nvPr/>
        </p:nvSpPr>
        <p:spPr>
          <a:xfrm>
            <a:off x="960120" y="1776984"/>
            <a:ext cx="512064" cy="512064"/>
          </a:xfrm>
          <a:prstGeom prst="ellipse">
            <a:avLst/>
          </a:prstGeom>
          <a:solidFill>
            <a:srgbClr val="F2A93B"/>
          </a:solidFill>
          <a:ln/>
        </p:spPr>
      </p:sp>
      <p:pic>
        <p:nvPicPr>
          <p:cNvPr id="9" name="Image 1" descr="/home/claude/aichuyendoiso2/assets/icons/lock_0B3B45.png">    </p:cNvPr>
          <p:cNvPicPr>
            <a:picLocks noChangeAspect="1"/>
          </p:cNvPicPr>
          <p:nvPr/>
        </p:nvPicPr>
        <p:blipFill>
          <a:blip r:embed="rId3"/>
          <a:stretch>
            <a:fillRect/>
          </a:stretch>
        </p:blipFill>
        <p:spPr>
          <a:xfrm>
            <a:off x="1098377" y="1915241"/>
            <a:ext cx="235549" cy="235549"/>
          </a:xfrm>
          <a:prstGeom prst="rect">
            <a:avLst/>
          </a:prstGeom>
        </p:spPr>
      </p:pic>
      <p:sp>
        <p:nvSpPr>
          <p:cNvPr id="10" name="Text 6"/>
          <p:cNvSpPr txBox="1"/>
          <p:nvPr/>
        </p:nvSpPr>
        <p:spPr>
          <a:xfrm>
            <a:off x="1691640" y="1408176"/>
            <a:ext cx="9509760" cy="1249680"/>
          </a:xfrm>
          <a:prstGeom prst="rect">
            <a:avLst/>
          </a:prstGeom>
          <a:noFill/>
          <a:ln/>
        </p:spPr>
        <p:txBody>
          <a:bodyPr wrap="square" lIns="0" tIns="0" rIns="0" bIns="0" rtlCol="0" anchor="ctr"/>
          <a:lstStyle/>
          <a:p>
            <a:pPr indent="0" marL="0">
              <a:lnSpc>
                <a:spcPts val="1900"/>
              </a:lnSpc>
              <a:buNone/>
            </a:pPr>
            <a:r>
              <a:rPr lang="en-US" sz="1500" dirty="0">
                <a:solidFill>
                  <a:srgbClr val="17282B"/>
                </a:solidFill>
                <a:latin typeface="Arial" pitchFamily="34" charset="0"/>
                <a:ea typeface="Arial" pitchFamily="34" charset="-122"/>
                <a:cs typeface="Arial" pitchFamily="34" charset="-120"/>
              </a:rPr>
              <a:t>KHÔNG đưa CCCD, số điện thoại, mật khẩu, thông tin riêng tư lên AI công khai hoặc chatbot lạ.</a:t>
            </a:r>
            <a:endParaRPr lang="en-US" sz="1500" dirty="0"/>
          </a:p>
        </p:txBody>
      </p:sp>
      <p:sp>
        <p:nvSpPr>
          <p:cNvPr id="11" name="Shape 7"/>
          <p:cNvSpPr/>
          <p:nvPr/>
        </p:nvSpPr>
        <p:spPr>
          <a:xfrm>
            <a:off x="731520" y="2950464"/>
            <a:ext cx="10698480" cy="1414272"/>
          </a:xfrm>
          <a:prstGeom prst="roundRect">
            <a:avLst>
              <a:gd name="adj" fmla="val 5172"/>
            </a:avLst>
          </a:prstGeom>
          <a:solidFill>
            <a:srgbClr val="FBEFE3"/>
          </a:solidFill>
          <a:ln w="12700">
            <a:solidFill>
              <a:srgbClr val="F0CFA0"/>
            </a:solidFill>
            <a:prstDash val="solid"/>
          </a:ln>
        </p:spPr>
      </p:sp>
      <p:sp>
        <p:nvSpPr>
          <p:cNvPr id="12" name="Shape 8"/>
          <p:cNvSpPr/>
          <p:nvPr/>
        </p:nvSpPr>
        <p:spPr>
          <a:xfrm>
            <a:off x="960120" y="3392424"/>
            <a:ext cx="512064" cy="512064"/>
          </a:xfrm>
          <a:prstGeom prst="ellipse">
            <a:avLst/>
          </a:prstGeom>
          <a:solidFill>
            <a:srgbClr val="F2A93B"/>
          </a:solidFill>
          <a:ln/>
        </p:spPr>
      </p:sp>
      <p:pic>
        <p:nvPicPr>
          <p:cNvPr id="13" name="Image 2" descr="/home/claude/aichuyendoiso2/assets/icons/triangleexclamation_0B3B45.png">    </p:cNvPr>
          <p:cNvPicPr>
            <a:picLocks noChangeAspect="1"/>
          </p:cNvPicPr>
          <p:nvPr/>
        </p:nvPicPr>
        <p:blipFill>
          <a:blip r:embed="rId4"/>
          <a:stretch>
            <a:fillRect/>
          </a:stretch>
        </p:blipFill>
        <p:spPr>
          <a:xfrm>
            <a:off x="1098377" y="3530681"/>
            <a:ext cx="235549" cy="235549"/>
          </a:xfrm>
          <a:prstGeom prst="rect">
            <a:avLst/>
          </a:prstGeom>
        </p:spPr>
      </p:pic>
      <p:sp>
        <p:nvSpPr>
          <p:cNvPr id="14" name="Text 9"/>
          <p:cNvSpPr txBox="1"/>
          <p:nvPr/>
        </p:nvSpPr>
        <p:spPr>
          <a:xfrm>
            <a:off x="1691640" y="3023616"/>
            <a:ext cx="9509760" cy="1249680"/>
          </a:xfrm>
          <a:prstGeom prst="rect">
            <a:avLst/>
          </a:prstGeom>
          <a:noFill/>
          <a:ln/>
        </p:spPr>
        <p:txBody>
          <a:bodyPr wrap="square" lIns="0" tIns="0" rIns="0" bIns="0" rtlCol="0" anchor="ctr"/>
          <a:lstStyle/>
          <a:p>
            <a:pPr indent="0" marL="0">
              <a:lnSpc>
                <a:spcPts val="1900"/>
              </a:lnSpc>
              <a:buNone/>
            </a:pPr>
            <a:r>
              <a:rPr lang="en-US" sz="1500" dirty="0">
                <a:solidFill>
                  <a:srgbClr val="17282B"/>
                </a:solidFill>
                <a:latin typeface="Arial" pitchFamily="34" charset="0"/>
                <a:ea typeface="Arial" pitchFamily="34" charset="-122"/>
                <a:cs typeface="Arial" pitchFamily="34" charset="-120"/>
              </a:rPr>
              <a:t>AI có thể trả lời SAI hoặc "bịa" thông tin — luôn kiểm tra lại trước khi tin và sử dụng.</a:t>
            </a:r>
            <a:endParaRPr lang="en-US" sz="1500" dirty="0"/>
          </a:p>
        </p:txBody>
      </p:sp>
      <p:sp>
        <p:nvSpPr>
          <p:cNvPr id="15" name="Shape 10"/>
          <p:cNvSpPr/>
          <p:nvPr/>
        </p:nvSpPr>
        <p:spPr>
          <a:xfrm>
            <a:off x="731520" y="4565904"/>
            <a:ext cx="10698480" cy="1414272"/>
          </a:xfrm>
          <a:prstGeom prst="roundRect">
            <a:avLst>
              <a:gd name="adj" fmla="val 5172"/>
            </a:avLst>
          </a:prstGeom>
          <a:solidFill>
            <a:srgbClr val="FBEFE3"/>
          </a:solidFill>
          <a:ln w="12700">
            <a:solidFill>
              <a:srgbClr val="F0CFA0"/>
            </a:solidFill>
            <a:prstDash val="solid"/>
          </a:ln>
        </p:spPr>
      </p:sp>
      <p:sp>
        <p:nvSpPr>
          <p:cNvPr id="16" name="Shape 11"/>
          <p:cNvSpPr/>
          <p:nvPr/>
        </p:nvSpPr>
        <p:spPr>
          <a:xfrm>
            <a:off x="960120" y="5007864"/>
            <a:ext cx="512064" cy="512064"/>
          </a:xfrm>
          <a:prstGeom prst="ellipse">
            <a:avLst/>
          </a:prstGeom>
          <a:solidFill>
            <a:srgbClr val="F2A93B"/>
          </a:solidFill>
          <a:ln/>
        </p:spPr>
      </p:sp>
      <p:pic>
        <p:nvPicPr>
          <p:cNvPr id="17" name="Image 3" descr="/home/claude/aichuyendoiso2/assets/icons/handshake_0B3B45.png">    </p:cNvPr>
          <p:cNvPicPr>
            <a:picLocks noChangeAspect="1"/>
          </p:cNvPicPr>
          <p:nvPr/>
        </p:nvPicPr>
        <p:blipFill>
          <a:blip r:embed="rId5"/>
          <a:stretch>
            <a:fillRect/>
          </a:stretch>
        </p:blipFill>
        <p:spPr>
          <a:xfrm>
            <a:off x="1098377" y="5146121"/>
            <a:ext cx="235549" cy="235549"/>
          </a:xfrm>
          <a:prstGeom prst="rect">
            <a:avLst/>
          </a:prstGeom>
        </p:spPr>
      </p:pic>
      <p:sp>
        <p:nvSpPr>
          <p:cNvPr id="18" name="Text 12"/>
          <p:cNvSpPr txBox="1"/>
          <p:nvPr/>
        </p:nvSpPr>
        <p:spPr>
          <a:xfrm>
            <a:off x="1691640" y="4639056"/>
            <a:ext cx="9509760" cy="1249680"/>
          </a:xfrm>
          <a:prstGeom prst="rect">
            <a:avLst/>
          </a:prstGeom>
          <a:noFill/>
          <a:ln/>
        </p:spPr>
        <p:txBody>
          <a:bodyPr wrap="square" lIns="0" tIns="0" rIns="0" bIns="0" rtlCol="0" anchor="ctr"/>
          <a:lstStyle/>
          <a:p>
            <a:pPr indent="0" marL="0">
              <a:lnSpc>
                <a:spcPts val="1900"/>
              </a:lnSpc>
              <a:buNone/>
            </a:pPr>
            <a:r>
              <a:rPr lang="en-US" sz="1500" dirty="0">
                <a:solidFill>
                  <a:srgbClr val="17282B"/>
                </a:solidFill>
                <a:latin typeface="Arial" pitchFamily="34" charset="0"/>
                <a:ea typeface="Arial" pitchFamily="34" charset="-122"/>
                <a:cs typeface="Arial" pitchFamily="34" charset="-120"/>
              </a:rPr>
              <a:t>AI chỉ HỖ TRỢ — con người luôn là người quyết định và chịu trách nhiệm cuối cùng.</a:t>
            </a:r>
            <a:endParaRPr lang="en-US" sz="1500" dirty="0"/>
          </a:p>
        </p:txBody>
      </p:sp>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347472"/>
            <a:ext cx="457200" cy="457200"/>
          </a:xfrm>
          <a:prstGeom prst="ellipse">
            <a:avLst/>
          </a:prstGeom>
          <a:solidFill>
            <a:srgbClr val="127C82"/>
          </a:solidFill>
          <a:ln/>
        </p:spPr>
      </p:sp>
      <p:pic>
        <p:nvPicPr>
          <p:cNvPr id="3" name="Image 0" descr="/home/claude/aichuyendoiso2/assets/icons/qrcode_FFFFFF.png">    </p:cNvPr>
          <p:cNvPicPr>
            <a:picLocks noChangeAspect="1"/>
          </p:cNvPicPr>
          <p:nvPr/>
        </p:nvPicPr>
        <p:blipFill>
          <a:blip r:embed="rId2"/>
          <a:stretch>
            <a:fillRect/>
          </a:stretch>
        </p:blipFill>
        <p:spPr>
          <a:xfrm>
            <a:off x="580644" y="470916"/>
            <a:ext cx="210312" cy="210312"/>
          </a:xfrm>
          <a:prstGeom prst="rect">
            <a:avLst/>
          </a:prstGeom>
        </p:spPr>
      </p:pic>
      <p:sp>
        <p:nvSpPr>
          <p:cNvPr id="4" name="Text 1"/>
          <p:cNvSpPr txBox="1"/>
          <p:nvPr/>
        </p:nvSpPr>
        <p:spPr>
          <a:xfrm>
            <a:off x="1051560" y="301752"/>
            <a:ext cx="10607040" cy="566928"/>
          </a:xfrm>
          <a:prstGeom prst="rect">
            <a:avLst/>
          </a:prstGeom>
          <a:noFill/>
          <a:ln/>
        </p:spPr>
        <p:txBody>
          <a:bodyPr wrap="square" lIns="0" tIns="0" rIns="0" bIns="0" rtlCol="0" anchor="ctr"/>
          <a:lstStyle/>
          <a:p>
            <a:pPr indent="0" marL="0">
              <a:buNone/>
            </a:pPr>
            <a:r>
              <a:rPr lang="en-US" sz="2600" b="1" dirty="0">
                <a:solidFill>
                  <a:srgbClr val="0B5257"/>
                </a:solidFill>
                <a:latin typeface="Arial" pitchFamily="34" charset="0"/>
                <a:ea typeface="Arial" pitchFamily="34" charset="-122"/>
                <a:cs typeface="Arial" pitchFamily="34" charset="-120"/>
              </a:rPr>
              <a:t>Trắc Nghiệm Ôn Tập Nhanh — Quét Mã QR</a:t>
            </a:r>
            <a:endParaRPr lang="en-US" sz="2600" dirty="0"/>
          </a:p>
        </p:txBody>
      </p:sp>
      <p:sp>
        <p:nvSpPr>
          <p:cNvPr id="5" name="Text 2"/>
          <p:cNvSpPr txBox="1"/>
          <p:nvPr/>
        </p:nvSpPr>
        <p:spPr>
          <a:xfrm>
            <a:off x="457200" y="6492240"/>
            <a:ext cx="7315200" cy="274320"/>
          </a:xfrm>
          <a:prstGeom prst="rect">
            <a:avLst/>
          </a:prstGeom>
          <a:noFill/>
          <a:ln/>
        </p:spPr>
        <p:txBody>
          <a:bodyPr wrap="square" lIns="0" tIns="0" rIns="0" bIns="0" rtlCol="0" anchor="ctr"/>
          <a:lstStyle/>
          <a:p>
            <a:pPr algn="l" indent="0" marL="0">
              <a:buNone/>
            </a:pPr>
            <a:r>
              <a:rPr lang="en-US" sz="1000" dirty="0">
                <a:solidFill>
                  <a:srgbClr val="5C7378"/>
                </a:solidFill>
                <a:latin typeface="Arial" pitchFamily="34" charset="0"/>
                <a:ea typeface="Arial" pitchFamily="34" charset="-122"/>
                <a:cs typeface="Arial" pitchFamily="34" charset="-120"/>
              </a:rPr>
              <a:t>Phần 5 · Dùng AI an toàn</a:t>
            </a:r>
            <a:endParaRPr lang="en-US" sz="1000" dirty="0"/>
          </a:p>
        </p:txBody>
      </p:sp>
      <p:sp>
        <p:nvSpPr>
          <p:cNvPr id="6" name="Text 3"/>
          <p:cNvSpPr txBox="1"/>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C7378"/>
                </a:solidFill>
                <a:latin typeface="Arial" pitchFamily="34" charset="0"/>
                <a:ea typeface="Arial" pitchFamily="34" charset="-122"/>
                <a:cs typeface="Arial" pitchFamily="34" charset="-120"/>
              </a:rPr>
              <a:t>34</a:t>
            </a:r>
            <a:endParaRPr lang="en-US" sz="1000" dirty="0"/>
          </a:p>
        </p:txBody>
      </p:sp>
      <p:sp>
        <p:nvSpPr>
          <p:cNvPr id="7" name="Text 4"/>
          <p:cNvSpPr txBox="1"/>
          <p:nvPr/>
        </p:nvSpPr>
        <p:spPr>
          <a:xfrm>
            <a:off x="731520" y="1207008"/>
            <a:ext cx="6400800" cy="685800"/>
          </a:xfrm>
          <a:prstGeom prst="rect">
            <a:avLst/>
          </a:prstGeom>
          <a:noFill/>
          <a:ln/>
        </p:spPr>
        <p:txBody>
          <a:bodyPr wrap="square" lIns="0" tIns="0" rIns="0" bIns="0" rtlCol="0" anchor="ctr"/>
          <a:lstStyle/>
          <a:p>
            <a:pPr indent="0" marL="0">
              <a:lnSpc>
                <a:spcPts val="1900"/>
              </a:lnSpc>
              <a:buNone/>
            </a:pPr>
            <a:r>
              <a:rPr lang="en-US" sz="1450" i="1" dirty="0">
                <a:solidFill>
                  <a:srgbClr val="0B5257"/>
                </a:solidFill>
                <a:latin typeface="Arial" pitchFamily="34" charset="0"/>
                <a:ea typeface="Arial" pitchFamily="34" charset="-122"/>
                <a:cs typeface="Arial" pitchFamily="34" charset="-120"/>
              </a:rPr>
              <a:t>Trước khi kết thúc, cả lớp cùng làm nhanh bài trắc nghiệm 8 câu để ôn lại kiến thức — làm ngay trên điện thoại, không cần đăng nhập.</a:t>
            </a:r>
            <a:endParaRPr lang="en-US" sz="1450" dirty="0"/>
          </a:p>
        </p:txBody>
      </p:sp>
      <p:sp>
        <p:nvSpPr>
          <p:cNvPr id="8" name="Text 5"/>
          <p:cNvSpPr txBox="1"/>
          <p:nvPr/>
        </p:nvSpPr>
        <p:spPr>
          <a:xfrm>
            <a:off x="731520" y="2075688"/>
            <a:ext cx="6400800" cy="274320"/>
          </a:xfrm>
          <a:prstGeom prst="rect">
            <a:avLst/>
          </a:prstGeom>
          <a:noFill/>
          <a:ln/>
        </p:spPr>
        <p:txBody>
          <a:bodyPr wrap="square" lIns="0" tIns="0" rIns="0" bIns="0" rtlCol="0" anchor="ctr"/>
          <a:lstStyle/>
          <a:p>
            <a:pPr indent="0" marL="0">
              <a:buNone/>
            </a:pPr>
            <a:r>
              <a:rPr lang="en-US" sz="1150" b="1" spc="100" kern="0" dirty="0">
                <a:solidFill>
                  <a:srgbClr val="0B5257"/>
                </a:solidFill>
                <a:latin typeface="Arial" pitchFamily="34" charset="0"/>
                <a:ea typeface="Arial" pitchFamily="34" charset="-122"/>
                <a:cs typeface="Arial" pitchFamily="34" charset="-120"/>
              </a:rPr>
              <a:t>NỘI DUNG ÔN TẬP TRONG TRẮC NGHIỆM:</a:t>
            </a:r>
            <a:endParaRPr lang="en-US" sz="1150" dirty="0"/>
          </a:p>
        </p:txBody>
      </p:sp>
      <p:sp>
        <p:nvSpPr>
          <p:cNvPr id="9" name="Shape 6"/>
          <p:cNvSpPr/>
          <p:nvPr/>
        </p:nvSpPr>
        <p:spPr>
          <a:xfrm>
            <a:off x="731520" y="2459736"/>
            <a:ext cx="6400800" cy="512064"/>
          </a:xfrm>
          <a:prstGeom prst="roundRect">
            <a:avLst>
              <a:gd name="adj" fmla="val 14286"/>
            </a:avLst>
          </a:prstGeom>
          <a:solidFill>
            <a:srgbClr val="EEF5F5"/>
          </a:solidFill>
          <a:ln w="12700">
            <a:solidFill>
              <a:srgbClr val="D6E6E6"/>
            </a:solidFill>
            <a:prstDash val="solid"/>
          </a:ln>
        </p:spPr>
      </p:sp>
      <p:sp>
        <p:nvSpPr>
          <p:cNvPr id="10" name="Shape 7"/>
          <p:cNvSpPr/>
          <p:nvPr/>
        </p:nvSpPr>
        <p:spPr>
          <a:xfrm>
            <a:off x="896112" y="2542032"/>
            <a:ext cx="347472" cy="347472"/>
          </a:xfrm>
          <a:prstGeom prst="ellipse">
            <a:avLst/>
          </a:prstGeom>
          <a:solidFill>
            <a:srgbClr val="F2A93B"/>
          </a:solidFill>
          <a:ln/>
        </p:spPr>
      </p:sp>
      <p:pic>
        <p:nvPicPr>
          <p:cNvPr id="11" name="Image 1" descr="/home/claude/aichuyendoiso2/assets/icons/brain_0B3B45.png">    </p:cNvPr>
          <p:cNvPicPr>
            <a:picLocks noChangeAspect="1"/>
          </p:cNvPicPr>
          <p:nvPr/>
        </p:nvPicPr>
        <p:blipFill>
          <a:blip r:embed="rId3"/>
          <a:stretch>
            <a:fillRect/>
          </a:stretch>
        </p:blipFill>
        <p:spPr>
          <a:xfrm>
            <a:off x="989929" y="2635849"/>
            <a:ext cx="159837" cy="159837"/>
          </a:xfrm>
          <a:prstGeom prst="rect">
            <a:avLst/>
          </a:prstGeom>
        </p:spPr>
      </p:pic>
      <p:sp>
        <p:nvSpPr>
          <p:cNvPr id="12" name="Text 8"/>
          <p:cNvSpPr txBox="1"/>
          <p:nvPr/>
        </p:nvSpPr>
        <p:spPr>
          <a:xfrm>
            <a:off x="1417320" y="2459736"/>
            <a:ext cx="5577840" cy="512064"/>
          </a:xfrm>
          <a:prstGeom prst="rect">
            <a:avLst/>
          </a:prstGeom>
          <a:noFill/>
          <a:ln/>
        </p:spPr>
        <p:txBody>
          <a:bodyPr wrap="square" lIns="0" tIns="0" rIns="0" bIns="0" rtlCol="0" anchor="ctr"/>
          <a:lstStyle/>
          <a:p>
            <a:pPr indent="0" marL="0">
              <a:buNone/>
            </a:pPr>
            <a:r>
              <a:rPr lang="en-US" sz="1300" b="1" dirty="0">
                <a:solidFill>
                  <a:srgbClr val="17282B"/>
                </a:solidFill>
                <a:latin typeface="Arial" pitchFamily="34" charset="0"/>
                <a:ea typeface="Arial" pitchFamily="34" charset="-122"/>
                <a:cs typeface="Arial" pitchFamily="34" charset="-120"/>
              </a:rPr>
              <a:t>AI là gì, chuyển đổi số là gì</a:t>
            </a:r>
            <a:endParaRPr lang="en-US" sz="1300" dirty="0"/>
          </a:p>
        </p:txBody>
      </p:sp>
      <p:sp>
        <p:nvSpPr>
          <p:cNvPr id="13" name="Shape 9"/>
          <p:cNvSpPr/>
          <p:nvPr/>
        </p:nvSpPr>
        <p:spPr>
          <a:xfrm>
            <a:off x="731520" y="3099816"/>
            <a:ext cx="6400800" cy="512064"/>
          </a:xfrm>
          <a:prstGeom prst="roundRect">
            <a:avLst>
              <a:gd name="adj" fmla="val 14286"/>
            </a:avLst>
          </a:prstGeom>
          <a:solidFill>
            <a:srgbClr val="EEF5F5"/>
          </a:solidFill>
          <a:ln w="12700">
            <a:solidFill>
              <a:srgbClr val="D6E6E6"/>
            </a:solidFill>
            <a:prstDash val="solid"/>
          </a:ln>
        </p:spPr>
      </p:sp>
      <p:sp>
        <p:nvSpPr>
          <p:cNvPr id="14" name="Shape 10"/>
          <p:cNvSpPr/>
          <p:nvPr/>
        </p:nvSpPr>
        <p:spPr>
          <a:xfrm>
            <a:off x="896112" y="3182112"/>
            <a:ext cx="347472" cy="347472"/>
          </a:xfrm>
          <a:prstGeom prst="ellipse">
            <a:avLst/>
          </a:prstGeom>
          <a:solidFill>
            <a:srgbClr val="F2A93B"/>
          </a:solidFill>
          <a:ln/>
        </p:spPr>
      </p:sp>
      <p:pic>
        <p:nvPicPr>
          <p:cNvPr id="15" name="Image 2" descr="/home/claude/aichuyendoiso2/assets/icons/message_0B3B45.png">    </p:cNvPr>
          <p:cNvPicPr>
            <a:picLocks noChangeAspect="1"/>
          </p:cNvPicPr>
          <p:nvPr/>
        </p:nvPicPr>
        <p:blipFill>
          <a:blip r:embed="rId4"/>
          <a:stretch>
            <a:fillRect/>
          </a:stretch>
        </p:blipFill>
        <p:spPr>
          <a:xfrm>
            <a:off x="989929" y="3275929"/>
            <a:ext cx="159837" cy="159837"/>
          </a:xfrm>
          <a:prstGeom prst="rect">
            <a:avLst/>
          </a:prstGeom>
        </p:spPr>
      </p:pic>
      <p:sp>
        <p:nvSpPr>
          <p:cNvPr id="16" name="Text 11"/>
          <p:cNvSpPr txBox="1"/>
          <p:nvPr/>
        </p:nvSpPr>
        <p:spPr>
          <a:xfrm>
            <a:off x="1417320" y="3099816"/>
            <a:ext cx="5577840" cy="512064"/>
          </a:xfrm>
          <a:prstGeom prst="rect">
            <a:avLst/>
          </a:prstGeom>
          <a:noFill/>
          <a:ln/>
        </p:spPr>
        <p:txBody>
          <a:bodyPr wrap="square" lIns="0" tIns="0" rIns="0" bIns="0" rtlCol="0" anchor="ctr"/>
          <a:lstStyle/>
          <a:p>
            <a:pPr indent="0" marL="0">
              <a:buNone/>
            </a:pPr>
            <a:r>
              <a:rPr lang="en-US" sz="1300" b="1" dirty="0">
                <a:solidFill>
                  <a:srgbClr val="17282B"/>
                </a:solidFill>
                <a:latin typeface="Arial" pitchFamily="34" charset="0"/>
                <a:ea typeface="Arial" pitchFamily="34" charset="-122"/>
                <a:cs typeface="Arial" pitchFamily="34" charset="-120"/>
              </a:rPr>
              <a:t>Công thức viết Prompt (câu lệnh)</a:t>
            </a:r>
            <a:endParaRPr lang="en-US" sz="1300" dirty="0"/>
          </a:p>
        </p:txBody>
      </p:sp>
      <p:sp>
        <p:nvSpPr>
          <p:cNvPr id="17" name="Shape 12"/>
          <p:cNvSpPr/>
          <p:nvPr/>
        </p:nvSpPr>
        <p:spPr>
          <a:xfrm>
            <a:off x="731520" y="3739896"/>
            <a:ext cx="6400800" cy="512064"/>
          </a:xfrm>
          <a:prstGeom prst="roundRect">
            <a:avLst>
              <a:gd name="adj" fmla="val 14286"/>
            </a:avLst>
          </a:prstGeom>
          <a:solidFill>
            <a:srgbClr val="EEF5F5"/>
          </a:solidFill>
          <a:ln w="12700">
            <a:solidFill>
              <a:srgbClr val="D6E6E6"/>
            </a:solidFill>
            <a:prstDash val="solid"/>
          </a:ln>
        </p:spPr>
      </p:sp>
      <p:sp>
        <p:nvSpPr>
          <p:cNvPr id="18" name="Shape 13"/>
          <p:cNvSpPr/>
          <p:nvPr/>
        </p:nvSpPr>
        <p:spPr>
          <a:xfrm>
            <a:off x="896112" y="3822192"/>
            <a:ext cx="347472" cy="347472"/>
          </a:xfrm>
          <a:prstGeom prst="ellipse">
            <a:avLst/>
          </a:prstGeom>
          <a:solidFill>
            <a:srgbClr val="F2A93B"/>
          </a:solidFill>
          <a:ln/>
        </p:spPr>
      </p:sp>
      <p:pic>
        <p:nvPicPr>
          <p:cNvPr id="19" name="Image 3" descr="/home/claude/aichuyendoiso2/assets/icons/graduationcap_0B3B45.png">    </p:cNvPr>
          <p:cNvPicPr>
            <a:picLocks noChangeAspect="1"/>
          </p:cNvPicPr>
          <p:nvPr/>
        </p:nvPicPr>
        <p:blipFill>
          <a:blip r:embed="rId5"/>
          <a:stretch>
            <a:fillRect/>
          </a:stretch>
        </p:blipFill>
        <p:spPr>
          <a:xfrm>
            <a:off x="989929" y="3916009"/>
            <a:ext cx="159837" cy="159837"/>
          </a:xfrm>
          <a:prstGeom prst="rect">
            <a:avLst/>
          </a:prstGeom>
        </p:spPr>
      </p:pic>
      <p:sp>
        <p:nvSpPr>
          <p:cNvPr id="20" name="Text 14"/>
          <p:cNvSpPr txBox="1"/>
          <p:nvPr/>
        </p:nvSpPr>
        <p:spPr>
          <a:xfrm>
            <a:off x="1417320" y="3739896"/>
            <a:ext cx="5577840" cy="512064"/>
          </a:xfrm>
          <a:prstGeom prst="rect">
            <a:avLst/>
          </a:prstGeom>
          <a:noFill/>
          <a:ln/>
        </p:spPr>
        <p:txBody>
          <a:bodyPr wrap="square" lIns="0" tIns="0" rIns="0" bIns="0" rtlCol="0" anchor="ctr"/>
          <a:lstStyle/>
          <a:p>
            <a:pPr indent="0" marL="0">
              <a:buNone/>
            </a:pPr>
            <a:r>
              <a:rPr lang="en-US" sz="1300" b="1" dirty="0">
                <a:solidFill>
                  <a:srgbClr val="17282B"/>
                </a:solidFill>
                <a:latin typeface="Arial" pitchFamily="34" charset="0"/>
                <a:ea typeface="Arial" pitchFamily="34" charset="-122"/>
                <a:cs typeface="Arial" pitchFamily="34" charset="-120"/>
              </a:rPr>
              <a:t>Công cụ AI hỗ trợ học tập</a:t>
            </a:r>
            <a:endParaRPr lang="en-US" sz="1300" dirty="0"/>
          </a:p>
        </p:txBody>
      </p:sp>
      <p:sp>
        <p:nvSpPr>
          <p:cNvPr id="21" name="Shape 15"/>
          <p:cNvSpPr/>
          <p:nvPr/>
        </p:nvSpPr>
        <p:spPr>
          <a:xfrm>
            <a:off x="731520" y="4379976"/>
            <a:ext cx="6400800" cy="512064"/>
          </a:xfrm>
          <a:prstGeom prst="roundRect">
            <a:avLst>
              <a:gd name="adj" fmla="val 14286"/>
            </a:avLst>
          </a:prstGeom>
          <a:solidFill>
            <a:srgbClr val="EEF5F5"/>
          </a:solidFill>
          <a:ln w="12700">
            <a:solidFill>
              <a:srgbClr val="D6E6E6"/>
            </a:solidFill>
            <a:prstDash val="solid"/>
          </a:ln>
        </p:spPr>
      </p:sp>
      <p:sp>
        <p:nvSpPr>
          <p:cNvPr id="22" name="Shape 16"/>
          <p:cNvSpPr/>
          <p:nvPr/>
        </p:nvSpPr>
        <p:spPr>
          <a:xfrm>
            <a:off x="896112" y="4462272"/>
            <a:ext cx="347472" cy="347472"/>
          </a:xfrm>
          <a:prstGeom prst="ellipse">
            <a:avLst/>
          </a:prstGeom>
          <a:solidFill>
            <a:srgbClr val="F2A93B"/>
          </a:solidFill>
          <a:ln/>
        </p:spPr>
      </p:sp>
      <p:pic>
        <p:nvPicPr>
          <p:cNvPr id="23" name="Image 4" descr="/home/claude/aichuyendoiso2/assets/icons/shield_0B3B45.png">    </p:cNvPr>
          <p:cNvPicPr>
            <a:picLocks noChangeAspect="1"/>
          </p:cNvPicPr>
          <p:nvPr/>
        </p:nvPicPr>
        <p:blipFill>
          <a:blip r:embed="rId6"/>
          <a:stretch>
            <a:fillRect/>
          </a:stretch>
        </p:blipFill>
        <p:spPr>
          <a:xfrm>
            <a:off x="989929" y="4556089"/>
            <a:ext cx="159837" cy="159837"/>
          </a:xfrm>
          <a:prstGeom prst="rect">
            <a:avLst/>
          </a:prstGeom>
        </p:spPr>
      </p:pic>
      <p:sp>
        <p:nvSpPr>
          <p:cNvPr id="24" name="Text 17"/>
          <p:cNvSpPr txBox="1"/>
          <p:nvPr/>
        </p:nvSpPr>
        <p:spPr>
          <a:xfrm>
            <a:off x="1417320" y="4379976"/>
            <a:ext cx="5577840" cy="512064"/>
          </a:xfrm>
          <a:prstGeom prst="rect">
            <a:avLst/>
          </a:prstGeom>
          <a:noFill/>
          <a:ln/>
        </p:spPr>
        <p:txBody>
          <a:bodyPr wrap="square" lIns="0" tIns="0" rIns="0" bIns="0" rtlCol="0" anchor="ctr"/>
          <a:lstStyle/>
          <a:p>
            <a:pPr indent="0" marL="0">
              <a:buNone/>
            </a:pPr>
            <a:r>
              <a:rPr lang="en-US" sz="1300" b="1" dirty="0">
                <a:solidFill>
                  <a:srgbClr val="17282B"/>
                </a:solidFill>
                <a:latin typeface="Arial" pitchFamily="34" charset="0"/>
                <a:ea typeface="Arial" pitchFamily="34" charset="-122"/>
                <a:cs typeface="Arial" pitchFamily="34" charset="-120"/>
              </a:rPr>
              <a:t>Dùng AI an toàn, đúng cách</a:t>
            </a:r>
            <a:endParaRPr lang="en-US" sz="1300" dirty="0"/>
          </a:p>
        </p:txBody>
      </p:sp>
      <p:sp>
        <p:nvSpPr>
          <p:cNvPr id="25" name="Shape 18"/>
          <p:cNvSpPr/>
          <p:nvPr/>
        </p:nvSpPr>
        <p:spPr>
          <a:xfrm>
            <a:off x="731520" y="5129784"/>
            <a:ext cx="6400800" cy="868680"/>
          </a:xfrm>
          <a:prstGeom prst="roundRect">
            <a:avLst>
              <a:gd name="adj" fmla="val 8421"/>
            </a:avLst>
          </a:prstGeom>
          <a:solidFill>
            <a:srgbClr val="0B3B45"/>
          </a:solidFill>
          <a:ln/>
        </p:spPr>
      </p:sp>
      <p:sp>
        <p:nvSpPr>
          <p:cNvPr id="26" name="Text 19"/>
          <p:cNvSpPr txBox="1"/>
          <p:nvPr/>
        </p:nvSpPr>
        <p:spPr>
          <a:xfrm>
            <a:off x="960120" y="5129784"/>
            <a:ext cx="5943600" cy="868680"/>
          </a:xfrm>
          <a:prstGeom prst="rect">
            <a:avLst/>
          </a:prstGeom>
          <a:noFill/>
          <a:ln/>
        </p:spPr>
        <p:txBody>
          <a:bodyPr wrap="square" lIns="0" tIns="0" rIns="0" bIns="0" rtlCol="0" anchor="ctr"/>
          <a:lstStyle/>
          <a:p>
            <a:pPr indent="0" marL="0">
              <a:lnSpc>
                <a:spcPts val="1400"/>
              </a:lnSpc>
              <a:buNone/>
            </a:pPr>
            <a:r>
              <a:rPr lang="en-US" sz="1150" dirty="0">
                <a:solidFill>
                  <a:srgbClr val="D7ECEC"/>
                </a:solidFill>
                <a:latin typeface="Arial" pitchFamily="34" charset="0"/>
                <a:ea typeface="Arial" pitchFamily="34" charset="-122"/>
                <a:cs typeface="Arial" pitchFamily="34" charset="-120"/>
              </a:rPr>
              <a:t>Ghi nhớ 3 thói quen dùng AI hiệu quả: hỏi rõ ràng theo công thức đã học · đọc kỹ và chỉnh sửa lại kết quả AI · không phụ thuộc hoàn toàn vào AI, vẫn phải tự học và tự làm được việc của mình.</a:t>
            </a:r>
            <a:endParaRPr lang="en-US" sz="1150" dirty="0"/>
          </a:p>
        </p:txBody>
      </p:sp>
      <p:sp>
        <p:nvSpPr>
          <p:cNvPr id="27" name="Shape 20"/>
          <p:cNvSpPr/>
          <p:nvPr/>
        </p:nvSpPr>
        <p:spPr>
          <a:xfrm>
            <a:off x="7498080" y="1207008"/>
            <a:ext cx="3931920" cy="5029200"/>
          </a:xfrm>
          <a:prstGeom prst="roundRect">
            <a:avLst>
              <a:gd name="adj" fmla="val 3256"/>
            </a:avLst>
          </a:prstGeom>
          <a:solidFill>
            <a:srgbClr val="0B3B45"/>
          </a:solidFill>
          <a:ln/>
        </p:spPr>
      </p:sp>
      <p:sp>
        <p:nvSpPr>
          <p:cNvPr id="28" name="Text 21"/>
          <p:cNvSpPr txBox="1"/>
          <p:nvPr/>
        </p:nvSpPr>
        <p:spPr>
          <a:xfrm>
            <a:off x="7680960" y="1463040"/>
            <a:ext cx="3566160" cy="320040"/>
          </a:xfrm>
          <a:prstGeom prst="rect">
            <a:avLst/>
          </a:prstGeom>
          <a:noFill/>
          <a:ln/>
        </p:spPr>
        <p:txBody>
          <a:bodyPr wrap="square" lIns="0" tIns="0" rIns="0" bIns="0" rtlCol="0" anchor="ctr"/>
          <a:lstStyle/>
          <a:p>
            <a:pPr algn="ctr" indent="0" marL="0">
              <a:buNone/>
            </a:pPr>
            <a:r>
              <a:rPr lang="en-US" sz="1500" b="1" spc="100" kern="0" dirty="0">
                <a:solidFill>
                  <a:srgbClr val="F2A93B"/>
                </a:solidFill>
                <a:latin typeface="Arial" pitchFamily="34" charset="0"/>
                <a:ea typeface="Arial" pitchFamily="34" charset="-122"/>
                <a:cs typeface="Arial" pitchFamily="34" charset="-120"/>
              </a:rPr>
              <a:t>QUÉT MÃ ĐỂ LÀM BÀI</a:t>
            </a:r>
            <a:endParaRPr lang="en-US" sz="1500" dirty="0"/>
          </a:p>
        </p:txBody>
      </p:sp>
      <p:sp>
        <p:nvSpPr>
          <p:cNvPr id="29" name="Shape 22"/>
          <p:cNvSpPr/>
          <p:nvPr/>
        </p:nvSpPr>
        <p:spPr>
          <a:xfrm>
            <a:off x="8174736" y="1792224"/>
            <a:ext cx="2578608" cy="2578608"/>
          </a:xfrm>
          <a:prstGeom prst="roundRect">
            <a:avLst>
              <a:gd name="adj" fmla="val 3546"/>
            </a:avLst>
          </a:prstGeom>
          <a:solidFill>
            <a:srgbClr val="FFFFFF"/>
          </a:solidFill>
          <a:ln/>
        </p:spPr>
      </p:sp>
      <p:pic>
        <p:nvPicPr>
          <p:cNvPr id="30" name="Image 5" descr="/home/claude/aichuyendoiso2/assets/qr_quiz.png">    </p:cNvPr>
          <p:cNvPicPr>
            <a:picLocks noChangeAspect="1"/>
          </p:cNvPicPr>
          <p:nvPr/>
        </p:nvPicPr>
        <p:blipFill>
          <a:blip r:embed="rId7"/>
          <a:stretch>
            <a:fillRect/>
          </a:stretch>
        </p:blipFill>
        <p:spPr>
          <a:xfrm>
            <a:off x="8321040" y="1938528"/>
            <a:ext cx="2286000" cy="2286000"/>
          </a:xfrm>
          <a:prstGeom prst="rect">
            <a:avLst/>
          </a:prstGeom>
        </p:spPr>
      </p:pic>
      <p:sp>
        <p:nvSpPr>
          <p:cNvPr id="31" name="Text 23"/>
          <p:cNvSpPr txBox="1"/>
          <p:nvPr/>
        </p:nvSpPr>
        <p:spPr>
          <a:xfrm>
            <a:off x="7680960" y="4480560"/>
            <a:ext cx="3566160" cy="292608"/>
          </a:xfrm>
          <a:prstGeom prst="rect">
            <a:avLst/>
          </a:prstGeom>
          <a:noFill/>
          <a:ln/>
        </p:spPr>
        <p:txBody>
          <a:bodyPr wrap="square" lIns="0" tIns="0" rIns="0" bIns="0" rtlCol="0" anchor="ctr"/>
          <a:lstStyle/>
          <a:p>
            <a:pPr algn="ctr" indent="0" marL="0">
              <a:buNone/>
            </a:pPr>
            <a:r>
              <a:rPr lang="en-US" sz="1200" i="1" dirty="0">
                <a:solidFill>
                  <a:srgbClr val="FFFFFF"/>
                </a:solidFill>
                <a:latin typeface="Arial" pitchFamily="34" charset="0"/>
                <a:ea typeface="Arial" pitchFamily="34" charset="-122"/>
                <a:cs typeface="Arial" pitchFamily="34" charset="-120"/>
              </a:rPr>
              <a:t>Quét bằng camera điện thoại</a:t>
            </a:r>
            <a:endParaRPr lang="en-US" sz="1200" dirty="0"/>
          </a:p>
        </p:txBody>
      </p:sp>
      <p:sp>
        <p:nvSpPr>
          <p:cNvPr id="32" name="Shape 24"/>
          <p:cNvSpPr/>
          <p:nvPr/>
        </p:nvSpPr>
        <p:spPr>
          <a:xfrm>
            <a:off x="7863840" y="4846320"/>
            <a:ext cx="3200400" cy="0"/>
          </a:xfrm>
          <a:prstGeom prst="line">
            <a:avLst/>
          </a:prstGeom>
          <a:noFill/>
          <a:ln w="12700">
            <a:solidFill>
              <a:srgbClr val="1C5560"/>
            </a:solidFill>
            <a:prstDash val="solid"/>
          </a:ln>
        </p:spPr>
      </p:sp>
      <p:sp>
        <p:nvSpPr>
          <p:cNvPr id="33" name="Shape 25"/>
          <p:cNvSpPr/>
          <p:nvPr/>
        </p:nvSpPr>
        <p:spPr>
          <a:xfrm>
            <a:off x="7754112" y="4863084"/>
            <a:ext cx="292608" cy="292608"/>
          </a:xfrm>
          <a:prstGeom prst="ellipse">
            <a:avLst/>
          </a:prstGeom>
          <a:solidFill>
            <a:srgbClr val="F2A93B"/>
          </a:solidFill>
          <a:ln/>
        </p:spPr>
      </p:sp>
      <p:pic>
        <p:nvPicPr>
          <p:cNvPr id="34" name="Image 6" descr="/home/claude/aichuyendoiso2/assets/icons/circlecheck_0B3B45.png">    </p:cNvPr>
          <p:cNvPicPr>
            <a:picLocks noChangeAspect="1"/>
          </p:cNvPicPr>
          <p:nvPr/>
        </p:nvPicPr>
        <p:blipFill>
          <a:blip r:embed="rId8"/>
          <a:stretch>
            <a:fillRect/>
          </a:stretch>
        </p:blipFill>
        <p:spPr>
          <a:xfrm>
            <a:off x="7833116" y="4942088"/>
            <a:ext cx="134600" cy="134600"/>
          </a:xfrm>
          <a:prstGeom prst="rect">
            <a:avLst/>
          </a:prstGeom>
        </p:spPr>
      </p:pic>
      <p:sp>
        <p:nvSpPr>
          <p:cNvPr id="35" name="Text 26"/>
          <p:cNvSpPr txBox="1"/>
          <p:nvPr/>
        </p:nvSpPr>
        <p:spPr>
          <a:xfrm>
            <a:off x="8156448" y="4791456"/>
            <a:ext cx="3017520" cy="435864"/>
          </a:xfrm>
          <a:prstGeom prst="rect">
            <a:avLst/>
          </a:prstGeom>
          <a:noFill/>
          <a:ln/>
        </p:spPr>
        <p:txBody>
          <a:bodyPr wrap="square" lIns="0" tIns="0" rIns="0" bIns="0" rtlCol="0" anchor="ctr"/>
          <a:lstStyle/>
          <a:p>
            <a:pPr indent="0" marL="0">
              <a:lnSpc>
                <a:spcPts val="1250"/>
              </a:lnSpc>
              <a:buNone/>
            </a:pPr>
            <a:r>
              <a:rPr lang="en-US" sz="1050" dirty="0">
                <a:solidFill>
                  <a:srgbClr val="D7ECEC"/>
                </a:solidFill>
                <a:latin typeface="Arial" pitchFamily="34" charset="0"/>
                <a:ea typeface="Arial" pitchFamily="34" charset="-122"/>
                <a:cs typeface="Arial" pitchFamily="34" charset="-120"/>
              </a:rPr>
              <a:t>Mở camera, quét mã QR bên trên.</a:t>
            </a:r>
            <a:endParaRPr lang="en-US" sz="1050" dirty="0"/>
          </a:p>
        </p:txBody>
      </p:sp>
      <p:sp>
        <p:nvSpPr>
          <p:cNvPr id="36" name="Shape 27"/>
          <p:cNvSpPr/>
          <p:nvPr/>
        </p:nvSpPr>
        <p:spPr>
          <a:xfrm>
            <a:off x="7754112" y="5298948"/>
            <a:ext cx="292608" cy="292608"/>
          </a:xfrm>
          <a:prstGeom prst="ellipse">
            <a:avLst/>
          </a:prstGeom>
          <a:solidFill>
            <a:srgbClr val="F2A93B"/>
          </a:solidFill>
          <a:ln/>
        </p:spPr>
      </p:sp>
      <p:pic>
        <p:nvPicPr>
          <p:cNvPr id="37" name="Image 7" descr="/home/claude/aichuyendoiso2/assets/icons/circlecheck_0B3B45.png">    </p:cNvPr>
          <p:cNvPicPr>
            <a:picLocks noChangeAspect="1"/>
          </p:cNvPicPr>
          <p:nvPr/>
        </p:nvPicPr>
        <p:blipFill>
          <a:blip r:embed="rId9"/>
          <a:stretch>
            <a:fillRect/>
          </a:stretch>
        </p:blipFill>
        <p:spPr>
          <a:xfrm>
            <a:off x="7833116" y="5377952"/>
            <a:ext cx="134600" cy="134600"/>
          </a:xfrm>
          <a:prstGeom prst="rect">
            <a:avLst/>
          </a:prstGeom>
        </p:spPr>
      </p:pic>
      <p:sp>
        <p:nvSpPr>
          <p:cNvPr id="38" name="Text 28"/>
          <p:cNvSpPr txBox="1"/>
          <p:nvPr/>
        </p:nvSpPr>
        <p:spPr>
          <a:xfrm>
            <a:off x="8156448" y="5227320"/>
            <a:ext cx="3017520" cy="435864"/>
          </a:xfrm>
          <a:prstGeom prst="rect">
            <a:avLst/>
          </a:prstGeom>
          <a:noFill/>
          <a:ln/>
        </p:spPr>
        <p:txBody>
          <a:bodyPr wrap="square" lIns="0" tIns="0" rIns="0" bIns="0" rtlCol="0" anchor="ctr"/>
          <a:lstStyle/>
          <a:p>
            <a:pPr indent="0" marL="0">
              <a:lnSpc>
                <a:spcPts val="1250"/>
              </a:lnSpc>
              <a:buNone/>
            </a:pPr>
            <a:r>
              <a:rPr lang="en-US" sz="1050" dirty="0">
                <a:solidFill>
                  <a:srgbClr val="D7ECEC"/>
                </a:solidFill>
                <a:latin typeface="Arial" pitchFamily="34" charset="0"/>
                <a:ea typeface="Arial" pitchFamily="34" charset="-122"/>
                <a:cs typeface="Arial" pitchFamily="34" charset="-120"/>
              </a:rPr>
              <a:t>Bấm "Bắt đầu làm bài", chọn đáp án.</a:t>
            </a:r>
            <a:endParaRPr lang="en-US" sz="1050" dirty="0"/>
          </a:p>
        </p:txBody>
      </p:sp>
      <p:sp>
        <p:nvSpPr>
          <p:cNvPr id="39" name="Shape 29"/>
          <p:cNvSpPr/>
          <p:nvPr/>
        </p:nvSpPr>
        <p:spPr>
          <a:xfrm>
            <a:off x="7754112" y="5734812"/>
            <a:ext cx="292608" cy="292608"/>
          </a:xfrm>
          <a:prstGeom prst="ellipse">
            <a:avLst/>
          </a:prstGeom>
          <a:solidFill>
            <a:srgbClr val="F2A93B"/>
          </a:solidFill>
          <a:ln/>
        </p:spPr>
      </p:sp>
      <p:pic>
        <p:nvPicPr>
          <p:cNvPr id="40" name="Image 8" descr="/home/claude/aichuyendoiso2/assets/icons/circlecheck_0B3B45.png">    </p:cNvPr>
          <p:cNvPicPr>
            <a:picLocks noChangeAspect="1"/>
          </p:cNvPicPr>
          <p:nvPr/>
        </p:nvPicPr>
        <p:blipFill>
          <a:blip r:embed="rId10"/>
          <a:stretch>
            <a:fillRect/>
          </a:stretch>
        </p:blipFill>
        <p:spPr>
          <a:xfrm>
            <a:off x="7833116" y="5813816"/>
            <a:ext cx="134600" cy="134600"/>
          </a:xfrm>
          <a:prstGeom prst="rect">
            <a:avLst/>
          </a:prstGeom>
        </p:spPr>
      </p:pic>
      <p:sp>
        <p:nvSpPr>
          <p:cNvPr id="41" name="Text 30"/>
          <p:cNvSpPr txBox="1"/>
          <p:nvPr/>
        </p:nvSpPr>
        <p:spPr>
          <a:xfrm>
            <a:off x="8156448" y="5663184"/>
            <a:ext cx="3017520" cy="435864"/>
          </a:xfrm>
          <a:prstGeom prst="rect">
            <a:avLst/>
          </a:prstGeom>
          <a:noFill/>
          <a:ln/>
        </p:spPr>
        <p:txBody>
          <a:bodyPr wrap="square" lIns="0" tIns="0" rIns="0" bIns="0" rtlCol="0" anchor="ctr"/>
          <a:lstStyle/>
          <a:p>
            <a:pPr indent="0" marL="0">
              <a:lnSpc>
                <a:spcPts val="1250"/>
              </a:lnSpc>
              <a:buNone/>
            </a:pPr>
            <a:r>
              <a:rPr lang="en-US" sz="1050" dirty="0">
                <a:solidFill>
                  <a:srgbClr val="D7ECEC"/>
                </a:solidFill>
                <a:latin typeface="Arial" pitchFamily="34" charset="0"/>
                <a:ea typeface="Arial" pitchFamily="34" charset="-122"/>
                <a:cs typeface="Arial" pitchFamily="34" charset="-120"/>
              </a:rPr>
              <a:t>Xem điểm và giải thích khi làm xong.</a:t>
            </a:r>
            <a:endParaRPr lang="en-US" sz="1050" dirty="0"/>
          </a:p>
        </p:txBody>
      </p:sp>
    </p:spTree>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347472"/>
            <a:ext cx="457200" cy="457200"/>
          </a:xfrm>
          <a:prstGeom prst="ellipse">
            <a:avLst/>
          </a:prstGeom>
          <a:solidFill>
            <a:srgbClr val="127C82"/>
          </a:solidFill>
          <a:ln/>
        </p:spPr>
      </p:sp>
      <p:pic>
        <p:nvPicPr>
          <p:cNvPr id="3" name="Image 0" descr="/home/claude/aichuyendoiso2/assets/icons/flag_FFFFFF.png">    </p:cNvPr>
          <p:cNvPicPr>
            <a:picLocks noChangeAspect="1"/>
          </p:cNvPicPr>
          <p:nvPr/>
        </p:nvPicPr>
        <p:blipFill>
          <a:blip r:embed="rId2"/>
          <a:stretch>
            <a:fillRect/>
          </a:stretch>
        </p:blipFill>
        <p:spPr>
          <a:xfrm>
            <a:off x="580644" y="470916"/>
            <a:ext cx="210312" cy="210312"/>
          </a:xfrm>
          <a:prstGeom prst="rect">
            <a:avLst/>
          </a:prstGeom>
        </p:spPr>
      </p:pic>
      <p:sp>
        <p:nvSpPr>
          <p:cNvPr id="4" name="Text 1"/>
          <p:cNvSpPr txBox="1"/>
          <p:nvPr/>
        </p:nvSpPr>
        <p:spPr>
          <a:xfrm>
            <a:off x="1051560" y="301752"/>
            <a:ext cx="10607040" cy="566928"/>
          </a:xfrm>
          <a:prstGeom prst="rect">
            <a:avLst/>
          </a:prstGeom>
          <a:noFill/>
          <a:ln/>
        </p:spPr>
        <p:txBody>
          <a:bodyPr wrap="square" lIns="0" tIns="0" rIns="0" bIns="0" rtlCol="0" anchor="ctr"/>
          <a:lstStyle/>
          <a:p>
            <a:pPr indent="0" marL="0">
              <a:buNone/>
            </a:pPr>
            <a:r>
              <a:rPr lang="en-US" sz="2600" b="1" dirty="0">
                <a:solidFill>
                  <a:srgbClr val="0B5257"/>
                </a:solidFill>
                <a:latin typeface="Arial" pitchFamily="34" charset="0"/>
                <a:ea typeface="Arial" pitchFamily="34" charset="-122"/>
                <a:cs typeface="Arial" pitchFamily="34" charset="-120"/>
              </a:rPr>
              <a:t>Tóm tắt buổi học</a:t>
            </a:r>
            <a:endParaRPr lang="en-US" sz="2600" dirty="0"/>
          </a:p>
        </p:txBody>
      </p:sp>
      <p:sp>
        <p:nvSpPr>
          <p:cNvPr id="5" name="Text 2"/>
          <p:cNvSpPr txBox="1"/>
          <p:nvPr/>
        </p:nvSpPr>
        <p:spPr>
          <a:xfrm>
            <a:off x="457200" y="6492240"/>
            <a:ext cx="7315200" cy="274320"/>
          </a:xfrm>
          <a:prstGeom prst="rect">
            <a:avLst/>
          </a:prstGeom>
          <a:noFill/>
          <a:ln/>
        </p:spPr>
        <p:txBody>
          <a:bodyPr wrap="square" lIns="0" tIns="0" rIns="0" bIns="0" rtlCol="0" anchor="ctr"/>
          <a:lstStyle/>
          <a:p>
            <a:pPr algn="l" indent="0" marL="0">
              <a:buNone/>
            </a:pPr>
            <a:r>
              <a:rPr lang="en-US" sz="1000" dirty="0">
                <a:solidFill>
                  <a:srgbClr val="5C7378"/>
                </a:solidFill>
                <a:latin typeface="Arial" pitchFamily="34" charset="0"/>
                <a:ea typeface="Arial" pitchFamily="34" charset="-122"/>
                <a:cs typeface="Arial" pitchFamily="34" charset="-120"/>
              </a:rPr>
              <a:t>Tổng kết</a:t>
            </a:r>
            <a:endParaRPr lang="en-US" sz="1000" dirty="0"/>
          </a:p>
        </p:txBody>
      </p:sp>
      <p:sp>
        <p:nvSpPr>
          <p:cNvPr id="6" name="Text 3"/>
          <p:cNvSpPr txBox="1"/>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C7378"/>
                </a:solidFill>
                <a:latin typeface="Arial" pitchFamily="34" charset="0"/>
                <a:ea typeface="Arial" pitchFamily="34" charset="-122"/>
                <a:cs typeface="Arial" pitchFamily="34" charset="-120"/>
              </a:rPr>
              <a:t>35</a:t>
            </a:r>
            <a:endParaRPr lang="en-US" sz="1000" dirty="0"/>
          </a:p>
        </p:txBody>
      </p:sp>
      <p:sp>
        <p:nvSpPr>
          <p:cNvPr id="7" name="Shape 4"/>
          <p:cNvSpPr/>
          <p:nvPr/>
        </p:nvSpPr>
        <p:spPr>
          <a:xfrm>
            <a:off x="731520" y="1421892"/>
            <a:ext cx="585216" cy="585216"/>
          </a:xfrm>
          <a:prstGeom prst="ellipse">
            <a:avLst/>
          </a:prstGeom>
          <a:solidFill>
            <a:srgbClr val="127C82"/>
          </a:solidFill>
          <a:ln/>
        </p:spPr>
      </p:sp>
      <p:pic>
        <p:nvPicPr>
          <p:cNvPr id="8" name="Image 1" descr="/home/claude/aichuyendoiso2/assets/icons/circlecheck_FFFFFF.png">    </p:cNvPr>
          <p:cNvPicPr>
            <a:picLocks noChangeAspect="1"/>
          </p:cNvPicPr>
          <p:nvPr/>
        </p:nvPicPr>
        <p:blipFill>
          <a:blip r:embed="rId3"/>
          <a:stretch>
            <a:fillRect/>
          </a:stretch>
        </p:blipFill>
        <p:spPr>
          <a:xfrm>
            <a:off x="889528" y="1579900"/>
            <a:ext cx="269199" cy="269199"/>
          </a:xfrm>
          <a:prstGeom prst="rect">
            <a:avLst/>
          </a:prstGeom>
        </p:spPr>
      </p:pic>
      <p:sp>
        <p:nvSpPr>
          <p:cNvPr id="9" name="Text 5"/>
          <p:cNvSpPr txBox="1"/>
          <p:nvPr/>
        </p:nvSpPr>
        <p:spPr>
          <a:xfrm>
            <a:off x="1600200" y="1234440"/>
            <a:ext cx="9784080" cy="365760"/>
          </a:xfrm>
          <a:prstGeom prst="rect">
            <a:avLst/>
          </a:prstGeom>
          <a:noFill/>
          <a:ln/>
        </p:spPr>
        <p:txBody>
          <a:bodyPr wrap="square" lIns="0" tIns="0" rIns="0" bIns="0" rtlCol="0" anchor="b"/>
          <a:lstStyle/>
          <a:p>
            <a:pPr indent="0" marL="0">
              <a:buNone/>
            </a:pPr>
            <a:r>
              <a:rPr lang="en-US" sz="1650" b="1" dirty="0">
                <a:solidFill>
                  <a:srgbClr val="17282B"/>
                </a:solidFill>
                <a:latin typeface="Arial" pitchFamily="34" charset="0"/>
                <a:ea typeface="Arial" pitchFamily="34" charset="-122"/>
                <a:cs typeface="Arial" pitchFamily="34" charset="-120"/>
              </a:rPr>
              <a:t>AI là máy được dạy để làm việc giống người</a:t>
            </a:r>
            <a:endParaRPr lang="en-US" sz="1650" dirty="0"/>
          </a:p>
        </p:txBody>
      </p:sp>
      <p:sp>
        <p:nvSpPr>
          <p:cNvPr id="10" name="Text 6"/>
          <p:cNvSpPr txBox="1"/>
          <p:nvPr/>
        </p:nvSpPr>
        <p:spPr>
          <a:xfrm>
            <a:off x="1600200" y="1600200"/>
            <a:ext cx="9784080" cy="548640"/>
          </a:xfrm>
          <a:prstGeom prst="rect">
            <a:avLst/>
          </a:prstGeom>
          <a:noFill/>
          <a:ln/>
        </p:spPr>
        <p:txBody>
          <a:bodyPr wrap="square" lIns="0" tIns="0" rIns="0" bIns="0" rtlCol="0" anchor="t"/>
          <a:lstStyle/>
          <a:p>
            <a:pPr indent="0" marL="0">
              <a:lnSpc>
                <a:spcPts val="1800"/>
              </a:lnSpc>
              <a:buNone/>
            </a:pPr>
            <a:r>
              <a:rPr lang="en-US" sz="1400" dirty="0">
                <a:solidFill>
                  <a:srgbClr val="5C7378"/>
                </a:solidFill>
                <a:latin typeface="Arial" pitchFamily="34" charset="0"/>
                <a:ea typeface="Arial" pitchFamily="34" charset="-122"/>
                <a:cs typeface="Arial" pitchFamily="34" charset="-120"/>
              </a:rPr>
              <a:t>Không phải "thần thánh", có thể sai — cần kiểm tra lại.</a:t>
            </a:r>
            <a:endParaRPr lang="en-US" sz="1400" dirty="0"/>
          </a:p>
        </p:txBody>
      </p:sp>
      <p:sp>
        <p:nvSpPr>
          <p:cNvPr id="11" name="Shape 7"/>
          <p:cNvSpPr/>
          <p:nvPr/>
        </p:nvSpPr>
        <p:spPr>
          <a:xfrm>
            <a:off x="731520" y="2382012"/>
            <a:ext cx="585216" cy="585216"/>
          </a:xfrm>
          <a:prstGeom prst="ellipse">
            <a:avLst/>
          </a:prstGeom>
          <a:solidFill>
            <a:srgbClr val="127C82"/>
          </a:solidFill>
          <a:ln/>
        </p:spPr>
      </p:sp>
      <p:pic>
        <p:nvPicPr>
          <p:cNvPr id="12" name="Image 2" descr="/home/claude/aichuyendoiso2/assets/icons/circlecheck_FFFFFF.png">    </p:cNvPr>
          <p:cNvPicPr>
            <a:picLocks noChangeAspect="1"/>
          </p:cNvPicPr>
          <p:nvPr/>
        </p:nvPicPr>
        <p:blipFill>
          <a:blip r:embed="rId4"/>
          <a:stretch>
            <a:fillRect/>
          </a:stretch>
        </p:blipFill>
        <p:spPr>
          <a:xfrm>
            <a:off x="889528" y="2540020"/>
            <a:ext cx="269199" cy="269199"/>
          </a:xfrm>
          <a:prstGeom prst="rect">
            <a:avLst/>
          </a:prstGeom>
        </p:spPr>
      </p:pic>
      <p:sp>
        <p:nvSpPr>
          <p:cNvPr id="13" name="Text 8"/>
          <p:cNvSpPr txBox="1"/>
          <p:nvPr/>
        </p:nvSpPr>
        <p:spPr>
          <a:xfrm>
            <a:off x="1600200" y="2194560"/>
            <a:ext cx="9784080" cy="365760"/>
          </a:xfrm>
          <a:prstGeom prst="rect">
            <a:avLst/>
          </a:prstGeom>
          <a:noFill/>
          <a:ln/>
        </p:spPr>
        <p:txBody>
          <a:bodyPr wrap="square" lIns="0" tIns="0" rIns="0" bIns="0" rtlCol="0" anchor="b"/>
          <a:lstStyle/>
          <a:p>
            <a:pPr indent="0" marL="0">
              <a:buNone/>
            </a:pPr>
            <a:r>
              <a:rPr lang="en-US" sz="1650" b="1" dirty="0">
                <a:solidFill>
                  <a:srgbClr val="17282B"/>
                </a:solidFill>
                <a:latin typeface="Arial" pitchFamily="34" charset="0"/>
                <a:ea typeface="Arial" pitchFamily="34" charset="-122"/>
                <a:cs typeface="Arial" pitchFamily="34" charset="-120"/>
              </a:rPr>
              <a:t>Chuyển đổi số đang thay đổi mọi ngành nghề</a:t>
            </a:r>
            <a:endParaRPr lang="en-US" sz="1650" dirty="0"/>
          </a:p>
        </p:txBody>
      </p:sp>
      <p:sp>
        <p:nvSpPr>
          <p:cNvPr id="14" name="Text 9"/>
          <p:cNvSpPr txBox="1"/>
          <p:nvPr/>
        </p:nvSpPr>
        <p:spPr>
          <a:xfrm>
            <a:off x="1600200" y="2560320"/>
            <a:ext cx="9784080" cy="548640"/>
          </a:xfrm>
          <a:prstGeom prst="rect">
            <a:avLst/>
          </a:prstGeom>
          <a:noFill/>
          <a:ln/>
        </p:spPr>
        <p:txBody>
          <a:bodyPr wrap="square" lIns="0" tIns="0" rIns="0" bIns="0" rtlCol="0" anchor="t"/>
          <a:lstStyle/>
          <a:p>
            <a:pPr indent="0" marL="0">
              <a:lnSpc>
                <a:spcPts val="1800"/>
              </a:lnSpc>
              <a:buNone/>
            </a:pPr>
            <a:r>
              <a:rPr lang="en-US" sz="1400" dirty="0">
                <a:solidFill>
                  <a:srgbClr val="5C7378"/>
                </a:solidFill>
                <a:latin typeface="Arial" pitchFamily="34" charset="0"/>
                <a:ea typeface="Arial" pitchFamily="34" charset="-122"/>
                <a:cs typeface="Arial" pitchFamily="34" charset="-120"/>
              </a:rPr>
              <a:t>Kể cả ngành em đang học tại Trường.</a:t>
            </a:r>
            <a:endParaRPr lang="en-US" sz="1400" dirty="0"/>
          </a:p>
        </p:txBody>
      </p:sp>
      <p:sp>
        <p:nvSpPr>
          <p:cNvPr id="15" name="Shape 10"/>
          <p:cNvSpPr/>
          <p:nvPr/>
        </p:nvSpPr>
        <p:spPr>
          <a:xfrm>
            <a:off x="731520" y="3342132"/>
            <a:ext cx="585216" cy="585216"/>
          </a:xfrm>
          <a:prstGeom prst="ellipse">
            <a:avLst/>
          </a:prstGeom>
          <a:solidFill>
            <a:srgbClr val="127C82"/>
          </a:solidFill>
          <a:ln/>
        </p:spPr>
      </p:sp>
      <p:pic>
        <p:nvPicPr>
          <p:cNvPr id="16" name="Image 3" descr="/home/claude/aichuyendoiso2/assets/icons/circlecheck_FFFFFF.png">    </p:cNvPr>
          <p:cNvPicPr>
            <a:picLocks noChangeAspect="1"/>
          </p:cNvPicPr>
          <p:nvPr/>
        </p:nvPicPr>
        <p:blipFill>
          <a:blip r:embed="rId5"/>
          <a:stretch>
            <a:fillRect/>
          </a:stretch>
        </p:blipFill>
        <p:spPr>
          <a:xfrm>
            <a:off x="889528" y="3500140"/>
            <a:ext cx="269199" cy="269199"/>
          </a:xfrm>
          <a:prstGeom prst="rect">
            <a:avLst/>
          </a:prstGeom>
        </p:spPr>
      </p:pic>
      <p:sp>
        <p:nvSpPr>
          <p:cNvPr id="17" name="Text 11"/>
          <p:cNvSpPr txBox="1"/>
          <p:nvPr/>
        </p:nvSpPr>
        <p:spPr>
          <a:xfrm>
            <a:off x="1600200" y="3154680"/>
            <a:ext cx="9784080" cy="365760"/>
          </a:xfrm>
          <a:prstGeom prst="rect">
            <a:avLst/>
          </a:prstGeom>
          <a:noFill/>
          <a:ln/>
        </p:spPr>
        <p:txBody>
          <a:bodyPr wrap="square" lIns="0" tIns="0" rIns="0" bIns="0" rtlCol="0" anchor="b"/>
          <a:lstStyle/>
          <a:p>
            <a:pPr indent="0" marL="0">
              <a:buNone/>
            </a:pPr>
            <a:r>
              <a:rPr lang="en-US" sz="1650" b="1" dirty="0">
                <a:solidFill>
                  <a:srgbClr val="17282B"/>
                </a:solidFill>
                <a:latin typeface="Arial" pitchFamily="34" charset="0"/>
                <a:ea typeface="Arial" pitchFamily="34" charset="-122"/>
                <a:cs typeface="Arial" pitchFamily="34" charset="-120"/>
              </a:rPr>
              <a:t>Có nhiều công cụ AI miễn phí, dễ dùng</a:t>
            </a:r>
            <a:endParaRPr lang="en-US" sz="1650" dirty="0"/>
          </a:p>
        </p:txBody>
      </p:sp>
      <p:sp>
        <p:nvSpPr>
          <p:cNvPr id="18" name="Text 12"/>
          <p:cNvSpPr txBox="1"/>
          <p:nvPr/>
        </p:nvSpPr>
        <p:spPr>
          <a:xfrm>
            <a:off x="1600200" y="3520440"/>
            <a:ext cx="9784080" cy="548640"/>
          </a:xfrm>
          <a:prstGeom prst="rect">
            <a:avLst/>
          </a:prstGeom>
          <a:noFill/>
          <a:ln/>
        </p:spPr>
        <p:txBody>
          <a:bodyPr wrap="square" lIns="0" tIns="0" rIns="0" bIns="0" rtlCol="0" anchor="t"/>
          <a:lstStyle/>
          <a:p>
            <a:pPr indent="0" marL="0">
              <a:lnSpc>
                <a:spcPts val="1800"/>
              </a:lnSpc>
              <a:buNone/>
            </a:pPr>
            <a:r>
              <a:rPr lang="en-US" sz="1400" dirty="0">
                <a:solidFill>
                  <a:srgbClr val="5C7378"/>
                </a:solidFill>
                <a:latin typeface="Arial" pitchFamily="34" charset="0"/>
                <a:ea typeface="Arial" pitchFamily="34" charset="-122"/>
                <a:cs typeface="Arial" pitchFamily="34" charset="-120"/>
              </a:rPr>
              <a:t>Ngay trên điện thoại — ChatGPT, Gemini, Google Dịch, NotebookLM, Photomath...</a:t>
            </a:r>
            <a:endParaRPr lang="en-US" sz="1400" dirty="0"/>
          </a:p>
        </p:txBody>
      </p:sp>
      <p:sp>
        <p:nvSpPr>
          <p:cNvPr id="19" name="Shape 13"/>
          <p:cNvSpPr/>
          <p:nvPr/>
        </p:nvSpPr>
        <p:spPr>
          <a:xfrm>
            <a:off x="731520" y="4302252"/>
            <a:ext cx="585216" cy="585216"/>
          </a:xfrm>
          <a:prstGeom prst="ellipse">
            <a:avLst/>
          </a:prstGeom>
          <a:solidFill>
            <a:srgbClr val="127C82"/>
          </a:solidFill>
          <a:ln/>
        </p:spPr>
      </p:sp>
      <p:pic>
        <p:nvPicPr>
          <p:cNvPr id="20" name="Image 4" descr="/home/claude/aichuyendoiso2/assets/icons/circlecheck_FFFFFF.png">    </p:cNvPr>
          <p:cNvPicPr>
            <a:picLocks noChangeAspect="1"/>
          </p:cNvPicPr>
          <p:nvPr/>
        </p:nvPicPr>
        <p:blipFill>
          <a:blip r:embed="rId6"/>
          <a:stretch>
            <a:fillRect/>
          </a:stretch>
        </p:blipFill>
        <p:spPr>
          <a:xfrm>
            <a:off x="889528" y="4460260"/>
            <a:ext cx="269199" cy="269199"/>
          </a:xfrm>
          <a:prstGeom prst="rect">
            <a:avLst/>
          </a:prstGeom>
        </p:spPr>
      </p:pic>
      <p:sp>
        <p:nvSpPr>
          <p:cNvPr id="21" name="Text 14"/>
          <p:cNvSpPr txBox="1"/>
          <p:nvPr/>
        </p:nvSpPr>
        <p:spPr>
          <a:xfrm>
            <a:off x="1600200" y="4114800"/>
            <a:ext cx="9784080" cy="365760"/>
          </a:xfrm>
          <a:prstGeom prst="rect">
            <a:avLst/>
          </a:prstGeom>
          <a:noFill/>
          <a:ln/>
        </p:spPr>
        <p:txBody>
          <a:bodyPr wrap="square" lIns="0" tIns="0" rIns="0" bIns="0" rtlCol="0" anchor="b"/>
          <a:lstStyle/>
          <a:p>
            <a:pPr indent="0" marL="0">
              <a:buNone/>
            </a:pPr>
            <a:r>
              <a:rPr lang="en-US" sz="1650" b="1" dirty="0">
                <a:solidFill>
                  <a:srgbClr val="17282B"/>
                </a:solidFill>
                <a:latin typeface="Arial" pitchFamily="34" charset="0"/>
                <a:ea typeface="Arial" pitchFamily="34" charset="-122"/>
                <a:cs typeface="Arial" pitchFamily="34" charset="-120"/>
              </a:rPr>
              <a:t>Biết đặt Prompt (câu lệnh) rõ ràng sẽ có kết quả tốt</a:t>
            </a:r>
            <a:endParaRPr lang="en-US" sz="1650" dirty="0"/>
          </a:p>
        </p:txBody>
      </p:sp>
      <p:sp>
        <p:nvSpPr>
          <p:cNvPr id="22" name="Text 15"/>
          <p:cNvSpPr txBox="1"/>
          <p:nvPr/>
        </p:nvSpPr>
        <p:spPr>
          <a:xfrm>
            <a:off x="1600200" y="4480560"/>
            <a:ext cx="9784080" cy="548640"/>
          </a:xfrm>
          <a:prstGeom prst="rect">
            <a:avLst/>
          </a:prstGeom>
          <a:noFill/>
          <a:ln/>
        </p:spPr>
        <p:txBody>
          <a:bodyPr wrap="square" lIns="0" tIns="0" rIns="0" bIns="0" rtlCol="0" anchor="t"/>
          <a:lstStyle/>
          <a:p>
            <a:pPr indent="0" marL="0">
              <a:lnSpc>
                <a:spcPts val="1800"/>
              </a:lnSpc>
              <a:buNone/>
            </a:pPr>
            <a:r>
              <a:rPr lang="en-US" sz="1400" dirty="0">
                <a:solidFill>
                  <a:srgbClr val="5C7378"/>
                </a:solidFill>
                <a:latin typeface="Arial" pitchFamily="34" charset="0"/>
                <a:ea typeface="Arial" pitchFamily="34" charset="-122"/>
                <a:cs typeface="Arial" pitchFamily="34" charset="-120"/>
              </a:rPr>
              <a:t>Càng cụ thể, kết quả càng sát nhu cầu.</a:t>
            </a:r>
            <a:endParaRPr lang="en-US" sz="1400" dirty="0"/>
          </a:p>
        </p:txBody>
      </p:sp>
      <p:sp>
        <p:nvSpPr>
          <p:cNvPr id="23" name="Shape 16"/>
          <p:cNvSpPr/>
          <p:nvPr/>
        </p:nvSpPr>
        <p:spPr>
          <a:xfrm>
            <a:off x="731520" y="5262372"/>
            <a:ext cx="585216" cy="585216"/>
          </a:xfrm>
          <a:prstGeom prst="ellipse">
            <a:avLst/>
          </a:prstGeom>
          <a:solidFill>
            <a:srgbClr val="127C82"/>
          </a:solidFill>
          <a:ln/>
        </p:spPr>
      </p:sp>
      <p:pic>
        <p:nvPicPr>
          <p:cNvPr id="24" name="Image 5" descr="/home/claude/aichuyendoiso2/assets/icons/circlecheck_FFFFFF.png">    </p:cNvPr>
          <p:cNvPicPr>
            <a:picLocks noChangeAspect="1"/>
          </p:cNvPicPr>
          <p:nvPr/>
        </p:nvPicPr>
        <p:blipFill>
          <a:blip r:embed="rId7"/>
          <a:stretch>
            <a:fillRect/>
          </a:stretch>
        </p:blipFill>
        <p:spPr>
          <a:xfrm>
            <a:off x="889528" y="5420380"/>
            <a:ext cx="269199" cy="269199"/>
          </a:xfrm>
          <a:prstGeom prst="rect">
            <a:avLst/>
          </a:prstGeom>
        </p:spPr>
      </p:pic>
      <p:sp>
        <p:nvSpPr>
          <p:cNvPr id="25" name="Text 17"/>
          <p:cNvSpPr txBox="1"/>
          <p:nvPr/>
        </p:nvSpPr>
        <p:spPr>
          <a:xfrm>
            <a:off x="1600200" y="5074920"/>
            <a:ext cx="9784080" cy="365760"/>
          </a:xfrm>
          <a:prstGeom prst="rect">
            <a:avLst/>
          </a:prstGeom>
          <a:noFill/>
          <a:ln/>
        </p:spPr>
        <p:txBody>
          <a:bodyPr wrap="square" lIns="0" tIns="0" rIns="0" bIns="0" rtlCol="0" anchor="b"/>
          <a:lstStyle/>
          <a:p>
            <a:pPr indent="0" marL="0">
              <a:buNone/>
            </a:pPr>
            <a:r>
              <a:rPr lang="en-US" sz="1650" b="1" dirty="0">
                <a:solidFill>
                  <a:srgbClr val="17282B"/>
                </a:solidFill>
                <a:latin typeface="Arial" pitchFamily="34" charset="0"/>
                <a:ea typeface="Arial" pitchFamily="34" charset="-122"/>
                <a:cs typeface="Arial" pitchFamily="34" charset="-120"/>
              </a:rPr>
              <a:t>Luôn dùng AI an toàn và có trách nhiệm</a:t>
            </a:r>
            <a:endParaRPr lang="en-US" sz="1650" dirty="0"/>
          </a:p>
        </p:txBody>
      </p:sp>
      <p:sp>
        <p:nvSpPr>
          <p:cNvPr id="26" name="Text 18"/>
          <p:cNvSpPr txBox="1"/>
          <p:nvPr/>
        </p:nvSpPr>
        <p:spPr>
          <a:xfrm>
            <a:off x="1600200" y="5440680"/>
            <a:ext cx="9784080" cy="548640"/>
          </a:xfrm>
          <a:prstGeom prst="rect">
            <a:avLst/>
          </a:prstGeom>
          <a:noFill/>
          <a:ln/>
        </p:spPr>
        <p:txBody>
          <a:bodyPr wrap="square" lIns="0" tIns="0" rIns="0" bIns="0" rtlCol="0" anchor="t"/>
          <a:lstStyle/>
          <a:p>
            <a:pPr indent="0" marL="0">
              <a:lnSpc>
                <a:spcPts val="1800"/>
              </a:lnSpc>
              <a:buNone/>
            </a:pPr>
            <a:r>
              <a:rPr lang="en-US" sz="1400" dirty="0">
                <a:solidFill>
                  <a:srgbClr val="5C7378"/>
                </a:solidFill>
                <a:latin typeface="Arial" pitchFamily="34" charset="0"/>
                <a:ea typeface="Arial" pitchFamily="34" charset="-122"/>
                <a:cs typeface="Arial" pitchFamily="34" charset="-120"/>
              </a:rPr>
              <a:t>Không đưa thông tin riêng tư, luôn kiểm tra lại kết quả.</a:t>
            </a:r>
            <a:endParaRPr lang="en-US" sz="1400" dirty="0"/>
          </a:p>
        </p:txBody>
      </p:sp>
    </p:spTree>
  </p:cSld>
  <p:clrMapOvr>
    <a:masterClrMapping/>
  </p:clrMapOvr>
  <p:transition spd="med">
    <p:fade/>
  </p:transition>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347472"/>
            <a:ext cx="457200" cy="457200"/>
          </a:xfrm>
          <a:prstGeom prst="ellipse">
            <a:avLst/>
          </a:prstGeom>
          <a:solidFill>
            <a:srgbClr val="127C82"/>
          </a:solidFill>
          <a:ln/>
        </p:spPr>
      </p:sp>
      <p:pic>
        <p:nvPicPr>
          <p:cNvPr id="3" name="Image 0" descr="/home/claude/aichuyendoiso2/assets/icons/flag_FFFFFF.png">    </p:cNvPr>
          <p:cNvPicPr>
            <a:picLocks noChangeAspect="1"/>
          </p:cNvPicPr>
          <p:nvPr/>
        </p:nvPicPr>
        <p:blipFill>
          <a:blip r:embed="rId2"/>
          <a:stretch>
            <a:fillRect/>
          </a:stretch>
        </p:blipFill>
        <p:spPr>
          <a:xfrm>
            <a:off x="580644" y="470916"/>
            <a:ext cx="210312" cy="210312"/>
          </a:xfrm>
          <a:prstGeom prst="rect">
            <a:avLst/>
          </a:prstGeom>
        </p:spPr>
      </p:pic>
      <p:sp>
        <p:nvSpPr>
          <p:cNvPr id="4" name="Text 1"/>
          <p:cNvSpPr txBox="1"/>
          <p:nvPr/>
        </p:nvSpPr>
        <p:spPr>
          <a:xfrm>
            <a:off x="1051560" y="301752"/>
            <a:ext cx="10607040" cy="566928"/>
          </a:xfrm>
          <a:prstGeom prst="rect">
            <a:avLst/>
          </a:prstGeom>
          <a:noFill/>
          <a:ln/>
        </p:spPr>
        <p:txBody>
          <a:bodyPr wrap="square" lIns="0" tIns="0" rIns="0" bIns="0" rtlCol="0" anchor="ctr"/>
          <a:lstStyle/>
          <a:p>
            <a:pPr indent="0" marL="0">
              <a:buNone/>
            </a:pPr>
            <a:r>
              <a:rPr lang="en-US" sz="2600" b="1" dirty="0">
                <a:solidFill>
                  <a:srgbClr val="0B5257"/>
                </a:solidFill>
                <a:latin typeface="Arial" pitchFamily="34" charset="0"/>
                <a:ea typeface="Arial" pitchFamily="34" charset="-122"/>
                <a:cs typeface="Arial" pitchFamily="34" charset="-120"/>
              </a:rPr>
              <a:t>Nhiệm vụ sau buổi học</a:t>
            </a:r>
            <a:endParaRPr lang="en-US" sz="2600" dirty="0"/>
          </a:p>
        </p:txBody>
      </p:sp>
      <p:sp>
        <p:nvSpPr>
          <p:cNvPr id="5" name="Text 2"/>
          <p:cNvSpPr txBox="1"/>
          <p:nvPr/>
        </p:nvSpPr>
        <p:spPr>
          <a:xfrm>
            <a:off x="457200" y="6492240"/>
            <a:ext cx="7315200" cy="274320"/>
          </a:xfrm>
          <a:prstGeom prst="rect">
            <a:avLst/>
          </a:prstGeom>
          <a:noFill/>
          <a:ln/>
        </p:spPr>
        <p:txBody>
          <a:bodyPr wrap="square" lIns="0" tIns="0" rIns="0" bIns="0" rtlCol="0" anchor="ctr"/>
          <a:lstStyle/>
          <a:p>
            <a:pPr algn="l" indent="0" marL="0">
              <a:buNone/>
            </a:pPr>
            <a:r>
              <a:rPr lang="en-US" sz="1000" dirty="0">
                <a:solidFill>
                  <a:srgbClr val="5C7378"/>
                </a:solidFill>
                <a:latin typeface="Arial" pitchFamily="34" charset="0"/>
                <a:ea typeface="Arial" pitchFamily="34" charset="-122"/>
                <a:cs typeface="Arial" pitchFamily="34" charset="-120"/>
              </a:rPr>
              <a:t>Tổng kết</a:t>
            </a:r>
            <a:endParaRPr lang="en-US" sz="1000" dirty="0"/>
          </a:p>
        </p:txBody>
      </p:sp>
      <p:sp>
        <p:nvSpPr>
          <p:cNvPr id="6" name="Text 3"/>
          <p:cNvSpPr txBox="1"/>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C7378"/>
                </a:solidFill>
                <a:latin typeface="Arial" pitchFamily="34" charset="0"/>
                <a:ea typeface="Arial" pitchFamily="34" charset="-122"/>
                <a:cs typeface="Arial" pitchFamily="34" charset="-120"/>
              </a:rPr>
              <a:t>36</a:t>
            </a:r>
            <a:endParaRPr lang="en-US" sz="1000" dirty="0"/>
          </a:p>
        </p:txBody>
      </p:sp>
      <p:sp>
        <p:nvSpPr>
          <p:cNvPr id="7" name="Shape 4"/>
          <p:cNvSpPr/>
          <p:nvPr/>
        </p:nvSpPr>
        <p:spPr>
          <a:xfrm>
            <a:off x="731520" y="1188720"/>
            <a:ext cx="2148840" cy="502920"/>
          </a:xfrm>
          <a:prstGeom prst="roundRect">
            <a:avLst>
              <a:gd name="adj" fmla="val 50909"/>
            </a:avLst>
          </a:prstGeom>
          <a:solidFill>
            <a:srgbClr val="F2A93B"/>
          </a:solidFill>
          <a:ln/>
        </p:spPr>
      </p:sp>
      <p:pic>
        <p:nvPicPr>
          <p:cNvPr id="8" name="Image 1" descr="/home/claude/aichuyendoiso2/assets/icons/bookopen_0B3B45.png">    </p:cNvPr>
          <p:cNvPicPr>
            <a:picLocks noChangeAspect="1"/>
          </p:cNvPicPr>
          <p:nvPr/>
        </p:nvPicPr>
        <p:blipFill>
          <a:blip r:embed="rId3"/>
          <a:stretch>
            <a:fillRect/>
          </a:stretch>
        </p:blipFill>
        <p:spPr>
          <a:xfrm>
            <a:off x="896112" y="1298448"/>
            <a:ext cx="292608" cy="292608"/>
          </a:xfrm>
          <a:prstGeom prst="rect">
            <a:avLst/>
          </a:prstGeom>
        </p:spPr>
      </p:pic>
      <p:sp>
        <p:nvSpPr>
          <p:cNvPr id="9" name="Text 5"/>
          <p:cNvSpPr txBox="1"/>
          <p:nvPr/>
        </p:nvSpPr>
        <p:spPr>
          <a:xfrm>
            <a:off x="1234440" y="1188720"/>
            <a:ext cx="1600200" cy="502920"/>
          </a:xfrm>
          <a:prstGeom prst="rect">
            <a:avLst/>
          </a:prstGeom>
          <a:noFill/>
          <a:ln/>
        </p:spPr>
        <p:txBody>
          <a:bodyPr wrap="square" lIns="0" tIns="0" rIns="0" bIns="0" rtlCol="0" anchor="ctr"/>
          <a:lstStyle/>
          <a:p>
            <a:pPr algn="ctr" indent="0" marL="0">
              <a:buNone/>
            </a:pPr>
            <a:r>
              <a:rPr lang="en-US" sz="1300" b="1" dirty="0">
                <a:solidFill>
                  <a:srgbClr val="0B3B45"/>
                </a:solidFill>
                <a:latin typeface="Arial" pitchFamily="34" charset="0"/>
                <a:ea typeface="Arial" pitchFamily="34" charset="-122"/>
                <a:cs typeface="Arial" pitchFamily="34" charset="-120"/>
              </a:rPr>
              <a:t>VỀ NHÀ</a:t>
            </a:r>
            <a:endParaRPr lang="en-US" sz="1300" dirty="0"/>
          </a:p>
        </p:txBody>
      </p:sp>
      <p:sp>
        <p:nvSpPr>
          <p:cNvPr id="10" name="Shape 6"/>
          <p:cNvSpPr/>
          <p:nvPr/>
        </p:nvSpPr>
        <p:spPr>
          <a:xfrm>
            <a:off x="731520" y="1965960"/>
            <a:ext cx="10698480" cy="777240"/>
          </a:xfrm>
          <a:prstGeom prst="roundRect">
            <a:avLst>
              <a:gd name="adj" fmla="val 9412"/>
            </a:avLst>
          </a:prstGeom>
          <a:solidFill>
            <a:srgbClr val="EEF5F5"/>
          </a:solidFill>
          <a:ln w="12700">
            <a:solidFill>
              <a:srgbClr val="D6E6E6"/>
            </a:solidFill>
            <a:prstDash val="solid"/>
          </a:ln>
        </p:spPr>
      </p:sp>
      <p:sp>
        <p:nvSpPr>
          <p:cNvPr id="11" name="Text 7"/>
          <p:cNvSpPr txBox="1"/>
          <p:nvPr/>
        </p:nvSpPr>
        <p:spPr>
          <a:xfrm>
            <a:off x="960120" y="2039112"/>
            <a:ext cx="10241280" cy="630936"/>
          </a:xfrm>
          <a:prstGeom prst="rect">
            <a:avLst/>
          </a:prstGeom>
          <a:noFill/>
          <a:ln/>
        </p:spPr>
        <p:txBody>
          <a:bodyPr wrap="square" lIns="0" tIns="0" rIns="0" bIns="0" rtlCol="0" anchor="ctr"/>
          <a:lstStyle/>
          <a:p>
            <a:pPr marL="342900" indent="-342900">
              <a:lnSpc>
                <a:spcPts val="1800"/>
              </a:lnSpc>
              <a:buSzPct val="100000"/>
              <a:buChar char="●"/>
            </a:pPr>
            <a:r>
              <a:rPr lang="en-US" sz="1450" dirty="0">
                <a:solidFill>
                  <a:srgbClr val="17282B"/>
                </a:solidFill>
                <a:latin typeface="Arial" pitchFamily="34" charset="0"/>
                <a:ea typeface="Arial" pitchFamily="34" charset="-122"/>
                <a:cs typeface="Arial" pitchFamily="34" charset="-120"/>
              </a:rPr>
              <a:t>Cài 1 công cụ AI miễn phí (ChatGPT hoặc Gemini) trên điện thoại của mình.</a:t>
            </a:r>
            <a:endParaRPr lang="en-US" sz="1450" dirty="0"/>
          </a:p>
        </p:txBody>
      </p:sp>
      <p:sp>
        <p:nvSpPr>
          <p:cNvPr id="12" name="Shape 8"/>
          <p:cNvSpPr/>
          <p:nvPr/>
        </p:nvSpPr>
        <p:spPr>
          <a:xfrm>
            <a:off x="731520" y="2971800"/>
            <a:ext cx="10698480" cy="777240"/>
          </a:xfrm>
          <a:prstGeom prst="roundRect">
            <a:avLst>
              <a:gd name="adj" fmla="val 9412"/>
            </a:avLst>
          </a:prstGeom>
          <a:solidFill>
            <a:srgbClr val="EEF5F5"/>
          </a:solidFill>
          <a:ln w="12700">
            <a:solidFill>
              <a:srgbClr val="D6E6E6"/>
            </a:solidFill>
            <a:prstDash val="solid"/>
          </a:ln>
        </p:spPr>
      </p:sp>
      <p:sp>
        <p:nvSpPr>
          <p:cNvPr id="13" name="Text 9"/>
          <p:cNvSpPr txBox="1"/>
          <p:nvPr/>
        </p:nvSpPr>
        <p:spPr>
          <a:xfrm>
            <a:off x="960120" y="3044952"/>
            <a:ext cx="10241280" cy="630936"/>
          </a:xfrm>
          <a:prstGeom prst="rect">
            <a:avLst/>
          </a:prstGeom>
          <a:noFill/>
          <a:ln/>
        </p:spPr>
        <p:txBody>
          <a:bodyPr wrap="square" lIns="0" tIns="0" rIns="0" bIns="0" rtlCol="0" anchor="ctr"/>
          <a:lstStyle/>
          <a:p>
            <a:pPr marL="342900" indent="-342900">
              <a:lnSpc>
                <a:spcPts val="1800"/>
              </a:lnSpc>
              <a:buSzPct val="100000"/>
              <a:buChar char="●"/>
            </a:pPr>
            <a:r>
              <a:rPr lang="en-US" sz="1450" dirty="0">
                <a:solidFill>
                  <a:srgbClr val="17282B"/>
                </a:solidFill>
                <a:latin typeface="Arial" pitchFamily="34" charset="0"/>
                <a:ea typeface="Arial" pitchFamily="34" charset="-122"/>
                <a:cs typeface="Arial" pitchFamily="34" charset="-120"/>
              </a:rPr>
              <a:t>Viết 1 prompt (câu lệnh) liên quan đến ngành đang học, theo công thức đã học.</a:t>
            </a:r>
            <a:endParaRPr lang="en-US" sz="1450" dirty="0"/>
          </a:p>
        </p:txBody>
      </p:sp>
      <p:sp>
        <p:nvSpPr>
          <p:cNvPr id="14" name="Shape 10"/>
          <p:cNvSpPr/>
          <p:nvPr/>
        </p:nvSpPr>
        <p:spPr>
          <a:xfrm>
            <a:off x="731520" y="3977640"/>
            <a:ext cx="10698480" cy="777240"/>
          </a:xfrm>
          <a:prstGeom prst="roundRect">
            <a:avLst>
              <a:gd name="adj" fmla="val 9412"/>
            </a:avLst>
          </a:prstGeom>
          <a:solidFill>
            <a:srgbClr val="EEF5F5"/>
          </a:solidFill>
          <a:ln w="12700">
            <a:solidFill>
              <a:srgbClr val="D6E6E6"/>
            </a:solidFill>
            <a:prstDash val="solid"/>
          </a:ln>
        </p:spPr>
      </p:sp>
      <p:sp>
        <p:nvSpPr>
          <p:cNvPr id="15" name="Text 11"/>
          <p:cNvSpPr txBox="1"/>
          <p:nvPr/>
        </p:nvSpPr>
        <p:spPr>
          <a:xfrm>
            <a:off x="960120" y="4050792"/>
            <a:ext cx="10241280" cy="630936"/>
          </a:xfrm>
          <a:prstGeom prst="rect">
            <a:avLst/>
          </a:prstGeom>
          <a:noFill/>
          <a:ln/>
        </p:spPr>
        <p:txBody>
          <a:bodyPr wrap="square" lIns="0" tIns="0" rIns="0" bIns="0" rtlCol="0" anchor="ctr"/>
          <a:lstStyle/>
          <a:p>
            <a:pPr marL="342900" indent="-342900">
              <a:lnSpc>
                <a:spcPts val="1800"/>
              </a:lnSpc>
              <a:buSzPct val="100000"/>
              <a:buChar char="●"/>
            </a:pPr>
            <a:r>
              <a:rPr lang="en-US" sz="1450" dirty="0">
                <a:solidFill>
                  <a:srgbClr val="17282B"/>
                </a:solidFill>
                <a:latin typeface="Arial" pitchFamily="34" charset="0"/>
                <a:ea typeface="Arial" pitchFamily="34" charset="-122"/>
                <a:cs typeface="Arial" pitchFamily="34" charset="-120"/>
              </a:rPr>
              <a:t>Ghi lại: prompt đã viết + kết quả AI trả lời + nhận xét chỗ nào đúng, chỗ nào chưa đúng.</a:t>
            </a:r>
            <a:endParaRPr lang="en-US" sz="1450" dirty="0"/>
          </a:p>
        </p:txBody>
      </p:sp>
    </p:spTree>
  </p:cSld>
  <p:clrMapOvr>
    <a:masterClrMapping/>
  </p:clrMapOvr>
  <p:transition spd="med">
    <p:fade/>
  </p:transition>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7200" y="347472"/>
            <a:ext cx="457200" cy="457200"/>
          </a:xfrm>
          <a:prstGeom prst="ellipse">
            <a:avLst/>
          </a:prstGeom>
          <a:solidFill>
            <a:srgbClr val="127C82"/>
          </a:solidFill>
          <a:ln/>
        </p:spPr>
      </p:sp>
      <p:pic>
        <p:nvPicPr>
          <p:cNvPr id="3" name="Image 0" descr="/home/claude/aichuyendoiso2/assets/icons/flag_FFFFFF.png">    </p:cNvPr>
          <p:cNvPicPr>
            <a:picLocks noChangeAspect="1"/>
          </p:cNvPicPr>
          <p:nvPr/>
        </p:nvPicPr>
        <p:blipFill>
          <a:blip r:embed="rId2"/>
          <a:stretch>
            <a:fillRect/>
          </a:stretch>
        </p:blipFill>
        <p:spPr>
          <a:xfrm>
            <a:off x="580644" y="470916"/>
            <a:ext cx="210312" cy="210312"/>
          </a:xfrm>
          <a:prstGeom prst="rect">
            <a:avLst/>
          </a:prstGeom>
        </p:spPr>
      </p:pic>
      <p:sp>
        <p:nvSpPr>
          <p:cNvPr id="4" name="Text 1"/>
          <p:cNvSpPr txBox="1"/>
          <p:nvPr/>
        </p:nvSpPr>
        <p:spPr>
          <a:xfrm>
            <a:off x="1051560" y="301752"/>
            <a:ext cx="10607040" cy="566928"/>
          </a:xfrm>
          <a:prstGeom prst="rect">
            <a:avLst/>
          </a:prstGeom>
          <a:noFill/>
          <a:ln/>
        </p:spPr>
        <p:txBody>
          <a:bodyPr wrap="square" lIns="0" tIns="0" rIns="0" bIns="0" rtlCol="0" anchor="ctr"/>
          <a:lstStyle/>
          <a:p>
            <a:pPr indent="0" marL="0">
              <a:buNone/>
            </a:pPr>
            <a:r>
              <a:rPr lang="en-US" sz="2600" b="1" dirty="0">
                <a:solidFill>
                  <a:srgbClr val="0B5257"/>
                </a:solidFill>
                <a:latin typeface="Arial" pitchFamily="34" charset="0"/>
                <a:ea typeface="Arial" pitchFamily="34" charset="-122"/>
                <a:cs typeface="Arial" pitchFamily="34" charset="-120"/>
              </a:rPr>
              <a:t>Tài Nguyên Tham Khảo — Cài Đặt Qua Mã QR</a:t>
            </a:r>
            <a:endParaRPr lang="en-US" sz="2600" dirty="0"/>
          </a:p>
        </p:txBody>
      </p:sp>
      <p:sp>
        <p:nvSpPr>
          <p:cNvPr id="5" name="Text 2"/>
          <p:cNvSpPr txBox="1"/>
          <p:nvPr/>
        </p:nvSpPr>
        <p:spPr>
          <a:xfrm>
            <a:off x="457200" y="6492240"/>
            <a:ext cx="7315200" cy="274320"/>
          </a:xfrm>
          <a:prstGeom prst="rect">
            <a:avLst/>
          </a:prstGeom>
          <a:noFill/>
          <a:ln/>
        </p:spPr>
        <p:txBody>
          <a:bodyPr wrap="square" lIns="0" tIns="0" rIns="0" bIns="0" rtlCol="0" anchor="ctr"/>
          <a:lstStyle/>
          <a:p>
            <a:pPr algn="l" indent="0" marL="0">
              <a:buNone/>
            </a:pPr>
            <a:r>
              <a:rPr lang="en-US" sz="1000" dirty="0">
                <a:solidFill>
                  <a:srgbClr val="5C7378"/>
                </a:solidFill>
                <a:latin typeface="Arial" pitchFamily="34" charset="0"/>
                <a:ea typeface="Arial" pitchFamily="34" charset="-122"/>
                <a:cs typeface="Arial" pitchFamily="34" charset="-120"/>
              </a:rPr>
              <a:t>Tổng kết</a:t>
            </a:r>
            <a:endParaRPr lang="en-US" sz="1000" dirty="0"/>
          </a:p>
        </p:txBody>
      </p:sp>
      <p:sp>
        <p:nvSpPr>
          <p:cNvPr id="6" name="Text 3"/>
          <p:cNvSpPr txBox="1"/>
          <p:nvPr/>
        </p:nvSpPr>
        <p:spPr>
          <a:xfrm>
            <a:off x="11338560" y="6492240"/>
            <a:ext cx="457200" cy="274320"/>
          </a:xfrm>
          <a:prstGeom prst="rect">
            <a:avLst/>
          </a:prstGeom>
          <a:noFill/>
          <a:ln/>
        </p:spPr>
        <p:txBody>
          <a:bodyPr wrap="square" lIns="0" tIns="0" rIns="0" bIns="0" rtlCol="0" anchor="ctr"/>
          <a:lstStyle/>
          <a:p>
            <a:pPr algn="r" indent="0" marL="0">
              <a:buNone/>
            </a:pPr>
            <a:r>
              <a:rPr lang="en-US" sz="1000" dirty="0">
                <a:solidFill>
                  <a:srgbClr val="5C7378"/>
                </a:solidFill>
                <a:latin typeface="Arial" pitchFamily="34" charset="0"/>
                <a:ea typeface="Arial" pitchFamily="34" charset="-122"/>
                <a:cs typeface="Arial" pitchFamily="34" charset="-120"/>
              </a:rPr>
              <a:t>37</a:t>
            </a:r>
            <a:endParaRPr lang="en-US" sz="1000" dirty="0"/>
          </a:p>
        </p:txBody>
      </p:sp>
      <p:sp>
        <p:nvSpPr>
          <p:cNvPr id="7" name="Text 4"/>
          <p:cNvSpPr txBox="1"/>
          <p:nvPr/>
        </p:nvSpPr>
        <p:spPr>
          <a:xfrm>
            <a:off x="731520" y="1188720"/>
            <a:ext cx="10698480" cy="365760"/>
          </a:xfrm>
          <a:prstGeom prst="rect">
            <a:avLst/>
          </a:prstGeom>
          <a:noFill/>
          <a:ln/>
        </p:spPr>
        <p:txBody>
          <a:bodyPr wrap="square" lIns="0" tIns="0" rIns="0" bIns="0" rtlCol="0" anchor="ctr"/>
          <a:lstStyle/>
          <a:p>
            <a:pPr indent="0" marL="0">
              <a:buNone/>
            </a:pPr>
            <a:r>
              <a:rPr lang="en-US" sz="1400" i="1" dirty="0">
                <a:solidFill>
                  <a:srgbClr val="0B5257"/>
                </a:solidFill>
                <a:latin typeface="Arial" pitchFamily="34" charset="0"/>
                <a:ea typeface="Arial" pitchFamily="34" charset="-122"/>
                <a:cs typeface="Arial" pitchFamily="34" charset="-120"/>
              </a:rPr>
              <a:t>Chụp lại slide này hoặc quét mã ngay để cài đặt và dùng dần:</a:t>
            </a:r>
            <a:endParaRPr lang="en-US" sz="1400" dirty="0"/>
          </a:p>
        </p:txBody>
      </p:sp>
      <p:sp>
        <p:nvSpPr>
          <p:cNvPr id="8" name="Shape 5"/>
          <p:cNvSpPr/>
          <p:nvPr/>
        </p:nvSpPr>
        <p:spPr>
          <a:xfrm>
            <a:off x="731520" y="1691640"/>
            <a:ext cx="10698480" cy="1008126"/>
          </a:xfrm>
          <a:prstGeom prst="roundRect">
            <a:avLst>
              <a:gd name="adj" fmla="val 7256"/>
            </a:avLst>
          </a:prstGeom>
          <a:solidFill>
            <a:srgbClr val="EEF5F5"/>
          </a:solidFill>
          <a:ln w="12700">
            <a:solidFill>
              <a:srgbClr val="D6E6E6"/>
            </a:solidFill>
            <a:prstDash val="solid"/>
          </a:ln>
        </p:spPr>
      </p:sp>
      <p:sp>
        <p:nvSpPr>
          <p:cNvPr id="9" name="Shape 6"/>
          <p:cNvSpPr/>
          <p:nvPr/>
        </p:nvSpPr>
        <p:spPr>
          <a:xfrm>
            <a:off x="932688" y="1939671"/>
            <a:ext cx="566928" cy="566928"/>
          </a:xfrm>
          <a:prstGeom prst="ellipse">
            <a:avLst/>
          </a:prstGeom>
          <a:solidFill>
            <a:srgbClr val="127C82"/>
          </a:solidFill>
          <a:ln/>
        </p:spPr>
      </p:sp>
      <p:pic>
        <p:nvPicPr>
          <p:cNvPr id="10" name="Image 1" descr="/home/claude/aichuyendoiso2/assets/icons/comments_FFFFFF.png">    </p:cNvPr>
          <p:cNvPicPr>
            <a:picLocks noChangeAspect="1"/>
          </p:cNvPicPr>
          <p:nvPr/>
        </p:nvPicPr>
        <p:blipFill>
          <a:blip r:embed="rId3"/>
          <a:stretch>
            <a:fillRect/>
          </a:stretch>
        </p:blipFill>
        <p:spPr>
          <a:xfrm>
            <a:off x="1085759" y="2092742"/>
            <a:ext cx="260787" cy="260787"/>
          </a:xfrm>
          <a:prstGeom prst="rect">
            <a:avLst/>
          </a:prstGeom>
        </p:spPr>
      </p:pic>
      <p:sp>
        <p:nvSpPr>
          <p:cNvPr id="11" name="Text 7"/>
          <p:cNvSpPr txBox="1"/>
          <p:nvPr/>
        </p:nvSpPr>
        <p:spPr>
          <a:xfrm>
            <a:off x="1691640" y="1755648"/>
            <a:ext cx="6035040" cy="365760"/>
          </a:xfrm>
          <a:prstGeom prst="rect">
            <a:avLst/>
          </a:prstGeom>
          <a:noFill/>
          <a:ln/>
        </p:spPr>
        <p:txBody>
          <a:bodyPr wrap="square" lIns="0" tIns="0" rIns="0" bIns="0" rtlCol="0" anchor="b"/>
          <a:lstStyle/>
          <a:p>
            <a:pPr indent="0" marL="0">
              <a:buNone/>
            </a:pPr>
            <a:r>
              <a:rPr lang="en-US" sz="1550" b="1" dirty="0">
                <a:solidFill>
                  <a:srgbClr val="17282B"/>
                </a:solidFill>
                <a:latin typeface="Arial" pitchFamily="34" charset="0"/>
                <a:ea typeface="Arial" pitchFamily="34" charset="-122"/>
                <a:cs typeface="Arial" pitchFamily="34" charset="-120"/>
              </a:rPr>
              <a:t>ChatGPT</a:t>
            </a:r>
            <a:endParaRPr lang="en-US" sz="1550" dirty="0"/>
          </a:p>
        </p:txBody>
      </p:sp>
      <p:sp>
        <p:nvSpPr>
          <p:cNvPr id="12" name="Text 8"/>
          <p:cNvSpPr txBox="1"/>
          <p:nvPr/>
        </p:nvSpPr>
        <p:spPr>
          <a:xfrm>
            <a:off x="1691640" y="2103120"/>
            <a:ext cx="6035040" cy="560070"/>
          </a:xfrm>
          <a:prstGeom prst="rect">
            <a:avLst/>
          </a:prstGeom>
          <a:noFill/>
          <a:ln/>
        </p:spPr>
        <p:txBody>
          <a:bodyPr wrap="square" lIns="0" tIns="0" rIns="0" bIns="0" rtlCol="0" anchor="t"/>
          <a:lstStyle/>
          <a:p>
            <a:pPr indent="0" marL="0">
              <a:lnSpc>
                <a:spcPts val="1500"/>
              </a:lnSpc>
              <a:buNone/>
            </a:pPr>
            <a:r>
              <a:rPr lang="en-US" sz="1250" dirty="0">
                <a:solidFill>
                  <a:srgbClr val="5C7378"/>
                </a:solidFill>
                <a:latin typeface="Arial" pitchFamily="34" charset="0"/>
                <a:ea typeface="Arial" pitchFamily="34" charset="-122"/>
                <a:cs typeface="Arial" pitchFamily="34" charset="-120"/>
              </a:rPr>
              <a:t>Hỏi đáp, viết, dịch, tính toán, tóm tắt.</a:t>
            </a:r>
            <a:endParaRPr lang="en-US" sz="1250" dirty="0"/>
          </a:p>
        </p:txBody>
      </p:sp>
      <p:pic>
        <p:nvPicPr>
          <p:cNvPr id="13" name="Image 2" descr="/home/claude/aichuyendoiso2/assets/qr_chatgpt.png">    </p:cNvPr>
          <p:cNvPicPr>
            <a:picLocks noChangeAspect="1"/>
          </p:cNvPicPr>
          <p:nvPr/>
        </p:nvPicPr>
        <p:blipFill>
          <a:blip r:embed="rId4"/>
          <a:stretch>
            <a:fillRect/>
          </a:stretch>
        </p:blipFill>
        <p:spPr>
          <a:xfrm>
            <a:off x="9784080" y="1788795"/>
            <a:ext cx="868680" cy="868680"/>
          </a:xfrm>
          <a:prstGeom prst="rect">
            <a:avLst/>
          </a:prstGeom>
        </p:spPr>
      </p:pic>
      <p:sp>
        <p:nvSpPr>
          <p:cNvPr id="14" name="Text 9"/>
          <p:cNvSpPr txBox="1"/>
          <p:nvPr/>
        </p:nvSpPr>
        <p:spPr>
          <a:xfrm>
            <a:off x="7680960" y="2021967"/>
            <a:ext cx="1965960" cy="402336"/>
          </a:xfrm>
          <a:prstGeom prst="rect">
            <a:avLst/>
          </a:prstGeom>
          <a:noFill/>
          <a:ln/>
        </p:spPr>
        <p:txBody>
          <a:bodyPr wrap="square" lIns="0" tIns="0" rIns="0" bIns="0" rtlCol="0" anchor="ctr"/>
          <a:lstStyle/>
          <a:p>
            <a:pPr algn="r" indent="0" marL="0">
              <a:lnSpc>
                <a:spcPts val="1300"/>
              </a:lnSpc>
              <a:buNone/>
            </a:pPr>
            <a:r>
              <a:rPr lang="en-US" sz="1150" i="1" dirty="0">
                <a:solidFill>
                  <a:srgbClr val="0B5257"/>
                </a:solidFill>
                <a:latin typeface="Arial" pitchFamily="34" charset="0"/>
                <a:ea typeface="Arial" pitchFamily="34" charset="-122"/>
                <a:cs typeface="Arial" pitchFamily="34" charset="-120"/>
              </a:rPr>
              <a:t>chatgpt.com</a:t>
            </a:r>
            <a:endParaRPr lang="en-US" sz="1150" dirty="0"/>
          </a:p>
        </p:txBody>
      </p:sp>
      <p:sp>
        <p:nvSpPr>
          <p:cNvPr id="15" name="Shape 10"/>
          <p:cNvSpPr/>
          <p:nvPr/>
        </p:nvSpPr>
        <p:spPr>
          <a:xfrm>
            <a:off x="731520" y="2846070"/>
            <a:ext cx="10698480" cy="1008126"/>
          </a:xfrm>
          <a:prstGeom prst="roundRect">
            <a:avLst>
              <a:gd name="adj" fmla="val 7256"/>
            </a:avLst>
          </a:prstGeom>
          <a:solidFill>
            <a:srgbClr val="FFFFFF"/>
          </a:solidFill>
          <a:ln w="12700">
            <a:solidFill>
              <a:srgbClr val="D6E6E6"/>
            </a:solidFill>
            <a:prstDash val="solid"/>
          </a:ln>
        </p:spPr>
      </p:sp>
      <p:sp>
        <p:nvSpPr>
          <p:cNvPr id="16" name="Shape 11"/>
          <p:cNvSpPr/>
          <p:nvPr/>
        </p:nvSpPr>
        <p:spPr>
          <a:xfrm>
            <a:off x="932688" y="3094101"/>
            <a:ext cx="566928" cy="566928"/>
          </a:xfrm>
          <a:prstGeom prst="ellipse">
            <a:avLst/>
          </a:prstGeom>
          <a:solidFill>
            <a:srgbClr val="127C82"/>
          </a:solidFill>
          <a:ln/>
        </p:spPr>
      </p:sp>
      <p:pic>
        <p:nvPicPr>
          <p:cNvPr id="17" name="Image 3" descr="/home/claude/aichuyendoiso2/assets/icons/robot_FFFFFF.png">    </p:cNvPr>
          <p:cNvPicPr>
            <a:picLocks noChangeAspect="1"/>
          </p:cNvPicPr>
          <p:nvPr/>
        </p:nvPicPr>
        <p:blipFill>
          <a:blip r:embed="rId5"/>
          <a:stretch>
            <a:fillRect/>
          </a:stretch>
        </p:blipFill>
        <p:spPr>
          <a:xfrm>
            <a:off x="1085759" y="3247172"/>
            <a:ext cx="260787" cy="260787"/>
          </a:xfrm>
          <a:prstGeom prst="rect">
            <a:avLst/>
          </a:prstGeom>
        </p:spPr>
      </p:pic>
      <p:sp>
        <p:nvSpPr>
          <p:cNvPr id="18" name="Text 12"/>
          <p:cNvSpPr txBox="1"/>
          <p:nvPr/>
        </p:nvSpPr>
        <p:spPr>
          <a:xfrm>
            <a:off x="1691640" y="2910078"/>
            <a:ext cx="6035040" cy="365760"/>
          </a:xfrm>
          <a:prstGeom prst="rect">
            <a:avLst/>
          </a:prstGeom>
          <a:noFill/>
          <a:ln/>
        </p:spPr>
        <p:txBody>
          <a:bodyPr wrap="square" lIns="0" tIns="0" rIns="0" bIns="0" rtlCol="0" anchor="b"/>
          <a:lstStyle/>
          <a:p>
            <a:pPr indent="0" marL="0">
              <a:buNone/>
            </a:pPr>
            <a:r>
              <a:rPr lang="en-US" sz="1550" b="1" dirty="0">
                <a:solidFill>
                  <a:srgbClr val="17282B"/>
                </a:solidFill>
                <a:latin typeface="Arial" pitchFamily="34" charset="0"/>
                <a:ea typeface="Arial" pitchFamily="34" charset="-122"/>
                <a:cs typeface="Arial" pitchFamily="34" charset="-120"/>
              </a:rPr>
              <a:t>Gemini</a:t>
            </a:r>
            <a:endParaRPr lang="en-US" sz="1550" dirty="0"/>
          </a:p>
        </p:txBody>
      </p:sp>
      <p:sp>
        <p:nvSpPr>
          <p:cNvPr id="19" name="Text 13"/>
          <p:cNvSpPr txBox="1"/>
          <p:nvPr/>
        </p:nvSpPr>
        <p:spPr>
          <a:xfrm>
            <a:off x="1691640" y="3257550"/>
            <a:ext cx="6035040" cy="560070"/>
          </a:xfrm>
          <a:prstGeom prst="rect">
            <a:avLst/>
          </a:prstGeom>
          <a:noFill/>
          <a:ln/>
        </p:spPr>
        <p:txBody>
          <a:bodyPr wrap="square" lIns="0" tIns="0" rIns="0" bIns="0" rtlCol="0" anchor="t"/>
          <a:lstStyle/>
          <a:p>
            <a:pPr indent="0" marL="0">
              <a:lnSpc>
                <a:spcPts val="1500"/>
              </a:lnSpc>
              <a:buNone/>
            </a:pPr>
            <a:r>
              <a:rPr lang="en-US" sz="1250" dirty="0">
                <a:solidFill>
                  <a:srgbClr val="5C7378"/>
                </a:solidFill>
                <a:latin typeface="Arial" pitchFamily="34" charset="0"/>
                <a:ea typeface="Arial" pitchFamily="34" charset="-122"/>
                <a:cs typeface="Arial" pitchFamily="34" charset="-120"/>
              </a:rPr>
              <a:t>Trợ lý AI của Google, tích hợp Gmail, Docs.</a:t>
            </a:r>
            <a:endParaRPr lang="en-US" sz="1250" dirty="0"/>
          </a:p>
        </p:txBody>
      </p:sp>
      <p:pic>
        <p:nvPicPr>
          <p:cNvPr id="20" name="Image 4" descr="/home/claude/aichuyendoiso2/assets/qr_gemini.png">    </p:cNvPr>
          <p:cNvPicPr>
            <a:picLocks noChangeAspect="1"/>
          </p:cNvPicPr>
          <p:nvPr/>
        </p:nvPicPr>
        <p:blipFill>
          <a:blip r:embed="rId6"/>
          <a:stretch>
            <a:fillRect/>
          </a:stretch>
        </p:blipFill>
        <p:spPr>
          <a:xfrm>
            <a:off x="9784080" y="2943225"/>
            <a:ext cx="868680" cy="868680"/>
          </a:xfrm>
          <a:prstGeom prst="rect">
            <a:avLst/>
          </a:prstGeom>
        </p:spPr>
      </p:pic>
      <p:sp>
        <p:nvSpPr>
          <p:cNvPr id="21" name="Text 14"/>
          <p:cNvSpPr txBox="1"/>
          <p:nvPr/>
        </p:nvSpPr>
        <p:spPr>
          <a:xfrm>
            <a:off x="7680960" y="3176397"/>
            <a:ext cx="1965960" cy="402336"/>
          </a:xfrm>
          <a:prstGeom prst="rect">
            <a:avLst/>
          </a:prstGeom>
          <a:noFill/>
          <a:ln/>
        </p:spPr>
        <p:txBody>
          <a:bodyPr wrap="square" lIns="0" tIns="0" rIns="0" bIns="0" rtlCol="0" anchor="ctr"/>
          <a:lstStyle/>
          <a:p>
            <a:pPr algn="r" indent="0" marL="0">
              <a:lnSpc>
                <a:spcPts val="1300"/>
              </a:lnSpc>
              <a:buNone/>
            </a:pPr>
            <a:r>
              <a:rPr lang="en-US" sz="1150" i="1" dirty="0">
                <a:solidFill>
                  <a:srgbClr val="0B5257"/>
                </a:solidFill>
                <a:latin typeface="Arial" pitchFamily="34" charset="0"/>
                <a:ea typeface="Arial" pitchFamily="34" charset="-122"/>
                <a:cs typeface="Arial" pitchFamily="34" charset="-120"/>
              </a:rPr>
              <a:t>gemini.google.com</a:t>
            </a:r>
            <a:endParaRPr lang="en-US" sz="1150" dirty="0"/>
          </a:p>
        </p:txBody>
      </p:sp>
      <p:sp>
        <p:nvSpPr>
          <p:cNvPr id="22" name="Shape 15"/>
          <p:cNvSpPr/>
          <p:nvPr/>
        </p:nvSpPr>
        <p:spPr>
          <a:xfrm>
            <a:off x="731520" y="4000500"/>
            <a:ext cx="10698480" cy="1008126"/>
          </a:xfrm>
          <a:prstGeom prst="roundRect">
            <a:avLst>
              <a:gd name="adj" fmla="val 7256"/>
            </a:avLst>
          </a:prstGeom>
          <a:solidFill>
            <a:srgbClr val="EEF5F5"/>
          </a:solidFill>
          <a:ln w="12700">
            <a:solidFill>
              <a:srgbClr val="D6E6E6"/>
            </a:solidFill>
            <a:prstDash val="solid"/>
          </a:ln>
        </p:spPr>
      </p:sp>
      <p:sp>
        <p:nvSpPr>
          <p:cNvPr id="23" name="Shape 16"/>
          <p:cNvSpPr/>
          <p:nvPr/>
        </p:nvSpPr>
        <p:spPr>
          <a:xfrm>
            <a:off x="932688" y="4248531"/>
            <a:ext cx="566928" cy="566928"/>
          </a:xfrm>
          <a:prstGeom prst="ellipse">
            <a:avLst/>
          </a:prstGeom>
          <a:solidFill>
            <a:srgbClr val="127C82"/>
          </a:solidFill>
          <a:ln/>
        </p:spPr>
      </p:sp>
      <p:pic>
        <p:nvPicPr>
          <p:cNvPr id="24" name="Image 5" descr="/home/claude/aichuyendoiso2/assets/icons/bookopen_FFFFFF.png">    </p:cNvPr>
          <p:cNvPicPr>
            <a:picLocks noChangeAspect="1"/>
          </p:cNvPicPr>
          <p:nvPr/>
        </p:nvPicPr>
        <p:blipFill>
          <a:blip r:embed="rId7"/>
          <a:stretch>
            <a:fillRect/>
          </a:stretch>
        </p:blipFill>
        <p:spPr>
          <a:xfrm>
            <a:off x="1085759" y="4401602"/>
            <a:ext cx="260787" cy="260787"/>
          </a:xfrm>
          <a:prstGeom prst="rect">
            <a:avLst/>
          </a:prstGeom>
        </p:spPr>
      </p:pic>
      <p:sp>
        <p:nvSpPr>
          <p:cNvPr id="25" name="Text 17"/>
          <p:cNvSpPr txBox="1"/>
          <p:nvPr/>
        </p:nvSpPr>
        <p:spPr>
          <a:xfrm>
            <a:off x="1691640" y="4064508"/>
            <a:ext cx="6035040" cy="365760"/>
          </a:xfrm>
          <a:prstGeom prst="rect">
            <a:avLst/>
          </a:prstGeom>
          <a:noFill/>
          <a:ln/>
        </p:spPr>
        <p:txBody>
          <a:bodyPr wrap="square" lIns="0" tIns="0" rIns="0" bIns="0" rtlCol="0" anchor="b"/>
          <a:lstStyle/>
          <a:p>
            <a:pPr indent="0" marL="0">
              <a:buNone/>
            </a:pPr>
            <a:r>
              <a:rPr lang="en-US" sz="1550" b="1" dirty="0">
                <a:solidFill>
                  <a:srgbClr val="17282B"/>
                </a:solidFill>
                <a:latin typeface="Arial" pitchFamily="34" charset="0"/>
                <a:ea typeface="Arial" pitchFamily="34" charset="-122"/>
                <a:cs typeface="Arial" pitchFamily="34" charset="-120"/>
              </a:rPr>
              <a:t>NotebookLM</a:t>
            </a:r>
            <a:endParaRPr lang="en-US" sz="1550" dirty="0"/>
          </a:p>
        </p:txBody>
      </p:sp>
      <p:sp>
        <p:nvSpPr>
          <p:cNvPr id="26" name="Text 18"/>
          <p:cNvSpPr txBox="1"/>
          <p:nvPr/>
        </p:nvSpPr>
        <p:spPr>
          <a:xfrm>
            <a:off x="1691640" y="4411980"/>
            <a:ext cx="6035040" cy="560070"/>
          </a:xfrm>
          <a:prstGeom prst="rect">
            <a:avLst/>
          </a:prstGeom>
          <a:noFill/>
          <a:ln/>
        </p:spPr>
        <p:txBody>
          <a:bodyPr wrap="square" lIns="0" tIns="0" rIns="0" bIns="0" rtlCol="0" anchor="t"/>
          <a:lstStyle/>
          <a:p>
            <a:pPr indent="0" marL="0">
              <a:lnSpc>
                <a:spcPts val="1500"/>
              </a:lnSpc>
              <a:buNone/>
            </a:pPr>
            <a:r>
              <a:rPr lang="en-US" sz="1250" dirty="0">
                <a:solidFill>
                  <a:srgbClr val="5C7378"/>
                </a:solidFill>
                <a:latin typeface="Arial" pitchFamily="34" charset="0"/>
                <a:ea typeface="Arial" pitchFamily="34" charset="-122"/>
                <a:cs typeface="Arial" pitchFamily="34" charset="-120"/>
              </a:rPr>
              <a:t>Tóm tắt bài giảng, tạo câu hỏi ôn tập.</a:t>
            </a:r>
            <a:endParaRPr lang="en-US" sz="1250" dirty="0"/>
          </a:p>
        </p:txBody>
      </p:sp>
      <p:pic>
        <p:nvPicPr>
          <p:cNvPr id="27" name="Image 6" descr="/home/claude/aichuyendoiso2/assets/qr_notebooklm.png">    </p:cNvPr>
          <p:cNvPicPr>
            <a:picLocks noChangeAspect="1"/>
          </p:cNvPicPr>
          <p:nvPr/>
        </p:nvPicPr>
        <p:blipFill>
          <a:blip r:embed="rId8"/>
          <a:stretch>
            <a:fillRect/>
          </a:stretch>
        </p:blipFill>
        <p:spPr>
          <a:xfrm>
            <a:off x="9784080" y="4097655"/>
            <a:ext cx="868680" cy="868680"/>
          </a:xfrm>
          <a:prstGeom prst="rect">
            <a:avLst/>
          </a:prstGeom>
        </p:spPr>
      </p:pic>
      <p:sp>
        <p:nvSpPr>
          <p:cNvPr id="28" name="Text 19"/>
          <p:cNvSpPr txBox="1"/>
          <p:nvPr/>
        </p:nvSpPr>
        <p:spPr>
          <a:xfrm>
            <a:off x="7680960" y="4330827"/>
            <a:ext cx="1965960" cy="402336"/>
          </a:xfrm>
          <a:prstGeom prst="rect">
            <a:avLst/>
          </a:prstGeom>
          <a:noFill/>
          <a:ln/>
        </p:spPr>
        <p:txBody>
          <a:bodyPr wrap="square" lIns="0" tIns="0" rIns="0" bIns="0" rtlCol="0" anchor="ctr"/>
          <a:lstStyle/>
          <a:p>
            <a:pPr algn="r" indent="0" marL="0">
              <a:lnSpc>
                <a:spcPts val="1300"/>
              </a:lnSpc>
              <a:buNone/>
            </a:pPr>
            <a:r>
              <a:rPr lang="en-US" sz="1150" i="1" dirty="0">
                <a:solidFill>
                  <a:srgbClr val="0B5257"/>
                </a:solidFill>
                <a:latin typeface="Arial" pitchFamily="34" charset="0"/>
                <a:ea typeface="Arial" pitchFamily="34" charset="-122"/>
                <a:cs typeface="Arial" pitchFamily="34" charset="-120"/>
              </a:rPr>
              <a:t>notebook.google.com</a:t>
            </a:r>
            <a:endParaRPr lang="en-US" sz="1150" dirty="0"/>
          </a:p>
        </p:txBody>
      </p:sp>
      <p:sp>
        <p:nvSpPr>
          <p:cNvPr id="29" name="Shape 20"/>
          <p:cNvSpPr/>
          <p:nvPr/>
        </p:nvSpPr>
        <p:spPr>
          <a:xfrm>
            <a:off x="731520" y="5154930"/>
            <a:ext cx="10698480" cy="1008126"/>
          </a:xfrm>
          <a:prstGeom prst="roundRect">
            <a:avLst>
              <a:gd name="adj" fmla="val 7256"/>
            </a:avLst>
          </a:prstGeom>
          <a:solidFill>
            <a:srgbClr val="FFFFFF"/>
          </a:solidFill>
          <a:ln w="12700">
            <a:solidFill>
              <a:srgbClr val="D6E6E6"/>
            </a:solidFill>
            <a:prstDash val="solid"/>
          </a:ln>
        </p:spPr>
      </p:sp>
      <p:sp>
        <p:nvSpPr>
          <p:cNvPr id="30" name="Shape 21"/>
          <p:cNvSpPr/>
          <p:nvPr/>
        </p:nvSpPr>
        <p:spPr>
          <a:xfrm>
            <a:off x="932688" y="5402961"/>
            <a:ext cx="566928" cy="566928"/>
          </a:xfrm>
          <a:prstGeom prst="ellipse">
            <a:avLst/>
          </a:prstGeom>
          <a:solidFill>
            <a:srgbClr val="127C82"/>
          </a:solidFill>
          <a:ln/>
        </p:spPr>
      </p:sp>
      <p:pic>
        <p:nvPicPr>
          <p:cNvPr id="31" name="Image 7" descr="/home/claude/aichuyendoiso2/assets/icons/calculator_FFFFFF.png">    </p:cNvPr>
          <p:cNvPicPr>
            <a:picLocks noChangeAspect="1"/>
          </p:cNvPicPr>
          <p:nvPr/>
        </p:nvPicPr>
        <p:blipFill>
          <a:blip r:embed="rId9"/>
          <a:stretch>
            <a:fillRect/>
          </a:stretch>
        </p:blipFill>
        <p:spPr>
          <a:xfrm>
            <a:off x="1085759" y="5556032"/>
            <a:ext cx="260787" cy="260787"/>
          </a:xfrm>
          <a:prstGeom prst="rect">
            <a:avLst/>
          </a:prstGeom>
        </p:spPr>
      </p:pic>
      <p:sp>
        <p:nvSpPr>
          <p:cNvPr id="32" name="Text 22"/>
          <p:cNvSpPr txBox="1"/>
          <p:nvPr/>
        </p:nvSpPr>
        <p:spPr>
          <a:xfrm>
            <a:off x="1691640" y="5218938"/>
            <a:ext cx="6035040" cy="365760"/>
          </a:xfrm>
          <a:prstGeom prst="rect">
            <a:avLst/>
          </a:prstGeom>
          <a:noFill/>
          <a:ln/>
        </p:spPr>
        <p:txBody>
          <a:bodyPr wrap="square" lIns="0" tIns="0" rIns="0" bIns="0" rtlCol="0" anchor="b"/>
          <a:lstStyle/>
          <a:p>
            <a:pPr indent="0" marL="0">
              <a:buNone/>
            </a:pPr>
            <a:r>
              <a:rPr lang="en-US" sz="1550" b="1" dirty="0">
                <a:solidFill>
                  <a:srgbClr val="17282B"/>
                </a:solidFill>
                <a:latin typeface="Arial" pitchFamily="34" charset="0"/>
                <a:ea typeface="Arial" pitchFamily="34" charset="-122"/>
                <a:cs typeface="Arial" pitchFamily="34" charset="-120"/>
              </a:rPr>
              <a:t>Photomath</a:t>
            </a:r>
            <a:endParaRPr lang="en-US" sz="1550" dirty="0"/>
          </a:p>
        </p:txBody>
      </p:sp>
      <p:sp>
        <p:nvSpPr>
          <p:cNvPr id="33" name="Text 23"/>
          <p:cNvSpPr txBox="1"/>
          <p:nvPr/>
        </p:nvSpPr>
        <p:spPr>
          <a:xfrm>
            <a:off x="1691640" y="5566410"/>
            <a:ext cx="6035040" cy="560070"/>
          </a:xfrm>
          <a:prstGeom prst="rect">
            <a:avLst/>
          </a:prstGeom>
          <a:noFill/>
          <a:ln/>
        </p:spPr>
        <p:txBody>
          <a:bodyPr wrap="square" lIns="0" tIns="0" rIns="0" bIns="0" rtlCol="0" anchor="t"/>
          <a:lstStyle/>
          <a:p>
            <a:pPr indent="0" marL="0">
              <a:lnSpc>
                <a:spcPts val="1500"/>
              </a:lnSpc>
              <a:buNone/>
            </a:pPr>
            <a:r>
              <a:rPr lang="en-US" sz="1250" dirty="0">
                <a:solidFill>
                  <a:srgbClr val="5C7378"/>
                </a:solidFill>
                <a:latin typeface="Arial" pitchFamily="34" charset="0"/>
                <a:ea typeface="Arial" pitchFamily="34" charset="-122"/>
                <a:cs typeface="Arial" pitchFamily="34" charset="-120"/>
              </a:rPr>
              <a:t>Chụp ảnh bài toán, giải từng bước.</a:t>
            </a:r>
            <a:endParaRPr lang="en-US" sz="1250" dirty="0"/>
          </a:p>
        </p:txBody>
      </p:sp>
      <p:pic>
        <p:nvPicPr>
          <p:cNvPr id="34" name="Image 8" descr="/home/claude/aichuyendoiso2/assets/qr_photomath.png">    </p:cNvPr>
          <p:cNvPicPr>
            <a:picLocks noChangeAspect="1"/>
          </p:cNvPicPr>
          <p:nvPr/>
        </p:nvPicPr>
        <p:blipFill>
          <a:blip r:embed="rId10"/>
          <a:stretch>
            <a:fillRect/>
          </a:stretch>
        </p:blipFill>
        <p:spPr>
          <a:xfrm>
            <a:off x="9784080" y="5252085"/>
            <a:ext cx="868680" cy="868680"/>
          </a:xfrm>
          <a:prstGeom prst="rect">
            <a:avLst/>
          </a:prstGeom>
        </p:spPr>
      </p:pic>
      <p:sp>
        <p:nvSpPr>
          <p:cNvPr id="35" name="Text 24"/>
          <p:cNvSpPr txBox="1"/>
          <p:nvPr/>
        </p:nvSpPr>
        <p:spPr>
          <a:xfrm>
            <a:off x="7680960" y="5485257"/>
            <a:ext cx="1965960" cy="402336"/>
          </a:xfrm>
          <a:prstGeom prst="rect">
            <a:avLst/>
          </a:prstGeom>
          <a:noFill/>
          <a:ln/>
        </p:spPr>
        <p:txBody>
          <a:bodyPr wrap="square" lIns="0" tIns="0" rIns="0" bIns="0" rtlCol="0" anchor="ctr"/>
          <a:lstStyle/>
          <a:p>
            <a:pPr algn="r" indent="0" marL="0">
              <a:lnSpc>
                <a:spcPts val="1300"/>
              </a:lnSpc>
              <a:buNone/>
            </a:pPr>
            <a:r>
              <a:rPr lang="en-US" sz="1150" i="1" dirty="0">
                <a:solidFill>
                  <a:srgbClr val="0B5257"/>
                </a:solidFill>
                <a:latin typeface="Arial" pitchFamily="34" charset="0"/>
                <a:ea typeface="Arial" pitchFamily="34" charset="-122"/>
                <a:cs typeface="Arial" pitchFamily="34" charset="-120"/>
              </a:rPr>
              <a:t>photomath.com</a:t>
            </a:r>
            <a:endParaRPr lang="en-US" sz="1150" dirty="0"/>
          </a:p>
        </p:txBody>
      </p:sp>
    </p:spTree>
  </p:cSld>
  <p:clrMapOvr>
    <a:masterClrMapping/>
  </p:clrMapOvr>
  <p:transition spd="med">
    <p:fade/>
  </p:transition>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645920" y="-1828800"/>
            <a:ext cx="5029200" cy="5029200"/>
          </a:xfrm>
          <a:prstGeom prst="ellipse">
            <a:avLst/>
          </a:prstGeom>
          <a:solidFill>
            <a:srgbClr val="0F4B54"/>
          </a:solidFill>
          <a:ln/>
        </p:spPr>
      </p:sp>
      <p:sp>
        <p:nvSpPr>
          <p:cNvPr id="3" name="Shape 1"/>
          <p:cNvSpPr/>
          <p:nvPr/>
        </p:nvSpPr>
        <p:spPr>
          <a:xfrm>
            <a:off x="5394960" y="914400"/>
            <a:ext cx="1371600" cy="1371600"/>
          </a:xfrm>
          <a:prstGeom prst="ellipse">
            <a:avLst/>
          </a:prstGeom>
          <a:solidFill>
            <a:srgbClr val="F2A93B"/>
          </a:solidFill>
          <a:ln/>
        </p:spPr>
      </p:sp>
      <p:pic>
        <p:nvPicPr>
          <p:cNvPr id="4" name="Image 0" descr="/home/claude/aichuyendoiso2/assets/icons/brain_0B3B45.png">    </p:cNvPr>
          <p:cNvPicPr>
            <a:picLocks noChangeAspect="1"/>
          </p:cNvPicPr>
          <p:nvPr/>
        </p:nvPicPr>
        <p:blipFill>
          <a:blip r:embed="rId2"/>
          <a:stretch>
            <a:fillRect/>
          </a:stretch>
        </p:blipFill>
        <p:spPr>
          <a:xfrm>
            <a:off x="5765292" y="1284732"/>
            <a:ext cx="630936" cy="630936"/>
          </a:xfrm>
          <a:prstGeom prst="rect">
            <a:avLst/>
          </a:prstGeom>
        </p:spPr>
      </p:pic>
      <p:sp>
        <p:nvSpPr>
          <p:cNvPr id="5" name="Text 2"/>
          <p:cNvSpPr txBox="1"/>
          <p:nvPr/>
        </p:nvSpPr>
        <p:spPr>
          <a:xfrm>
            <a:off x="731520" y="2606040"/>
            <a:ext cx="10698480" cy="914400"/>
          </a:xfrm>
          <a:prstGeom prst="rect">
            <a:avLst/>
          </a:prstGeom>
          <a:noFill/>
          <a:ln/>
        </p:spPr>
        <p:txBody>
          <a:bodyPr wrap="square" lIns="0" tIns="0" rIns="0" bIns="0" rtlCol="0" anchor="ctr"/>
          <a:lstStyle/>
          <a:p>
            <a:pPr algn="ctr" indent="0" marL="0">
              <a:buNone/>
            </a:pPr>
            <a:r>
              <a:rPr lang="en-US" sz="3800" b="1" dirty="0">
                <a:solidFill>
                  <a:srgbClr val="FFFFFF"/>
                </a:solidFill>
                <a:latin typeface="Arial" pitchFamily="34" charset="0"/>
                <a:ea typeface="Arial" pitchFamily="34" charset="-122"/>
                <a:cs typeface="Arial" pitchFamily="34" charset="-120"/>
              </a:rPr>
              <a:t>CẢM ƠN CÁC EM!</a:t>
            </a:r>
            <a:endParaRPr lang="en-US" sz="3800" dirty="0"/>
          </a:p>
        </p:txBody>
      </p:sp>
      <p:sp>
        <p:nvSpPr>
          <p:cNvPr id="6" name="Text 3"/>
          <p:cNvSpPr txBox="1"/>
          <p:nvPr/>
        </p:nvSpPr>
        <p:spPr>
          <a:xfrm>
            <a:off x="731520" y="3520440"/>
            <a:ext cx="10698480" cy="731520"/>
          </a:xfrm>
          <a:prstGeom prst="rect">
            <a:avLst/>
          </a:prstGeom>
          <a:noFill/>
          <a:ln/>
        </p:spPr>
        <p:txBody>
          <a:bodyPr wrap="square" lIns="0" tIns="0" rIns="0" bIns="0" rtlCol="0" anchor="ctr"/>
          <a:lstStyle/>
          <a:p>
            <a:pPr algn="ctr" indent="0" marL="0">
              <a:buNone/>
            </a:pPr>
            <a:r>
              <a:rPr lang="en-US" sz="1700" b="1" dirty="0">
                <a:solidFill>
                  <a:srgbClr val="F2A93B"/>
                </a:solidFill>
                <a:latin typeface="Arial" pitchFamily="34" charset="0"/>
                <a:ea typeface="Arial" pitchFamily="34" charset="-122"/>
                <a:cs typeface="Arial" pitchFamily="34" charset="-120"/>
              </a:rPr>
              <a:t>Hỏi đáp — Trao đổi thêm</a:t>
            </a:r>
            <a:endParaRPr lang="en-US" sz="1700" dirty="0"/>
          </a:p>
        </p:txBody>
      </p:sp>
      <p:sp>
        <p:nvSpPr>
          <p:cNvPr id="7" name="Text 4"/>
          <p:cNvSpPr txBox="1"/>
          <p:nvPr/>
        </p:nvSpPr>
        <p:spPr>
          <a:xfrm>
            <a:off x="731520" y="4846320"/>
            <a:ext cx="10698480" cy="640080"/>
          </a:xfrm>
          <a:prstGeom prst="rect">
            <a:avLst/>
          </a:prstGeom>
          <a:noFill/>
          <a:ln/>
        </p:spPr>
        <p:txBody>
          <a:bodyPr wrap="square" lIns="0" tIns="0" rIns="0" bIns="0" rtlCol="0" anchor="ctr"/>
          <a:lstStyle/>
          <a:p>
            <a:pPr algn="ctr" indent="0" marL="0">
              <a:buNone/>
            </a:pPr>
            <a:r>
              <a:rPr lang="en-US" sz="1300" dirty="0">
                <a:solidFill>
                  <a:srgbClr val="9FC2C6"/>
                </a:solidFill>
                <a:latin typeface="Arial" pitchFamily="34" charset="0"/>
                <a:ea typeface="Arial" pitchFamily="34" charset="-122"/>
                <a:cs typeface="Arial" pitchFamily="34" charset="-120"/>
              </a:rPr>
              <a:t>Giảng viên: ................................  ·  Trường Cao đẳng Điện Biên</a:t>
            </a:r>
            <a:endParaRPr lang="en-US" sz="1300" dirty="0"/>
          </a:p>
        </p:txBody>
      </p:sp>
    </p:spTree>
  </p:cSld>
  <p:clrMapOvr>
    <a:masterClrMapping/>
  </p:clrMapOvr>
  <p:transition spd="med">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Trường Cao đẳng Điện Biên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và chuyển đổi số - Chuyên đề giới thiệu HSSV</dc:title>
  <dc:subject>PptxGenJS Presentation</dc:subject>
  <dc:creator>Trần Thị Hoa</dc:creator>
  <cp:lastModifiedBy>Trần Thị Hoa</cp:lastModifiedBy>
  <cp:revision>1</cp:revision>
  <dcterms:created xsi:type="dcterms:W3CDTF">2026-09-08T03:59:32Z</dcterms:created>
  <dcterms:modified xsi:type="dcterms:W3CDTF">2026-09-08T03:59:32Z</dcterms:modified>
</cp:coreProperties>
</file>